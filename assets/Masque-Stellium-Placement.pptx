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79" r:id="rId4"/>
    <p:sldId id="258" r:id="rId5"/>
    <p:sldId id="259" r:id="rId6"/>
    <p:sldId id="280" r:id="rId7"/>
    <p:sldId id="260" r:id="rId8"/>
    <p:sldId id="261" r:id="rId9"/>
    <p:sldId id="262" r:id="rId10"/>
    <p:sldId id="263" r:id="rId11"/>
    <p:sldId id="281"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306" r:id="rId27"/>
    <p:sldId id="307" r:id="rId28"/>
    <p:sldId id="282" r:id="rId29"/>
    <p:sldId id="283" r:id="rId30"/>
    <p:sldId id="284" r:id="rId31"/>
    <p:sldId id="285" r:id="rId32"/>
    <p:sldId id="278" r:id="rId33"/>
    <p:sldId id="303" r:id="rId34"/>
    <p:sldId id="304" r:id="rId35"/>
    <p:sldId id="305" r:id="rId3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5" d="100"/>
          <a:sy n="65" d="100"/>
        </p:scale>
        <p:origin x="48"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tx1">
                  <a:lumMod val="65000"/>
                  <a:lumOff val="35000"/>
                </a:schemeClr>
              </a:solidFill>
              <a:latin typeface="+mn-lt"/>
              <a:ea typeface="+mn-ea"/>
              <a:cs typeface="+mn-cs"/>
            </a:defRPr>
          </a:pPr>
          <a:endParaRPr lang="fr-FR"/>
        </a:p>
      </c:txPr>
    </c:title>
    <c:autoTitleDeleted val="0"/>
    <c:plotArea>
      <c:layout/>
      <c:doughnutChart>
        <c:varyColors val="1"/>
        <c:ser>
          <c:idx val="0"/>
          <c:order val="0"/>
          <c:tx>
            <c:strRef>
              <c:f>Feuil1!$B$1</c:f>
              <c:strCache>
                <c:ptCount val="1"/>
                <c:pt idx="0">
                  <c:v>Ventes</c:v>
                </c:pt>
              </c:strCache>
            </c:strRef>
          </c:tx>
          <c:dPt>
            <c:idx val="0"/>
            <c:bubble3D val="0"/>
            <c:spPr>
              <a:solidFill>
                <a:schemeClr val="accent1"/>
              </a:solidFill>
              <a:ln w="19050">
                <a:solidFill>
                  <a:schemeClr val="lt1"/>
                </a:solidFill>
              </a:ln>
              <a:effectLst/>
            </c:spPr>
          </c:dPt>
          <c:dPt>
            <c:idx val="1"/>
            <c:bubble3D val="0"/>
            <c:spPr>
              <a:solidFill>
                <a:schemeClr val="accent2"/>
              </a:solidFill>
              <a:ln w="19050">
                <a:solidFill>
                  <a:schemeClr val="lt1"/>
                </a:solidFill>
              </a:ln>
              <a:effectLst/>
            </c:spPr>
          </c:dPt>
          <c:dPt>
            <c:idx val="2"/>
            <c:bubble3D val="0"/>
            <c:spPr>
              <a:solidFill>
                <a:schemeClr val="accent3"/>
              </a:solidFill>
              <a:ln w="19050">
                <a:solidFill>
                  <a:schemeClr val="lt1"/>
                </a:solidFill>
              </a:ln>
              <a:effectLst/>
            </c:spPr>
          </c:dPt>
          <c:dPt>
            <c:idx val="3"/>
            <c:bubble3D val="0"/>
            <c:spPr>
              <a:solidFill>
                <a:schemeClr val="accent4"/>
              </a:solidFill>
              <a:ln w="19050">
                <a:solidFill>
                  <a:schemeClr val="lt1"/>
                </a:solidFill>
              </a:ln>
              <a:effectLst/>
            </c:spPr>
          </c:dPt>
          <c:cat>
            <c:strRef>
              <c:f>Feuil1!$A$2:$A$5</c:f>
              <c:strCache>
                <c:ptCount val="4"/>
                <c:pt idx="0">
                  <c:v>1er trim.</c:v>
                </c:pt>
                <c:pt idx="1">
                  <c:v>2e trim.</c:v>
                </c:pt>
                <c:pt idx="2">
                  <c:v>3e trim.</c:v>
                </c:pt>
                <c:pt idx="3">
                  <c:v>4e trim.</c:v>
                </c:pt>
              </c:strCache>
            </c:strRef>
          </c:cat>
          <c:val>
            <c:numRef>
              <c:f>Feuil1!$B$2:$B$5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0-7E2E-4617-AC99-AF1ED7E47E1C}"/>
            </c:ext>
          </c:extLst>
        </c:ser>
        <c:dLbls>
          <c:showLegendKey val="0"/>
          <c:showVal val="0"/>
          <c:showCatName val="0"/>
          <c:showSerName val="0"/>
          <c:showPercent val="0"/>
          <c:showBubbleSize val="0"/>
          <c:showLeaderLines val="1"/>
        </c:dLbls>
        <c:firstSliceAng val="0"/>
        <c:holeSize val="47"/>
      </c:doughnutChart>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fr-F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fr-F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65832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Gabarit de couverture principale. Remplacez l'intitulé, le sous-titre et la date. Un mot du titre peut rester en rose pour l'accent. L'agenda en bas reprend les grandes parties.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Variante de couverture épurée et centrée. Idéale quand le titre se suffit à lui-même. Logo en haut, étoiles en accent.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Couverture avec visuel plein cadre. Glissez une image dans la zone, le titre se pose dessus via un dégradé de protection. Bon pour ouvrir un sujet de façon immersive.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Sommaire en quatre entrées numérotées. Adaptez le nombre de lignes. La colonne de gauche annonce la rubrique, la droite liste les parties.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Séparateur de partie. Le grand numéro situe la progression. Reprend l'intitulé de la partie et, optionnellement, les sous-thèmes en pastilles.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sans carte : un grand pictogramme à gauche, le propos développé à droite. Pour expliquer une notion ou poser un point d'attention. Mettez en rose les termes importants.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cartes côte à côte pour opposer ou comparer deux volets. Chaque carte : picto, surtitre, titre, description. Le footer reprend numéro, partie et logo.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cartes : la disposition la plus courante pour présenter trois piliers, trois contrats, trois bénéfices. Picto + surtitre + titre + description par carte.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F8B1C-4AF0-F422-A559-96A537F9ED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5D612F-FCA3-C148-F397-98AB8539A2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862AF-3AAF-7518-D316-6CC120B89AFD}"/>
              </a:ext>
            </a:extLst>
          </p:cNvPr>
          <p:cNvSpPr>
            <a:spLocks noGrp="1"/>
          </p:cNvSpPr>
          <p:nvPr>
            <p:ph type="body" idx="1"/>
          </p:nvPr>
        </p:nvSpPr>
        <p:spPr/>
        <p:txBody>
          <a:bodyPr/>
          <a:lstStyle/>
          <a:p>
            <a:r>
              <a:rPr lang="en-US" dirty="0"/>
              <a:t>Trois cartes : la disposition la plus courante pour présenter trois piliers, trois contrats, trois bénéfices. Picto + surtitre + titre + description par carte.</a:t>
            </a:r>
          </a:p>
        </p:txBody>
      </p:sp>
      <p:sp>
        <p:nvSpPr>
          <p:cNvPr id="4" name="Slide Number Placeholder 3">
            <a:extLst>
              <a:ext uri="{FF2B5EF4-FFF2-40B4-BE49-F238E27FC236}">
                <a16:creationId xmlns:a16="http://schemas.microsoft.com/office/drawing/2014/main" id="{57673D74-70D3-AC14-91F6-66ACEB91C319}"/>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192132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cartes en ligne pour un panorama : garanties, options, étapes synthétiques. Garder les textes très courts pour rester lisible.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 en avant un chiffre unique et marquant. Le nombre domine, la légende et le contexte l'accompagnent. Idéal pour un taux, un montant, une proportion.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Récapitulatif combinant plusieurs chiffres et les points à retenir. Trois indicateurs en haut, la liste des enseignements en dessous.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Graphique en barres horizontales pour comparer des valeurs par catégorie : tranches d'âge, segments, années. La barre la plus marquante reste pleine en rose, les autres en rose clair. La colonne de droite isole un chiffre saillant à commenter.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Barres empilées à deux tons pour visualiser une répartition complémentaire qui évolue par tranche : usufruit / nue-propriété, part couverte / restant, etc. Les deux segments d'une même barre totalisent toujours 100 %. Adaptez les libellés de la légende.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Frise sur un axe horizontal pour situer des jalons dans le temps : âges, années, échéances. Chaque jalon porte un repère, un intitulé au-dessus et une valeur cumulée en dessous. Trois à quatre jalons maximum.</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Déroulé en étapes numérotées reliées. Pour un processus, un parcours, une chronologie. Trois ou quatre étapes maximum pour rester clair.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 un profil/persona à gauche (attributs clés) et la question ou l'analyse à droite. Pour dérouler une étude de cas concrète.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de relations entre trois entités. Les nœuds sont éditables ; les liens montrent les rapports (réciprocité, flux). Pour un mécanisme ou une structure.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Mise en regard de deux colonnes : à gauche les risques ou points de vigilance, à droite les solutions ou réponses à proposer. Pour un point d'attention que l'on transforme en plan d'action. Gardez chaque entrée courte.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dispositifs mis face à face, colonne contre colonne, avec une pastille « VS » au centre. Chaque colonne reprend les mêmes critères pour faire ressortir les différences. Idéal pour opposer deux contrats, deux régimes, deux options.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comparatif. Première colonne = critères, colonnes suivantes = options. La ligne d'en-tête est rose. Gardez les cellules courtes.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 ou exemple marquant, mis en valeur en grand. Pour une phrase forte, un témoignage, un exemple notable. Attribution en bas.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un outil ou une capture d'écran. Glissez l'image dans le cadre à droite ; annotez avec les puces numérotées à gauche.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Répartition d'un portefeuille en anneau. Chaque segment correspond à une classe d'actifs, reprise dans la légende avec son poids et son montant ; le centre affiche l'encours total. Pour modifier la répartition, ajustez les bornes du conic-gradient (en degrés) ET les pourcentages de la légende — ils doivent rester cohérents (100 % = 360°).</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Évolution d'une valeur dans le temps (performance, capital, encours). La courbe rose porte l'aire de remplissage ; le dernier point est mis en avant. Les pastilles au-dessus servent à indiquer la période affichée. La colonne de droite isole le chiffre de performance à commenter. Adaptez les points de la courbe (attributs des balises) et les libellés d'années.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Fiche synthétique d'un produit ou d'une enveloppe (assurance-vie, PER, SCPI, compte-titres…). La carte de gauche regroupe le nom, le type et les caractéristiques clés ; la colonne de droite décrit le produit, isole trois chiffres et liste les points forts. Remplacez le pictogramme par celui qui correspond.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Décomposition d'une imposition, du montant brut au net. La colonne de gauche déroule le calcul ligne à ligne (les lignes de sous-total et le résultat net sont mises en valeur) ; la colonne de droite visualise la part nette face aux prélèvements et affiche le taux effectif. Adaptez les libellés et montants.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Indicateur synthétique de risque sur 7 niveaux (échelle SRI / SRRI). L'échelle se lit du moins risqué (gauche) au plus risqué (droite) ; le niveau retenu est mis en relief avec le repère « Votre profil ». Le bandeau du bas décrit le profil et donne trois repères. Déplacez la mise en relief sur le bon niveau et adaptez le texte.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Cartographie des objectifs patrimoniaux du client par horizon de temps (KYC). Chaque carte porte un pictogramme, une pastille d'horizon, le capital cible et un niveau de priorité (points pleins). Remplacez les objectifs, pictogrammes et horizons selon le client.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clôture : les points clés à retenir, numérotés. Reformule l'essentiel en trois messages. Mettez le terme central de chaque point en rose.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D310A385-36D2-D8F0-ACDE-26055BE8AFD4}"/>
              </a:ext>
            </a:extLst>
          </p:cNvPr>
          <p:cNvSpPr/>
          <p:nvPr userDrawn="1"/>
        </p:nvSpPr>
        <p:spPr>
          <a:xfrm>
            <a:off x="0" y="-26414"/>
            <a:ext cx="18288000" cy="10287000"/>
          </a:xfrm>
          <a:prstGeom prst="rect">
            <a:avLst/>
          </a:prstGeom>
          <a:gradFill flip="none" rotWithShape="1">
            <a:gsLst>
              <a:gs pos="0">
                <a:schemeClr val="accent1">
                  <a:lumMod val="20000"/>
                  <a:lumOff val="80000"/>
                </a:schemeClr>
              </a:gs>
              <a:gs pos="100000">
                <a:schemeClr val="bg1"/>
              </a:gs>
              <a:gs pos="85000">
                <a:srgbClr val="FFFFFF"/>
              </a:gs>
              <a:gs pos="74000">
                <a:srgbClr val="FFFFFF"/>
              </a:gs>
              <a:gs pos="9000">
                <a:srgbClr val="F3CCDC"/>
              </a:gs>
              <a:gs pos="59000">
                <a:srgbClr val="FFFFFF"/>
              </a:gs>
              <a:gs pos="39000">
                <a:srgbClr val="FFFFFF"/>
              </a:gs>
              <a:gs pos="27000">
                <a:srgbClr val="FFFFFF"/>
              </a:gs>
            </a:gsLst>
            <a:path path="circle">
              <a:fillToRect l="100000" b="100000"/>
            </a:path>
            <a:tileRect t="-100000" r="-100000"/>
          </a:gradFill>
          <a:ln/>
        </p:spPr>
        <p:txBody>
          <a:bodyPr/>
          <a:lstStyle/>
          <a:p>
            <a:endParaRPr lang="fr-FR" dirty="0"/>
          </a:p>
        </p:txBody>
      </p:sp>
      <p:pic>
        <p:nvPicPr>
          <p:cNvPr id="4" name="Image 3">
            <a:extLst>
              <a:ext uri="{FF2B5EF4-FFF2-40B4-BE49-F238E27FC236}">
                <a16:creationId xmlns:a16="http://schemas.microsoft.com/office/drawing/2014/main" id="{D2BBDAF2-B0CB-E577-B5D8-9C70B91DD5E0}"/>
              </a:ext>
            </a:extLst>
          </p:cNvPr>
          <p:cNvPicPr>
            <a:picLocks noChangeAspect="1"/>
          </p:cNvPicPr>
          <p:nvPr userDrawn="1"/>
        </p:nvPicPr>
        <p:blipFill>
          <a:blip r:embed="rId2">
            <a:alphaModFix amt="30000"/>
          </a:blip>
          <a:stretch>
            <a:fillRect/>
          </a:stretch>
        </p:blipFill>
        <p:spPr>
          <a:xfrm>
            <a:off x="15493376" y="756896"/>
            <a:ext cx="2067890" cy="1623382"/>
          </a:xfrm>
          <a:prstGeom prst="rect">
            <a:avLst/>
          </a:prstGeom>
        </p:spPr>
      </p:pic>
      <p:sp>
        <p:nvSpPr>
          <p:cNvPr id="3" name="Shape 23">
            <a:extLst>
              <a:ext uri="{FF2B5EF4-FFF2-40B4-BE49-F238E27FC236}">
                <a16:creationId xmlns:a16="http://schemas.microsoft.com/office/drawing/2014/main" id="{A2BA81DE-FDE1-789A-96F9-7976133192D2}"/>
              </a:ext>
            </a:extLst>
          </p:cNvPr>
          <p:cNvSpPr/>
          <p:nvPr userDrawn="1"/>
        </p:nvSpPr>
        <p:spPr>
          <a:xfrm>
            <a:off x="16010334" y="9466369"/>
            <a:ext cx="66675" cy="66675"/>
          </a:xfrm>
          <a:prstGeom prst="ellipse">
            <a:avLst/>
          </a:prstGeom>
          <a:solidFill>
            <a:srgbClr val="DC216E"/>
          </a:solidFill>
          <a:ln/>
        </p:spPr>
        <p:txBody>
          <a:bodyPr/>
          <a:lstStyle/>
          <a:p>
            <a:endParaRPr lang="fr-FR"/>
          </a:p>
        </p:txBody>
      </p:sp>
      <p:sp>
        <p:nvSpPr>
          <p:cNvPr id="5" name="Shape 13">
            <a:extLst>
              <a:ext uri="{FF2B5EF4-FFF2-40B4-BE49-F238E27FC236}">
                <a16:creationId xmlns:a16="http://schemas.microsoft.com/office/drawing/2014/main" id="{E6680D9A-5BC6-4CBC-8BB6-7033D94C54CC}"/>
              </a:ext>
            </a:extLst>
          </p:cNvPr>
          <p:cNvSpPr/>
          <p:nvPr userDrawn="1"/>
        </p:nvSpPr>
        <p:spPr>
          <a:xfrm>
            <a:off x="1066800" y="9099657"/>
            <a:ext cx="16154400" cy="9525"/>
          </a:xfrm>
          <a:prstGeom prst="rect">
            <a:avLst/>
          </a:prstGeom>
          <a:solidFill>
            <a:srgbClr val="0E3145">
              <a:alpha val="12000"/>
            </a:srgbClr>
          </a:solidFill>
          <a:ln/>
        </p:spPr>
        <p:txBody>
          <a:bodyPr/>
          <a:lstStyle/>
          <a:p>
            <a:endParaRPr lang="fr-FR"/>
          </a:p>
        </p:txBody>
      </p:sp>
      <p:pic>
        <p:nvPicPr>
          <p:cNvPr id="6" name="Image 2" descr="preencoded.png">
            <a:extLst>
              <a:ext uri="{FF2B5EF4-FFF2-40B4-BE49-F238E27FC236}">
                <a16:creationId xmlns:a16="http://schemas.microsoft.com/office/drawing/2014/main" id="{CA190B1F-61EC-AFE0-42F8-320C8B6514FB}"/>
              </a:ext>
            </a:extLst>
          </p:cNvPr>
          <p:cNvPicPr>
            <a:picLocks noChangeAspect="1"/>
          </p:cNvPicPr>
          <p:nvPr userDrawn="1"/>
        </p:nvPicPr>
        <p:blipFill>
          <a:blip r:embed="rId3"/>
          <a:stretch>
            <a:fillRect/>
          </a:stretch>
        </p:blipFill>
        <p:spPr>
          <a:xfrm>
            <a:off x="1066800" y="9337782"/>
            <a:ext cx="607516" cy="285750"/>
          </a:xfrm>
          <a:prstGeom prst="rect">
            <a:avLst/>
          </a:prstGeom>
        </p:spPr>
      </p:pic>
      <p:sp>
        <p:nvSpPr>
          <p:cNvPr id="7" name="Shape 14">
            <a:extLst>
              <a:ext uri="{FF2B5EF4-FFF2-40B4-BE49-F238E27FC236}">
                <a16:creationId xmlns:a16="http://schemas.microsoft.com/office/drawing/2014/main" id="{31AD24AF-00B7-18C5-8928-CBC2C4C783E8}"/>
              </a:ext>
            </a:extLst>
          </p:cNvPr>
          <p:cNvSpPr/>
          <p:nvPr userDrawn="1"/>
        </p:nvSpPr>
        <p:spPr>
          <a:xfrm>
            <a:off x="1845766" y="9375882"/>
            <a:ext cx="9525" cy="209550"/>
          </a:xfrm>
          <a:prstGeom prst="rect">
            <a:avLst/>
          </a:prstGeom>
          <a:solidFill>
            <a:srgbClr val="0E3145">
              <a:alpha val="12000"/>
            </a:srgbClr>
          </a:solidFill>
          <a:ln/>
        </p:spPr>
        <p:txBody>
          <a:bodyPr/>
          <a:lstStyle/>
          <a:p>
            <a:endParaRPr lang="fr-FR"/>
          </a:p>
        </p:txBody>
      </p:sp>
      <p:sp>
        <p:nvSpPr>
          <p:cNvPr id="8" name="Text 15">
            <a:extLst>
              <a:ext uri="{FF2B5EF4-FFF2-40B4-BE49-F238E27FC236}">
                <a16:creationId xmlns:a16="http://schemas.microsoft.com/office/drawing/2014/main" id="{C7F52B7D-FAD4-EB34-3286-9BCC03B352C2}"/>
              </a:ext>
            </a:extLst>
          </p:cNvPr>
          <p:cNvSpPr/>
          <p:nvPr userDrawn="1"/>
        </p:nvSpPr>
        <p:spPr>
          <a:xfrm>
            <a:off x="2026741" y="9337781"/>
            <a:ext cx="6183809" cy="285751"/>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88" dirty="0">
                <a:solidFill>
                  <a:srgbClr val="0E3145">
                    <a:alpha val="44000"/>
                  </a:srgbClr>
                </a:solidFill>
                <a:latin typeface="Euclid Circular A" pitchFamily="34" charset="0"/>
                <a:ea typeface="Euclid Circular A" pitchFamily="34" charset="-122"/>
                <a:cs typeface="Euclid Circular A" pitchFamily="34" charset="-120"/>
              </a:rPr>
              <a:t>USAGE INTERNE – PRODEMIAL/STELLIUM</a:t>
            </a:r>
            <a:endParaRPr lang="en-US" sz="1800" dirty="0"/>
          </a:p>
        </p:txBody>
      </p:sp>
      <p:sp>
        <p:nvSpPr>
          <p:cNvPr id="9" name="Text 16">
            <a:extLst>
              <a:ext uri="{FF2B5EF4-FFF2-40B4-BE49-F238E27FC236}">
                <a16:creationId xmlns:a16="http://schemas.microsoft.com/office/drawing/2014/main" id="{7CE98CE2-05AE-F58A-FD6B-A4AEDD5EA6FA}"/>
              </a:ext>
            </a:extLst>
          </p:cNvPr>
          <p:cNvSpPr/>
          <p:nvPr userDrawn="1"/>
        </p:nvSpPr>
        <p:spPr>
          <a:xfrm>
            <a:off x="16280606" y="9337782"/>
            <a:ext cx="1016794" cy="323850"/>
          </a:xfrm>
          <a:prstGeom prst="rect">
            <a:avLst/>
          </a:prstGeom>
          <a:noFill/>
          <a:ln/>
        </p:spPr>
        <p:txBody>
          <a:bodyPr wrap="square" lIns="25400" tIns="25400" rIns="25400" bIns="25400" rtlCol="0" anchor="t">
            <a:normAutofit lnSpcReduction="10000"/>
          </a:bodyPr>
          <a:lstStyle/>
          <a:p>
            <a:pPr marL="0" indent="0" algn="l">
              <a:buNone/>
            </a:pPr>
            <a:fld id="{6D441102-4D8A-4662-8123-FD9BBBB68572}" type="slidenum">
              <a:rPr lang="en-US" sz="1800" kern="0" spc="216" smtClean="0">
                <a:solidFill>
                  <a:srgbClr val="0E3145">
                    <a:alpha val="44000"/>
                  </a:srgbClr>
                </a:solidFill>
                <a:latin typeface="Euclid Circular A" pitchFamily="34" charset="0"/>
                <a:ea typeface="Euclid Circular A" pitchFamily="34" charset="-122"/>
                <a:cs typeface="Euclid Circular A" pitchFamily="34" charset="-120"/>
              </a:rPr>
              <a:t>‹N°›</a:t>
            </a:fld>
            <a:endParaRPr lang="en-US" sz="180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DEFAULT">
    <p:bg>
      <p:bgPr>
        <a:solidFill>
          <a:schemeClr val="bg1"/>
        </a:solidFill>
        <a:effectLst/>
      </p:bgPr>
    </p:bg>
    <p:spTree>
      <p:nvGrpSpPr>
        <p:cNvPr id="1" name=""/>
        <p:cNvGrpSpPr/>
        <p:nvPr/>
      </p:nvGrpSpPr>
      <p:grpSpPr>
        <a:xfrm>
          <a:off x="0" y="0"/>
          <a:ext cx="0" cy="0"/>
          <a:chOff x="0" y="0"/>
          <a:chExt cx="0" cy="0"/>
        </a:xfrm>
      </p:grpSpPr>
      <p:sp>
        <p:nvSpPr>
          <p:cNvPr id="6" name="Shape 0">
            <a:extLst>
              <a:ext uri="{FF2B5EF4-FFF2-40B4-BE49-F238E27FC236}">
                <a16:creationId xmlns:a16="http://schemas.microsoft.com/office/drawing/2014/main" id="{994CEAB1-0C20-9EE1-F666-C3AD4A7EAA6C}"/>
              </a:ext>
            </a:extLst>
          </p:cNvPr>
          <p:cNvSpPr/>
          <p:nvPr userDrawn="1"/>
        </p:nvSpPr>
        <p:spPr>
          <a:xfrm>
            <a:off x="0" y="-26414"/>
            <a:ext cx="18288000" cy="10287000"/>
          </a:xfrm>
          <a:prstGeom prst="rect">
            <a:avLst/>
          </a:prstGeom>
          <a:gradFill flip="none" rotWithShape="1">
            <a:gsLst>
              <a:gs pos="0">
                <a:schemeClr val="accent1">
                  <a:lumMod val="20000"/>
                  <a:lumOff val="80000"/>
                </a:schemeClr>
              </a:gs>
              <a:gs pos="100000">
                <a:schemeClr val="bg1"/>
              </a:gs>
              <a:gs pos="85000">
                <a:srgbClr val="FFFFFF"/>
              </a:gs>
              <a:gs pos="74000">
                <a:srgbClr val="FFFFFF"/>
              </a:gs>
              <a:gs pos="9000">
                <a:srgbClr val="F3CCDC"/>
              </a:gs>
              <a:gs pos="59000">
                <a:srgbClr val="FFFFFF"/>
              </a:gs>
              <a:gs pos="39000">
                <a:srgbClr val="FFFFFF"/>
              </a:gs>
              <a:gs pos="27000">
                <a:srgbClr val="FFFFFF"/>
              </a:gs>
            </a:gsLst>
            <a:path path="circle">
              <a:fillToRect l="100000" b="100000"/>
            </a:path>
            <a:tileRect t="-100000" r="-100000"/>
          </a:gradFill>
          <a:ln/>
        </p:spPr>
        <p:txBody>
          <a:bodyPr/>
          <a:lstStyle/>
          <a:p>
            <a:endParaRPr lang="fr-FR" dirty="0"/>
          </a:p>
        </p:txBody>
      </p:sp>
      <p:sp>
        <p:nvSpPr>
          <p:cNvPr id="7" name="Rectangle 6">
            <a:extLst>
              <a:ext uri="{FF2B5EF4-FFF2-40B4-BE49-F238E27FC236}">
                <a16:creationId xmlns:a16="http://schemas.microsoft.com/office/drawing/2014/main" id="{8418C74B-F765-FF02-A0B1-845C4B402474}"/>
              </a:ext>
            </a:extLst>
          </p:cNvPr>
          <p:cNvSpPr/>
          <p:nvPr userDrawn="1"/>
        </p:nvSpPr>
        <p:spPr>
          <a:xfrm>
            <a:off x="0" y="-25400"/>
            <a:ext cx="18288000" cy="80523"/>
          </a:xfrm>
          <a:prstGeom prst="rect">
            <a:avLst/>
          </a:prstGeom>
          <a:gradFill flip="none" rotWithShape="1">
            <a:gsLst>
              <a:gs pos="100000">
                <a:schemeClr val="accent1">
                  <a:lumMod val="20000"/>
                  <a:lumOff val="80000"/>
                </a:schemeClr>
              </a:gs>
              <a:gs pos="0">
                <a:schemeClr val="accent1"/>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8" name="Image 7">
            <a:extLst>
              <a:ext uri="{FF2B5EF4-FFF2-40B4-BE49-F238E27FC236}">
                <a16:creationId xmlns:a16="http://schemas.microsoft.com/office/drawing/2014/main" id="{CFCE4E70-7DD1-77DF-57E5-7463F403A86D}"/>
              </a:ext>
            </a:extLst>
          </p:cNvPr>
          <p:cNvPicPr>
            <a:picLocks noChangeAspect="1"/>
          </p:cNvPicPr>
          <p:nvPr userDrawn="1"/>
        </p:nvPicPr>
        <p:blipFill>
          <a:blip r:embed="rId2">
            <a:alphaModFix amt="30000"/>
          </a:blip>
          <a:stretch>
            <a:fillRect/>
          </a:stretch>
        </p:blipFill>
        <p:spPr>
          <a:xfrm>
            <a:off x="15493376" y="756896"/>
            <a:ext cx="2067890" cy="1623382"/>
          </a:xfrm>
          <a:prstGeom prst="rect">
            <a:avLst/>
          </a:prstGeom>
        </p:spPr>
      </p:pic>
      <p:sp>
        <p:nvSpPr>
          <p:cNvPr id="2" name="Shape 23">
            <a:extLst>
              <a:ext uri="{FF2B5EF4-FFF2-40B4-BE49-F238E27FC236}">
                <a16:creationId xmlns:a16="http://schemas.microsoft.com/office/drawing/2014/main" id="{A8046849-7F72-0CBB-9E02-807F59C3BA45}"/>
              </a:ext>
            </a:extLst>
          </p:cNvPr>
          <p:cNvSpPr/>
          <p:nvPr userDrawn="1"/>
        </p:nvSpPr>
        <p:spPr>
          <a:xfrm>
            <a:off x="16010334" y="9466369"/>
            <a:ext cx="66675" cy="66675"/>
          </a:xfrm>
          <a:prstGeom prst="ellipse">
            <a:avLst/>
          </a:prstGeom>
          <a:solidFill>
            <a:srgbClr val="DC216E"/>
          </a:solidFill>
          <a:ln/>
        </p:spPr>
        <p:txBody>
          <a:bodyPr/>
          <a:lstStyle/>
          <a:p>
            <a:endParaRPr lang="fr-FR"/>
          </a:p>
        </p:txBody>
      </p:sp>
      <p:sp>
        <p:nvSpPr>
          <p:cNvPr id="3" name="Shape 13">
            <a:extLst>
              <a:ext uri="{FF2B5EF4-FFF2-40B4-BE49-F238E27FC236}">
                <a16:creationId xmlns:a16="http://schemas.microsoft.com/office/drawing/2014/main" id="{C3CCDE8E-4D8F-9D41-135C-EEB89A32B46D}"/>
              </a:ext>
            </a:extLst>
          </p:cNvPr>
          <p:cNvSpPr/>
          <p:nvPr userDrawn="1"/>
        </p:nvSpPr>
        <p:spPr>
          <a:xfrm>
            <a:off x="1066800" y="9099657"/>
            <a:ext cx="16154400" cy="9525"/>
          </a:xfrm>
          <a:prstGeom prst="rect">
            <a:avLst/>
          </a:prstGeom>
          <a:solidFill>
            <a:srgbClr val="0E3145">
              <a:alpha val="12000"/>
            </a:srgbClr>
          </a:solidFill>
          <a:ln/>
        </p:spPr>
        <p:txBody>
          <a:bodyPr/>
          <a:lstStyle/>
          <a:p>
            <a:endParaRPr lang="fr-FR"/>
          </a:p>
        </p:txBody>
      </p:sp>
      <p:pic>
        <p:nvPicPr>
          <p:cNvPr id="4" name="Image 2" descr="preencoded.png">
            <a:extLst>
              <a:ext uri="{FF2B5EF4-FFF2-40B4-BE49-F238E27FC236}">
                <a16:creationId xmlns:a16="http://schemas.microsoft.com/office/drawing/2014/main" id="{B08D3A70-B5DC-5187-77FB-F8BBA9837247}"/>
              </a:ext>
            </a:extLst>
          </p:cNvPr>
          <p:cNvPicPr>
            <a:picLocks noChangeAspect="1"/>
          </p:cNvPicPr>
          <p:nvPr userDrawn="1"/>
        </p:nvPicPr>
        <p:blipFill>
          <a:blip r:embed="rId3"/>
          <a:stretch>
            <a:fillRect/>
          </a:stretch>
        </p:blipFill>
        <p:spPr>
          <a:xfrm>
            <a:off x="1066800" y="9337782"/>
            <a:ext cx="607516" cy="285750"/>
          </a:xfrm>
          <a:prstGeom prst="rect">
            <a:avLst/>
          </a:prstGeom>
        </p:spPr>
      </p:pic>
      <p:sp>
        <p:nvSpPr>
          <p:cNvPr id="5" name="Shape 14">
            <a:extLst>
              <a:ext uri="{FF2B5EF4-FFF2-40B4-BE49-F238E27FC236}">
                <a16:creationId xmlns:a16="http://schemas.microsoft.com/office/drawing/2014/main" id="{E0EB4B11-E949-B251-6CD4-CA69F79A76DA}"/>
              </a:ext>
            </a:extLst>
          </p:cNvPr>
          <p:cNvSpPr/>
          <p:nvPr userDrawn="1"/>
        </p:nvSpPr>
        <p:spPr>
          <a:xfrm>
            <a:off x="1845766" y="9375882"/>
            <a:ext cx="9525" cy="209550"/>
          </a:xfrm>
          <a:prstGeom prst="rect">
            <a:avLst/>
          </a:prstGeom>
          <a:solidFill>
            <a:srgbClr val="0E3145">
              <a:alpha val="12000"/>
            </a:srgbClr>
          </a:solidFill>
          <a:ln/>
        </p:spPr>
        <p:txBody>
          <a:bodyPr/>
          <a:lstStyle/>
          <a:p>
            <a:endParaRPr lang="fr-FR"/>
          </a:p>
        </p:txBody>
      </p:sp>
      <p:sp>
        <p:nvSpPr>
          <p:cNvPr id="9" name="Text 15">
            <a:extLst>
              <a:ext uri="{FF2B5EF4-FFF2-40B4-BE49-F238E27FC236}">
                <a16:creationId xmlns:a16="http://schemas.microsoft.com/office/drawing/2014/main" id="{BD3A5BE1-7FCF-0044-3ADB-424B48E522C3}"/>
              </a:ext>
            </a:extLst>
          </p:cNvPr>
          <p:cNvSpPr/>
          <p:nvPr userDrawn="1"/>
        </p:nvSpPr>
        <p:spPr>
          <a:xfrm>
            <a:off x="2026741" y="9337781"/>
            <a:ext cx="6183809" cy="285751"/>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88" dirty="0">
                <a:solidFill>
                  <a:srgbClr val="0E3145">
                    <a:alpha val="44000"/>
                  </a:srgbClr>
                </a:solidFill>
                <a:latin typeface="Euclid Circular A" pitchFamily="34" charset="0"/>
                <a:ea typeface="Euclid Circular A" pitchFamily="34" charset="-122"/>
                <a:cs typeface="Euclid Circular A" pitchFamily="34" charset="-120"/>
              </a:rPr>
              <a:t>USAGE INTERNE – PRODEMIAL/STELLIUM</a:t>
            </a:r>
            <a:endParaRPr lang="en-US" sz="1800" dirty="0"/>
          </a:p>
        </p:txBody>
      </p:sp>
      <p:sp>
        <p:nvSpPr>
          <p:cNvPr id="10" name="Text 16">
            <a:extLst>
              <a:ext uri="{FF2B5EF4-FFF2-40B4-BE49-F238E27FC236}">
                <a16:creationId xmlns:a16="http://schemas.microsoft.com/office/drawing/2014/main" id="{4690466C-0F80-DB90-516B-83708AAD966F}"/>
              </a:ext>
            </a:extLst>
          </p:cNvPr>
          <p:cNvSpPr/>
          <p:nvPr userDrawn="1"/>
        </p:nvSpPr>
        <p:spPr>
          <a:xfrm>
            <a:off x="16280606" y="9337782"/>
            <a:ext cx="1016794" cy="323850"/>
          </a:xfrm>
          <a:prstGeom prst="rect">
            <a:avLst/>
          </a:prstGeom>
          <a:noFill/>
          <a:ln/>
        </p:spPr>
        <p:txBody>
          <a:bodyPr wrap="square" lIns="25400" tIns="25400" rIns="25400" bIns="25400" rtlCol="0" anchor="t">
            <a:normAutofit lnSpcReduction="10000"/>
          </a:bodyPr>
          <a:lstStyle/>
          <a:p>
            <a:pPr marL="0" indent="0" algn="l">
              <a:buNone/>
            </a:pPr>
            <a:fld id="{6D441102-4D8A-4662-8123-FD9BBBB68572}" type="slidenum">
              <a:rPr lang="en-US" sz="1800" kern="0" spc="216" smtClean="0">
                <a:solidFill>
                  <a:srgbClr val="0E3145">
                    <a:alpha val="44000"/>
                  </a:srgbClr>
                </a:solidFill>
                <a:latin typeface="Euclid Circular A" pitchFamily="34" charset="0"/>
                <a:ea typeface="Euclid Circular A" pitchFamily="34" charset="-122"/>
                <a:cs typeface="Euclid Circular A" pitchFamily="34" charset="-120"/>
              </a:rPr>
              <a:t>‹N°›</a:t>
            </a:fld>
            <a:endParaRPr lang="en-US" sz="1800" dirty="0"/>
          </a:p>
        </p:txBody>
      </p:sp>
    </p:spTree>
    <p:extLst>
      <p:ext uri="{BB962C8B-B14F-4D97-AF65-F5344CB8AC3E}">
        <p14:creationId xmlns:p14="http://schemas.microsoft.com/office/powerpoint/2010/main" val="1420514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DEFAULT">
    <p:bg>
      <p:bgPr>
        <a:solidFill>
          <a:schemeClr val="bg1"/>
        </a:solidFill>
        <a:effectLst/>
      </p:bgPr>
    </p:bg>
    <p:spTree>
      <p:nvGrpSpPr>
        <p:cNvPr id="1" name=""/>
        <p:cNvGrpSpPr/>
        <p:nvPr/>
      </p:nvGrpSpPr>
      <p:grpSpPr>
        <a:xfrm>
          <a:off x="0" y="0"/>
          <a:ext cx="0" cy="0"/>
          <a:chOff x="0" y="0"/>
          <a:chExt cx="0" cy="0"/>
        </a:xfrm>
      </p:grpSpPr>
      <p:sp>
        <p:nvSpPr>
          <p:cNvPr id="9" name="Shape 23">
            <a:extLst>
              <a:ext uri="{FF2B5EF4-FFF2-40B4-BE49-F238E27FC236}">
                <a16:creationId xmlns:a16="http://schemas.microsoft.com/office/drawing/2014/main" id="{B4E4784D-5BF6-80B6-9711-88AC5B8CFA45}"/>
              </a:ext>
            </a:extLst>
          </p:cNvPr>
          <p:cNvSpPr/>
          <p:nvPr userDrawn="1"/>
        </p:nvSpPr>
        <p:spPr>
          <a:xfrm>
            <a:off x="16010334" y="9466369"/>
            <a:ext cx="66675" cy="66675"/>
          </a:xfrm>
          <a:prstGeom prst="ellipse">
            <a:avLst/>
          </a:prstGeom>
          <a:solidFill>
            <a:srgbClr val="DC216E"/>
          </a:solidFill>
          <a:ln/>
        </p:spPr>
        <p:txBody>
          <a:bodyPr/>
          <a:lstStyle/>
          <a:p>
            <a:endParaRPr lang="fr-FR"/>
          </a:p>
        </p:txBody>
      </p:sp>
      <p:sp>
        <p:nvSpPr>
          <p:cNvPr id="10" name="Shape 13">
            <a:extLst>
              <a:ext uri="{FF2B5EF4-FFF2-40B4-BE49-F238E27FC236}">
                <a16:creationId xmlns:a16="http://schemas.microsoft.com/office/drawing/2014/main" id="{451A4671-3911-9B18-DE17-0834F2ED6DAF}"/>
              </a:ext>
            </a:extLst>
          </p:cNvPr>
          <p:cNvSpPr/>
          <p:nvPr userDrawn="1"/>
        </p:nvSpPr>
        <p:spPr>
          <a:xfrm>
            <a:off x="1066800" y="9099657"/>
            <a:ext cx="16154400" cy="9525"/>
          </a:xfrm>
          <a:prstGeom prst="rect">
            <a:avLst/>
          </a:prstGeom>
          <a:solidFill>
            <a:srgbClr val="0E3145">
              <a:alpha val="12000"/>
            </a:srgbClr>
          </a:solidFill>
          <a:ln/>
        </p:spPr>
        <p:txBody>
          <a:bodyPr/>
          <a:lstStyle/>
          <a:p>
            <a:endParaRPr lang="fr-FR"/>
          </a:p>
        </p:txBody>
      </p:sp>
      <p:pic>
        <p:nvPicPr>
          <p:cNvPr id="11" name="Image 2" descr="preencoded.png">
            <a:extLst>
              <a:ext uri="{FF2B5EF4-FFF2-40B4-BE49-F238E27FC236}">
                <a16:creationId xmlns:a16="http://schemas.microsoft.com/office/drawing/2014/main" id="{9FD0E9F5-7CAB-6CA9-CA67-184A49571AB0}"/>
              </a:ext>
            </a:extLst>
          </p:cNvPr>
          <p:cNvPicPr>
            <a:picLocks noChangeAspect="1"/>
          </p:cNvPicPr>
          <p:nvPr userDrawn="1"/>
        </p:nvPicPr>
        <p:blipFill>
          <a:blip r:embed="rId2"/>
          <a:stretch>
            <a:fillRect/>
          </a:stretch>
        </p:blipFill>
        <p:spPr>
          <a:xfrm>
            <a:off x="1066800" y="9337782"/>
            <a:ext cx="607516" cy="285750"/>
          </a:xfrm>
          <a:prstGeom prst="rect">
            <a:avLst/>
          </a:prstGeom>
        </p:spPr>
      </p:pic>
      <p:sp>
        <p:nvSpPr>
          <p:cNvPr id="12" name="Shape 14">
            <a:extLst>
              <a:ext uri="{FF2B5EF4-FFF2-40B4-BE49-F238E27FC236}">
                <a16:creationId xmlns:a16="http://schemas.microsoft.com/office/drawing/2014/main" id="{3AD1D4BB-F922-C772-8527-F7F64C87E7E3}"/>
              </a:ext>
            </a:extLst>
          </p:cNvPr>
          <p:cNvSpPr/>
          <p:nvPr userDrawn="1"/>
        </p:nvSpPr>
        <p:spPr>
          <a:xfrm>
            <a:off x="1845766" y="9375882"/>
            <a:ext cx="9525" cy="209550"/>
          </a:xfrm>
          <a:prstGeom prst="rect">
            <a:avLst/>
          </a:prstGeom>
          <a:solidFill>
            <a:srgbClr val="0E3145">
              <a:alpha val="12000"/>
            </a:srgbClr>
          </a:solidFill>
          <a:ln/>
        </p:spPr>
        <p:txBody>
          <a:bodyPr/>
          <a:lstStyle/>
          <a:p>
            <a:endParaRPr lang="fr-FR"/>
          </a:p>
        </p:txBody>
      </p:sp>
      <p:sp>
        <p:nvSpPr>
          <p:cNvPr id="13" name="Text 15">
            <a:extLst>
              <a:ext uri="{FF2B5EF4-FFF2-40B4-BE49-F238E27FC236}">
                <a16:creationId xmlns:a16="http://schemas.microsoft.com/office/drawing/2014/main" id="{521439B3-7D7D-EEFD-8451-421610D189DE}"/>
              </a:ext>
            </a:extLst>
          </p:cNvPr>
          <p:cNvSpPr/>
          <p:nvPr userDrawn="1"/>
        </p:nvSpPr>
        <p:spPr>
          <a:xfrm>
            <a:off x="2026741" y="9337781"/>
            <a:ext cx="6183809" cy="285751"/>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88" dirty="0">
                <a:solidFill>
                  <a:srgbClr val="0E3145">
                    <a:alpha val="44000"/>
                  </a:srgbClr>
                </a:solidFill>
                <a:latin typeface="Euclid Circular A" pitchFamily="34" charset="0"/>
                <a:ea typeface="Euclid Circular A" pitchFamily="34" charset="-122"/>
                <a:cs typeface="Euclid Circular A" pitchFamily="34" charset="-120"/>
              </a:rPr>
              <a:t>USAGE INTERNE – PRODEMIAL/STELLIUM</a:t>
            </a:r>
            <a:endParaRPr lang="en-US" sz="1800" dirty="0"/>
          </a:p>
        </p:txBody>
      </p:sp>
      <p:sp>
        <p:nvSpPr>
          <p:cNvPr id="14" name="Text 16">
            <a:extLst>
              <a:ext uri="{FF2B5EF4-FFF2-40B4-BE49-F238E27FC236}">
                <a16:creationId xmlns:a16="http://schemas.microsoft.com/office/drawing/2014/main" id="{70443C1C-CEA5-05D0-A1BD-A3C561C69A5C}"/>
              </a:ext>
            </a:extLst>
          </p:cNvPr>
          <p:cNvSpPr/>
          <p:nvPr userDrawn="1"/>
        </p:nvSpPr>
        <p:spPr>
          <a:xfrm>
            <a:off x="16280606" y="9337782"/>
            <a:ext cx="1016794" cy="323850"/>
          </a:xfrm>
          <a:prstGeom prst="rect">
            <a:avLst/>
          </a:prstGeom>
          <a:noFill/>
          <a:ln/>
        </p:spPr>
        <p:txBody>
          <a:bodyPr wrap="square" lIns="25400" tIns="25400" rIns="25400" bIns="25400" rtlCol="0" anchor="t">
            <a:normAutofit lnSpcReduction="10000"/>
          </a:bodyPr>
          <a:lstStyle/>
          <a:p>
            <a:pPr marL="0" indent="0" algn="l">
              <a:buNone/>
            </a:pPr>
            <a:fld id="{6D441102-4D8A-4662-8123-FD9BBBB68572}" type="slidenum">
              <a:rPr lang="en-US" sz="1800" kern="0" spc="216" smtClean="0">
                <a:solidFill>
                  <a:srgbClr val="0E3145">
                    <a:alpha val="44000"/>
                  </a:srgbClr>
                </a:solidFill>
                <a:latin typeface="Euclid Circular A" pitchFamily="34" charset="0"/>
                <a:ea typeface="Euclid Circular A" pitchFamily="34" charset="-122"/>
                <a:cs typeface="Euclid Circular A" pitchFamily="34" charset="-120"/>
              </a:rPr>
              <a:t>‹N°›</a:t>
            </a:fld>
            <a:endParaRPr lang="en-US" sz="1800" dirty="0"/>
          </a:p>
        </p:txBody>
      </p:sp>
      <p:pic>
        <p:nvPicPr>
          <p:cNvPr id="2" name="Image 2">
            <a:extLst>
              <a:ext uri="{FF2B5EF4-FFF2-40B4-BE49-F238E27FC236}">
                <a16:creationId xmlns:a16="http://schemas.microsoft.com/office/drawing/2014/main" id="{059F7B99-A0E3-3F4C-5847-3B6BFC124B58}"/>
              </a:ext>
            </a:extLst>
          </p:cNvPr>
          <p:cNvPicPr>
            <a:picLocks noChangeAspect="1"/>
          </p:cNvPicPr>
          <p:nvPr userDrawn="1"/>
        </p:nvPicPr>
        <p:blipFill>
          <a:blip r:embed="rId3"/>
          <a:srcRect/>
          <a:stretch/>
        </p:blipFill>
        <p:spPr>
          <a:xfrm>
            <a:off x="903388" y="9266535"/>
            <a:ext cx="910231" cy="492099"/>
          </a:xfrm>
          <a:prstGeom prst="rect">
            <a:avLst/>
          </a:prstGeom>
        </p:spPr>
      </p:pic>
    </p:spTree>
    <p:extLst>
      <p:ext uri="{BB962C8B-B14F-4D97-AF65-F5344CB8AC3E}">
        <p14:creationId xmlns:p14="http://schemas.microsoft.com/office/powerpoint/2010/main" val="3025178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solidFill>
          <a:schemeClr val="accent2"/>
        </a:solidFill>
        <a:effectLst/>
      </p:bgPr>
    </p:bg>
    <p:spTree>
      <p:nvGrpSpPr>
        <p:cNvPr id="1" name=""/>
        <p:cNvGrpSpPr/>
        <p:nvPr/>
      </p:nvGrpSpPr>
      <p:grpSpPr>
        <a:xfrm>
          <a:off x="0" y="0"/>
          <a:ext cx="0" cy="0"/>
          <a:chOff x="0" y="0"/>
          <a:chExt cx="0" cy="0"/>
        </a:xfrm>
      </p:grpSpPr>
      <p:sp>
        <p:nvSpPr>
          <p:cNvPr id="2" name="Shape 23">
            <a:extLst>
              <a:ext uri="{FF2B5EF4-FFF2-40B4-BE49-F238E27FC236}">
                <a16:creationId xmlns:a16="http://schemas.microsoft.com/office/drawing/2014/main" id="{9C8B1DA9-7BA5-39E3-8788-E826B4DEED56}"/>
              </a:ext>
            </a:extLst>
          </p:cNvPr>
          <p:cNvSpPr/>
          <p:nvPr userDrawn="1"/>
        </p:nvSpPr>
        <p:spPr>
          <a:xfrm>
            <a:off x="16010334" y="9466369"/>
            <a:ext cx="66675" cy="66675"/>
          </a:xfrm>
          <a:prstGeom prst="ellipse">
            <a:avLst/>
          </a:prstGeom>
          <a:solidFill>
            <a:srgbClr val="DC216E"/>
          </a:solidFill>
          <a:ln/>
        </p:spPr>
        <p:txBody>
          <a:bodyPr/>
          <a:lstStyle/>
          <a:p>
            <a:endParaRPr lang="fr-FR"/>
          </a:p>
        </p:txBody>
      </p:sp>
      <p:sp>
        <p:nvSpPr>
          <p:cNvPr id="3" name="Shape 13">
            <a:extLst>
              <a:ext uri="{FF2B5EF4-FFF2-40B4-BE49-F238E27FC236}">
                <a16:creationId xmlns:a16="http://schemas.microsoft.com/office/drawing/2014/main" id="{5F71BECC-54B9-45D3-ACF6-8033BE1C2C5F}"/>
              </a:ext>
            </a:extLst>
          </p:cNvPr>
          <p:cNvSpPr/>
          <p:nvPr userDrawn="1"/>
        </p:nvSpPr>
        <p:spPr>
          <a:xfrm>
            <a:off x="1066800" y="9099657"/>
            <a:ext cx="16154400" cy="9525"/>
          </a:xfrm>
          <a:prstGeom prst="rect">
            <a:avLst/>
          </a:prstGeom>
          <a:solidFill>
            <a:schemeClr val="accent6">
              <a:alpha val="12000"/>
            </a:schemeClr>
          </a:solidFill>
          <a:ln/>
        </p:spPr>
        <p:txBody>
          <a:bodyPr/>
          <a:lstStyle/>
          <a:p>
            <a:endParaRPr lang="fr-FR"/>
          </a:p>
        </p:txBody>
      </p:sp>
      <p:sp>
        <p:nvSpPr>
          <p:cNvPr id="5" name="Shape 14">
            <a:extLst>
              <a:ext uri="{FF2B5EF4-FFF2-40B4-BE49-F238E27FC236}">
                <a16:creationId xmlns:a16="http://schemas.microsoft.com/office/drawing/2014/main" id="{B47D0781-1C31-A85E-2057-56CAAA56AA9B}"/>
              </a:ext>
            </a:extLst>
          </p:cNvPr>
          <p:cNvSpPr/>
          <p:nvPr userDrawn="1"/>
        </p:nvSpPr>
        <p:spPr>
          <a:xfrm>
            <a:off x="1845766" y="9375882"/>
            <a:ext cx="9525" cy="209550"/>
          </a:xfrm>
          <a:prstGeom prst="rect">
            <a:avLst/>
          </a:prstGeom>
          <a:solidFill>
            <a:schemeClr val="accent6">
              <a:alpha val="12000"/>
            </a:schemeClr>
          </a:solidFill>
          <a:ln/>
        </p:spPr>
        <p:txBody>
          <a:bodyPr/>
          <a:lstStyle/>
          <a:p>
            <a:endParaRPr lang="fr-FR"/>
          </a:p>
        </p:txBody>
      </p:sp>
      <p:sp>
        <p:nvSpPr>
          <p:cNvPr id="6" name="Text 15">
            <a:extLst>
              <a:ext uri="{FF2B5EF4-FFF2-40B4-BE49-F238E27FC236}">
                <a16:creationId xmlns:a16="http://schemas.microsoft.com/office/drawing/2014/main" id="{DA69CC02-A518-5280-30F7-23C26809246D}"/>
              </a:ext>
            </a:extLst>
          </p:cNvPr>
          <p:cNvSpPr/>
          <p:nvPr userDrawn="1"/>
        </p:nvSpPr>
        <p:spPr>
          <a:xfrm>
            <a:off x="2026741" y="9337781"/>
            <a:ext cx="6183809" cy="285751"/>
          </a:xfrm>
          <a:prstGeom prst="rect">
            <a:avLst/>
          </a:prstGeom>
          <a:noFill/>
          <a:ln/>
        </p:spPr>
        <p:txBody>
          <a:bodyPr wrap="square" lIns="25400" tIns="25400" rIns="25400" bIns="25400" rtlCol="0" anchor="t">
            <a:normAutofit fontScale="92500" lnSpcReduction="10000"/>
          </a:bodyPr>
          <a:lstStyle/>
          <a:p>
            <a:pPr marL="0" indent="0" algn="l">
              <a:buNone/>
            </a:pPr>
            <a:r>
              <a:rPr lang="en-US" sz="1800" kern="0" spc="288" dirty="0">
                <a:solidFill>
                  <a:schemeClr val="bg1"/>
                </a:solidFill>
                <a:latin typeface="Euclid Circular A" pitchFamily="34" charset="0"/>
                <a:ea typeface="Euclid Circular A" pitchFamily="34" charset="-122"/>
                <a:cs typeface="Euclid Circular A" pitchFamily="34" charset="-120"/>
              </a:rPr>
              <a:t>USAGE INTERNE – PRODEMIAL/STELLIUM</a:t>
            </a:r>
            <a:endParaRPr lang="en-US" sz="1800" dirty="0">
              <a:solidFill>
                <a:schemeClr val="bg1"/>
              </a:solidFill>
            </a:endParaRPr>
          </a:p>
        </p:txBody>
      </p:sp>
      <p:sp>
        <p:nvSpPr>
          <p:cNvPr id="7" name="Text 16">
            <a:extLst>
              <a:ext uri="{FF2B5EF4-FFF2-40B4-BE49-F238E27FC236}">
                <a16:creationId xmlns:a16="http://schemas.microsoft.com/office/drawing/2014/main" id="{A987AAEC-D050-5C38-66DB-293DA37DC662}"/>
              </a:ext>
            </a:extLst>
          </p:cNvPr>
          <p:cNvSpPr/>
          <p:nvPr userDrawn="1"/>
        </p:nvSpPr>
        <p:spPr>
          <a:xfrm>
            <a:off x="16280606" y="9337782"/>
            <a:ext cx="1016794" cy="323850"/>
          </a:xfrm>
          <a:prstGeom prst="rect">
            <a:avLst/>
          </a:prstGeom>
          <a:noFill/>
          <a:ln/>
        </p:spPr>
        <p:txBody>
          <a:bodyPr wrap="square" lIns="25400" tIns="25400" rIns="25400" bIns="25400" rtlCol="0" anchor="t">
            <a:normAutofit lnSpcReduction="10000"/>
          </a:bodyPr>
          <a:lstStyle/>
          <a:p>
            <a:pPr marL="0" indent="0" algn="l">
              <a:buNone/>
            </a:pPr>
            <a:fld id="{6D441102-4D8A-4662-8123-FD9BBBB68572}" type="slidenum">
              <a:rPr lang="en-US" sz="1800" kern="0" spc="216" smtClean="0">
                <a:solidFill>
                  <a:schemeClr val="bg1"/>
                </a:solidFill>
                <a:latin typeface="Euclid Circular A" pitchFamily="34" charset="0"/>
                <a:ea typeface="Euclid Circular A" pitchFamily="34" charset="-122"/>
                <a:cs typeface="Euclid Circular A" pitchFamily="34" charset="-120"/>
              </a:rPr>
              <a:t>‹N°›</a:t>
            </a:fld>
            <a:endParaRPr lang="en-US" sz="1800" dirty="0">
              <a:solidFill>
                <a:schemeClr val="bg1"/>
              </a:solidFill>
            </a:endParaRPr>
          </a:p>
        </p:txBody>
      </p:sp>
      <p:pic>
        <p:nvPicPr>
          <p:cNvPr id="8" name="Image 2">
            <a:extLst>
              <a:ext uri="{FF2B5EF4-FFF2-40B4-BE49-F238E27FC236}">
                <a16:creationId xmlns:a16="http://schemas.microsoft.com/office/drawing/2014/main" id="{5278FDF9-900D-54C7-AC9C-6F77A0A5B223}"/>
              </a:ext>
            </a:extLst>
          </p:cNvPr>
          <p:cNvPicPr>
            <a:picLocks noChangeAspect="1"/>
          </p:cNvPicPr>
          <p:nvPr userDrawn="1"/>
        </p:nvPicPr>
        <p:blipFill>
          <a:blip r:embed="rId2"/>
          <a:srcRect/>
          <a:stretch/>
        </p:blipFill>
        <p:spPr>
          <a:xfrm>
            <a:off x="903388" y="9266535"/>
            <a:ext cx="910231" cy="492099"/>
          </a:xfrm>
          <a:prstGeom prst="rect">
            <a:avLst/>
          </a:prstGeom>
        </p:spPr>
      </p:pic>
    </p:spTree>
    <p:extLst>
      <p:ext uri="{BB962C8B-B14F-4D97-AF65-F5344CB8AC3E}">
        <p14:creationId xmlns:p14="http://schemas.microsoft.com/office/powerpoint/2010/main" val="2196407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04999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2" r:id="rId5"/>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5.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pic>
        <p:nvPicPr>
          <p:cNvPr id="5" name="Image 2" descr="preencoded.png"/>
          <p:cNvPicPr>
            <a:picLocks noChangeAspect="1"/>
          </p:cNvPicPr>
          <p:nvPr/>
        </p:nvPicPr>
        <p:blipFill>
          <a:blip r:embed="rId3"/>
          <a:stretch>
            <a:fillRect/>
          </a:stretch>
        </p:blipFill>
        <p:spPr>
          <a:xfrm>
            <a:off x="1066800" y="574327"/>
            <a:ext cx="2337015" cy="1099245"/>
          </a:xfrm>
          <a:prstGeom prst="rect">
            <a:avLst/>
          </a:prstGeom>
        </p:spPr>
      </p:pic>
      <p:sp>
        <p:nvSpPr>
          <p:cNvPr id="6" name="Text 1"/>
          <p:cNvSpPr/>
          <p:nvPr/>
        </p:nvSpPr>
        <p:spPr>
          <a:xfrm>
            <a:off x="12519273" y="800100"/>
            <a:ext cx="5172120" cy="323850"/>
          </a:xfrm>
          <a:prstGeom prst="rect">
            <a:avLst/>
          </a:prstGeom>
          <a:noFill/>
          <a:ln/>
        </p:spPr>
        <p:txBody>
          <a:bodyPr wrap="square" lIns="25400" tIns="25400" rIns="25400" bIns="25400" rtlCol="0" anchor="t">
            <a:normAutofit lnSpcReduction="10000"/>
          </a:bodyPr>
          <a:lstStyle/>
          <a:p>
            <a:pPr marL="0" indent="0" algn="ctr">
              <a:buNone/>
            </a:pPr>
            <a:r>
              <a:rPr lang="en-US" sz="1800" kern="0" spc="324" dirty="0">
                <a:solidFill>
                  <a:srgbClr val="0E3145">
                    <a:alpha val="44000"/>
                  </a:srgbClr>
                </a:solidFill>
                <a:latin typeface="Euclid Circular A" pitchFamily="34" charset="0"/>
                <a:ea typeface="Euclid Circular A" pitchFamily="34" charset="-122"/>
                <a:cs typeface="Euclid Circular A" pitchFamily="34" charset="-120"/>
              </a:rPr>
              <a:t>JJ MOIS AAAA</a:t>
            </a:r>
            <a:endParaRPr lang="en-US" sz="1800" dirty="0"/>
          </a:p>
        </p:txBody>
      </p:sp>
      <p:sp>
        <p:nvSpPr>
          <p:cNvPr id="7" name="Text 2"/>
          <p:cNvSpPr/>
          <p:nvPr/>
        </p:nvSpPr>
        <p:spPr>
          <a:xfrm>
            <a:off x="1066800" y="2623245"/>
            <a:ext cx="1383030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468" dirty="0">
                <a:solidFill>
                  <a:srgbClr val="DC216E"/>
                </a:solidFill>
                <a:latin typeface="Euclid Circular A" pitchFamily="34" charset="0"/>
                <a:ea typeface="Euclid Circular A" pitchFamily="34" charset="-122"/>
                <a:cs typeface="Euclid Circular A" pitchFamily="34" charset="-120"/>
              </a:rPr>
              <a:t>FORMATION · SURTITRE</a:t>
            </a:r>
            <a:endParaRPr lang="en-US" sz="1800" dirty="0"/>
          </a:p>
        </p:txBody>
      </p:sp>
      <p:sp>
        <p:nvSpPr>
          <p:cNvPr id="8" name="Text 3"/>
          <p:cNvSpPr/>
          <p:nvPr/>
        </p:nvSpPr>
        <p:spPr>
          <a:xfrm>
            <a:off x="1066800" y="3194745"/>
            <a:ext cx="12950190" cy="2544961"/>
          </a:xfrm>
          <a:prstGeom prst="rect">
            <a:avLst/>
          </a:prstGeom>
          <a:noFill/>
          <a:ln/>
        </p:spPr>
        <p:txBody>
          <a:bodyPr wrap="square" lIns="25400" tIns="25400" rIns="25400" bIns="25400" rtlCol="0" anchor="t">
            <a:normAutofit fontScale="92500" lnSpcReduction="20000"/>
          </a:bodyPr>
          <a:lstStyle/>
          <a:p>
            <a:pPr marL="0" indent="0" algn="l">
              <a:lnSpc>
                <a:spcPct val="94000"/>
              </a:lnSpc>
              <a:buNone/>
            </a:pPr>
            <a:r>
              <a:rPr lang="en-US" sz="10500" kern="0" spc="-420" dirty="0">
                <a:solidFill>
                  <a:srgbClr val="0E3145"/>
                </a:solidFill>
                <a:latin typeface="Euclid Circular A" pitchFamily="34" charset="0"/>
                <a:ea typeface="Euclid Circular A" pitchFamily="34" charset="-122"/>
                <a:cs typeface="Euclid Circular A" pitchFamily="34" charset="-120"/>
              </a:rPr>
              <a:t>Intitulé de la </a:t>
            </a:r>
            <a:r>
              <a:rPr lang="en-US" sz="10500" kern="0" spc="-420" dirty="0">
                <a:solidFill>
                  <a:srgbClr val="DC216E"/>
                </a:solidFill>
                <a:latin typeface="Euclid Circular A" pitchFamily="34" charset="0"/>
                <a:ea typeface="Euclid Circular A" pitchFamily="34" charset="-122"/>
                <a:cs typeface="Euclid Circular A" pitchFamily="34" charset="-120"/>
              </a:rPr>
              <a:t>présentation</a:t>
            </a:r>
            <a:endParaRPr lang="en-US" sz="10500" dirty="0"/>
          </a:p>
        </p:txBody>
      </p:sp>
      <p:sp>
        <p:nvSpPr>
          <p:cNvPr id="9" name="Text 4"/>
          <p:cNvSpPr/>
          <p:nvPr/>
        </p:nvSpPr>
        <p:spPr>
          <a:xfrm>
            <a:off x="1066800" y="5715894"/>
            <a:ext cx="16154400" cy="981075"/>
          </a:xfrm>
          <a:prstGeom prst="rect">
            <a:avLst/>
          </a:prstGeom>
          <a:noFill/>
          <a:ln/>
        </p:spPr>
        <p:txBody>
          <a:bodyPr wrap="square" lIns="25400" tIns="25400" rIns="25400" bIns="25400" rtlCol="0" anchor="t">
            <a:normAutofit/>
          </a:bodyPr>
          <a:lstStyle/>
          <a:p>
            <a:pPr marL="0" indent="0" algn="l">
              <a:lnSpc>
                <a:spcPct val="150000"/>
              </a:lnSpc>
              <a:buNone/>
            </a:pPr>
            <a:r>
              <a:rPr lang="en-US" sz="2475" dirty="0">
                <a:solidFill>
                  <a:srgbClr val="0E3145">
                    <a:alpha val="66000"/>
                  </a:srgbClr>
                </a:solidFill>
                <a:latin typeface="Euclid Circular A" pitchFamily="34" charset="0"/>
                <a:ea typeface="Euclid Circular A" pitchFamily="34" charset="-122"/>
                <a:cs typeface="Euclid Circular A" pitchFamily="34" charset="-120"/>
              </a:rPr>
              <a:t>Sous-titre : précisez l'objet de la présentation en une phrase claire.</a:t>
            </a:r>
            <a:endParaRPr lang="en-US" sz="2475" dirty="0"/>
          </a:p>
        </p:txBody>
      </p:sp>
      <p:sp>
        <p:nvSpPr>
          <p:cNvPr id="10" name="Shape 5"/>
          <p:cNvSpPr/>
          <p:nvPr/>
        </p:nvSpPr>
        <p:spPr>
          <a:xfrm>
            <a:off x="1066800" y="7330381"/>
            <a:ext cx="16154400" cy="9525"/>
          </a:xfrm>
          <a:prstGeom prst="rect">
            <a:avLst/>
          </a:prstGeom>
          <a:solidFill>
            <a:srgbClr val="0E3145">
              <a:alpha val="12000"/>
            </a:srgbClr>
          </a:solidFill>
          <a:ln/>
        </p:spPr>
        <p:txBody>
          <a:bodyPr/>
          <a:lstStyle/>
          <a:p>
            <a:endParaRPr lang="fr-FR"/>
          </a:p>
        </p:txBody>
      </p:sp>
      <p:sp>
        <p:nvSpPr>
          <p:cNvPr id="11" name="Text 6"/>
          <p:cNvSpPr/>
          <p:nvPr/>
        </p:nvSpPr>
        <p:spPr>
          <a:xfrm>
            <a:off x="1066800" y="7625656"/>
            <a:ext cx="5462215" cy="476250"/>
          </a:xfrm>
          <a:prstGeom prst="rect">
            <a:avLst/>
          </a:prstGeom>
          <a:noFill/>
          <a:ln/>
        </p:spPr>
        <p:txBody>
          <a:bodyPr wrap="square" lIns="25400" tIns="25400" rIns="25400" bIns="25400" rtlCol="0" anchor="t">
            <a:normAutofit/>
          </a:bodyPr>
          <a:lstStyle/>
          <a:p>
            <a:pPr marL="0" indent="0" algn="l">
              <a:buNone/>
            </a:pPr>
            <a:r>
              <a:rPr lang="en-US" sz="2700" kern="0" spc="-54" dirty="0">
                <a:solidFill>
                  <a:srgbClr val="DC216E"/>
                </a:solidFill>
                <a:latin typeface="Euclid Circular A" pitchFamily="34" charset="0"/>
                <a:ea typeface="Euclid Circular A" pitchFamily="34" charset="-122"/>
                <a:cs typeface="Euclid Circular A" pitchFamily="34" charset="-120"/>
              </a:rPr>
              <a:t>01</a:t>
            </a:r>
            <a:endParaRPr lang="en-US" sz="2700" dirty="0"/>
          </a:p>
        </p:txBody>
      </p:sp>
      <p:sp>
        <p:nvSpPr>
          <p:cNvPr id="13" name="Shape 8"/>
          <p:cNvSpPr/>
          <p:nvPr/>
        </p:nvSpPr>
        <p:spPr>
          <a:xfrm>
            <a:off x="6451550" y="7625656"/>
            <a:ext cx="9525" cy="838200"/>
          </a:xfrm>
          <a:prstGeom prst="rect">
            <a:avLst/>
          </a:prstGeom>
          <a:solidFill>
            <a:srgbClr val="0E3145">
              <a:alpha val="12000"/>
            </a:srgbClr>
          </a:solidFill>
          <a:ln/>
        </p:spPr>
        <p:txBody>
          <a:bodyPr/>
          <a:lstStyle/>
          <a:p>
            <a:endParaRPr lang="fr-FR"/>
          </a:p>
        </p:txBody>
      </p:sp>
      <p:sp>
        <p:nvSpPr>
          <p:cNvPr id="14" name="Text 9"/>
          <p:cNvSpPr/>
          <p:nvPr/>
        </p:nvSpPr>
        <p:spPr>
          <a:xfrm>
            <a:off x="6880175" y="7625656"/>
            <a:ext cx="4990728" cy="476250"/>
          </a:xfrm>
          <a:prstGeom prst="rect">
            <a:avLst/>
          </a:prstGeom>
          <a:noFill/>
          <a:ln/>
        </p:spPr>
        <p:txBody>
          <a:bodyPr wrap="square" lIns="25400" tIns="25400" rIns="25400" bIns="25400" rtlCol="0" anchor="t">
            <a:normAutofit/>
          </a:bodyPr>
          <a:lstStyle/>
          <a:p>
            <a:pPr marL="0" indent="0" algn="l">
              <a:buNone/>
            </a:pPr>
            <a:r>
              <a:rPr lang="en-US" sz="2700" kern="0" spc="-54" dirty="0">
                <a:solidFill>
                  <a:srgbClr val="DC216E"/>
                </a:solidFill>
                <a:latin typeface="Euclid Circular A" pitchFamily="34" charset="0"/>
                <a:ea typeface="Euclid Circular A" pitchFamily="34" charset="-122"/>
                <a:cs typeface="Euclid Circular A" pitchFamily="34" charset="-120"/>
              </a:rPr>
              <a:t>02</a:t>
            </a:r>
            <a:endParaRPr lang="en-US" sz="2700" dirty="0"/>
          </a:p>
        </p:txBody>
      </p:sp>
      <p:sp>
        <p:nvSpPr>
          <p:cNvPr id="15" name="Text 10"/>
          <p:cNvSpPr/>
          <p:nvPr/>
        </p:nvSpPr>
        <p:spPr>
          <a:xfrm>
            <a:off x="6880175" y="8140006"/>
            <a:ext cx="4990728" cy="361950"/>
          </a:xfrm>
          <a:prstGeom prst="rect">
            <a:avLst/>
          </a:prstGeom>
          <a:noFill/>
          <a:ln/>
        </p:spPr>
        <p:txBody>
          <a:bodyPr wrap="square" lIns="25400" tIns="25400" rIns="25400" bIns="25400" rtlCol="0" anchor="t">
            <a:normAutofit/>
          </a:bodyPr>
          <a:lstStyle/>
          <a:p>
            <a:pPr marL="0" indent="0" algn="l">
              <a:buNone/>
            </a:pPr>
            <a:r>
              <a:rPr lang="en-US" sz="2025" dirty="0">
                <a:solidFill>
                  <a:srgbClr val="0E3145"/>
                </a:solidFill>
                <a:latin typeface="Euclid Circular A" pitchFamily="34" charset="0"/>
                <a:ea typeface="Euclid Circular A" pitchFamily="34" charset="-122"/>
                <a:cs typeface="Euclid Circular A" pitchFamily="34" charset="-120"/>
              </a:rPr>
              <a:t>Intitulé de la partie</a:t>
            </a:r>
            <a:endParaRPr lang="en-US" sz="2025" dirty="0"/>
          </a:p>
        </p:txBody>
      </p:sp>
      <p:sp>
        <p:nvSpPr>
          <p:cNvPr id="16" name="Shape 11"/>
          <p:cNvSpPr/>
          <p:nvPr/>
        </p:nvSpPr>
        <p:spPr>
          <a:xfrm>
            <a:off x="11836301" y="7625656"/>
            <a:ext cx="9525" cy="838200"/>
          </a:xfrm>
          <a:prstGeom prst="rect">
            <a:avLst/>
          </a:prstGeom>
          <a:solidFill>
            <a:srgbClr val="0E3145">
              <a:alpha val="12000"/>
            </a:srgbClr>
          </a:solidFill>
          <a:ln/>
        </p:spPr>
        <p:txBody>
          <a:bodyPr/>
          <a:lstStyle/>
          <a:p>
            <a:endParaRPr lang="fr-FR"/>
          </a:p>
        </p:txBody>
      </p:sp>
      <p:sp>
        <p:nvSpPr>
          <p:cNvPr id="17" name="Text 12"/>
          <p:cNvSpPr/>
          <p:nvPr/>
        </p:nvSpPr>
        <p:spPr>
          <a:xfrm>
            <a:off x="12264926" y="7625656"/>
            <a:ext cx="4990728" cy="476250"/>
          </a:xfrm>
          <a:prstGeom prst="rect">
            <a:avLst/>
          </a:prstGeom>
          <a:noFill/>
          <a:ln/>
        </p:spPr>
        <p:txBody>
          <a:bodyPr wrap="square" lIns="25400" tIns="25400" rIns="25400" bIns="25400" rtlCol="0" anchor="t">
            <a:normAutofit/>
          </a:bodyPr>
          <a:lstStyle/>
          <a:p>
            <a:pPr marL="0" indent="0" algn="l">
              <a:buNone/>
            </a:pPr>
            <a:r>
              <a:rPr lang="en-US" sz="2700" kern="0" spc="-54" dirty="0">
                <a:solidFill>
                  <a:srgbClr val="DC216E"/>
                </a:solidFill>
                <a:latin typeface="Euclid Circular A" pitchFamily="34" charset="0"/>
                <a:ea typeface="Euclid Circular A" pitchFamily="34" charset="-122"/>
                <a:cs typeface="Euclid Circular A" pitchFamily="34" charset="-120"/>
              </a:rPr>
              <a:t>03</a:t>
            </a:r>
            <a:endParaRPr lang="en-US" sz="2700" dirty="0"/>
          </a:p>
        </p:txBody>
      </p:sp>
      <p:sp>
        <p:nvSpPr>
          <p:cNvPr id="18" name="Text 13"/>
          <p:cNvSpPr/>
          <p:nvPr/>
        </p:nvSpPr>
        <p:spPr>
          <a:xfrm>
            <a:off x="12264926" y="8140006"/>
            <a:ext cx="4990728" cy="361950"/>
          </a:xfrm>
          <a:prstGeom prst="rect">
            <a:avLst/>
          </a:prstGeom>
          <a:noFill/>
          <a:ln/>
        </p:spPr>
        <p:txBody>
          <a:bodyPr wrap="square" lIns="25400" tIns="25400" rIns="25400" bIns="25400" rtlCol="0" anchor="t">
            <a:normAutofit/>
          </a:bodyPr>
          <a:lstStyle/>
          <a:p>
            <a:pPr marL="0" indent="0" algn="l">
              <a:buNone/>
            </a:pPr>
            <a:r>
              <a:rPr lang="en-US" sz="2025" dirty="0">
                <a:solidFill>
                  <a:srgbClr val="0E3145"/>
                </a:solidFill>
                <a:latin typeface="Euclid Circular A" pitchFamily="34" charset="0"/>
                <a:ea typeface="Euclid Circular A" pitchFamily="34" charset="-122"/>
                <a:cs typeface="Euclid Circular A" pitchFamily="34" charset="-120"/>
              </a:rPr>
              <a:t>Intitulé de la partie</a:t>
            </a:r>
            <a:endParaRPr lang="en-US" sz="2025" dirty="0"/>
          </a:p>
        </p:txBody>
      </p:sp>
      <p:pic>
        <p:nvPicPr>
          <p:cNvPr id="3" name="Image 1" descr="preencoded.png">
            <a:extLst>
              <a:ext uri="{FF2B5EF4-FFF2-40B4-BE49-F238E27FC236}">
                <a16:creationId xmlns:a16="http://schemas.microsoft.com/office/drawing/2014/main" id="{F4001478-8629-FEB5-2602-71D265C15151}"/>
              </a:ext>
            </a:extLst>
          </p:cNvPr>
          <p:cNvPicPr>
            <a:picLocks noChangeAspect="1"/>
          </p:cNvPicPr>
          <p:nvPr/>
        </p:nvPicPr>
        <p:blipFill>
          <a:blip r:embed="rId4">
            <a:alphaModFix amt="95000"/>
          </a:blip>
          <a:stretch>
            <a:fillRect/>
          </a:stretch>
        </p:blipFill>
        <p:spPr>
          <a:xfrm>
            <a:off x="13639800" y="2857500"/>
            <a:ext cx="3429000" cy="269185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95000"/>
          </a:blip>
          <a:stretch>
            <a:fillRect/>
          </a:stretch>
        </p:blipFill>
        <p:spPr>
          <a:xfrm>
            <a:off x="8429625" y="914400"/>
            <a:ext cx="1428750" cy="1121569"/>
          </a:xfrm>
          <a:prstGeom prst="rect">
            <a:avLst/>
          </a:prstGeom>
        </p:spPr>
      </p:pic>
      <p:sp>
        <p:nvSpPr>
          <p:cNvPr id="3" name="Text 0"/>
          <p:cNvSpPr/>
          <p:nvPr/>
        </p:nvSpPr>
        <p:spPr>
          <a:xfrm>
            <a:off x="6207688" y="3103364"/>
            <a:ext cx="5872475" cy="323850"/>
          </a:xfrm>
          <a:prstGeom prst="rect">
            <a:avLst/>
          </a:prstGeom>
          <a:noFill/>
          <a:ln/>
        </p:spPr>
        <p:txBody>
          <a:bodyPr wrap="square" lIns="25400" tIns="25400" rIns="25400" bIns="25400" rtlCol="0" anchor="t">
            <a:normAutofit lnSpcReduction="10000"/>
          </a:bodyPr>
          <a:lstStyle/>
          <a:p>
            <a:pPr marL="0" indent="0" algn="ctr">
              <a:buNone/>
            </a:pPr>
            <a:r>
              <a:rPr lang="en-US" sz="1800" b="1" kern="0" spc="540" dirty="0">
                <a:solidFill>
                  <a:srgbClr val="DC216E"/>
                </a:solidFill>
                <a:latin typeface="Euclid Circular A" pitchFamily="34" charset="0"/>
                <a:ea typeface="Euclid Circular A" pitchFamily="34" charset="-122"/>
                <a:cs typeface="Euclid Circular A" pitchFamily="34" charset="-120"/>
              </a:rPr>
              <a:t>SURTITRE DE LA PRÉSENTATION</a:t>
            </a:r>
            <a:endParaRPr lang="en-US" sz="1800" dirty="0"/>
          </a:p>
        </p:txBody>
      </p:sp>
      <p:sp>
        <p:nvSpPr>
          <p:cNvPr id="4" name="Text 1"/>
          <p:cNvSpPr/>
          <p:nvPr/>
        </p:nvSpPr>
        <p:spPr>
          <a:xfrm>
            <a:off x="2865120" y="3712964"/>
            <a:ext cx="12557760" cy="2232422"/>
          </a:xfrm>
          <a:prstGeom prst="rect">
            <a:avLst/>
          </a:prstGeom>
          <a:noFill/>
          <a:ln/>
        </p:spPr>
        <p:txBody>
          <a:bodyPr wrap="square" lIns="25400" tIns="25400" rIns="25400" bIns="25400" rtlCol="0" anchor="t">
            <a:normAutofit fontScale="92500"/>
          </a:bodyPr>
          <a:lstStyle/>
          <a:p>
            <a:pPr marL="0" indent="0" algn="ctr">
              <a:lnSpc>
                <a:spcPct val="96000"/>
              </a:lnSpc>
              <a:buNone/>
            </a:pPr>
            <a:r>
              <a:rPr lang="en-US" sz="9000" kern="0" spc="-315" dirty="0">
                <a:solidFill>
                  <a:srgbClr val="0E3145"/>
                </a:solidFill>
                <a:latin typeface="Euclid Circular A" pitchFamily="34" charset="0"/>
                <a:ea typeface="Euclid Circular A" pitchFamily="34" charset="-122"/>
                <a:cs typeface="Euclid Circular A" pitchFamily="34" charset="-120"/>
              </a:rPr>
              <a:t>Un titre </a:t>
            </a:r>
            <a:r>
              <a:rPr lang="en-US" sz="9000" kern="0" spc="-315" dirty="0">
                <a:solidFill>
                  <a:srgbClr val="DC216E"/>
                </a:solidFill>
                <a:latin typeface="Euclid Circular A" pitchFamily="34" charset="0"/>
                <a:ea typeface="Euclid Circular A" pitchFamily="34" charset="-122"/>
                <a:cs typeface="Euclid Circular A" pitchFamily="34" charset="-120"/>
              </a:rPr>
              <a:t>clair </a:t>
            </a:r>
            <a:r>
              <a:rPr lang="en-US" sz="9000" kern="0" spc="-315" dirty="0">
                <a:solidFill>
                  <a:srgbClr val="0E3145"/>
                </a:solidFill>
                <a:latin typeface="Euclid Circular A" pitchFamily="34" charset="0"/>
                <a:ea typeface="Euclid Circular A" pitchFamily="34" charset="-122"/>
                <a:cs typeface="Euclid Circular A" pitchFamily="34" charset="-120"/>
              </a:rPr>
              <a:t>et marquant</a:t>
            </a:r>
            <a:endParaRPr lang="en-US" sz="9000" dirty="0"/>
          </a:p>
        </p:txBody>
      </p:sp>
      <p:sp>
        <p:nvSpPr>
          <p:cNvPr id="5" name="Shape 2"/>
          <p:cNvSpPr/>
          <p:nvPr/>
        </p:nvSpPr>
        <p:spPr>
          <a:xfrm>
            <a:off x="8839200" y="6345436"/>
            <a:ext cx="609600" cy="28575"/>
          </a:xfrm>
          <a:prstGeom prst="rect">
            <a:avLst/>
          </a:prstGeom>
          <a:solidFill>
            <a:srgbClr val="DC216E"/>
          </a:solidFill>
          <a:ln/>
        </p:spPr>
        <p:txBody>
          <a:bodyPr/>
          <a:lstStyle/>
          <a:p>
            <a:endParaRPr lang="fr-FR"/>
          </a:p>
        </p:txBody>
      </p:sp>
      <p:sp>
        <p:nvSpPr>
          <p:cNvPr id="6" name="Text 3"/>
          <p:cNvSpPr/>
          <p:nvPr/>
        </p:nvSpPr>
        <p:spPr>
          <a:xfrm>
            <a:off x="4527276" y="6812161"/>
            <a:ext cx="9233449" cy="981075"/>
          </a:xfrm>
          <a:prstGeom prst="rect">
            <a:avLst/>
          </a:prstGeom>
          <a:noFill/>
          <a:ln/>
        </p:spPr>
        <p:txBody>
          <a:bodyPr wrap="square" lIns="25400" tIns="25400" rIns="25400" bIns="25400" rtlCol="0" anchor="t">
            <a:normAutofit fontScale="92500" lnSpcReduction="20000"/>
          </a:bodyPr>
          <a:lstStyle/>
          <a:p>
            <a:pPr marL="0" indent="0" algn="ctr">
              <a:lnSpc>
                <a:spcPct val="150000"/>
              </a:lnSpc>
              <a:buNone/>
            </a:pPr>
            <a:r>
              <a:rPr lang="en-US" sz="2475" dirty="0">
                <a:solidFill>
                  <a:srgbClr val="0E3145">
                    <a:alpha val="66000"/>
                  </a:srgbClr>
                </a:solidFill>
                <a:latin typeface="Euclid Circular A" pitchFamily="34" charset="0"/>
                <a:ea typeface="Euclid Circular A" pitchFamily="34" charset="-122"/>
                <a:cs typeface="Euclid Circular A" pitchFamily="34" charset="-120"/>
              </a:rPr>
              <a:t>Sous-titre optionnel pour préciser le contexte, l'intervenant ou la date.</a:t>
            </a:r>
            <a:endParaRPr lang="en-US" sz="2475" dirty="0"/>
          </a:p>
        </p:txBody>
      </p:sp>
      <p:pic>
        <p:nvPicPr>
          <p:cNvPr id="7" name="Image 1" descr="preencoded.png"/>
          <p:cNvPicPr>
            <a:picLocks noChangeAspect="1"/>
          </p:cNvPicPr>
          <p:nvPr/>
        </p:nvPicPr>
        <p:blipFill>
          <a:blip r:embed="rId4">
            <a:alphaModFix amt="90000"/>
          </a:blip>
          <a:stretch>
            <a:fillRect/>
          </a:stretch>
        </p:blipFill>
        <p:spPr>
          <a:xfrm>
            <a:off x="8163866" y="8660011"/>
            <a:ext cx="1960267" cy="9221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 coins arrondis 20">
            <a:extLst>
              <a:ext uri="{FF2B5EF4-FFF2-40B4-BE49-F238E27FC236}">
                <a16:creationId xmlns:a16="http://schemas.microsoft.com/office/drawing/2014/main" id="{E3979529-4BC6-D5D1-FA25-34936807AC7D}"/>
              </a:ext>
            </a:extLst>
          </p:cNvPr>
          <p:cNvSpPr/>
          <p:nvPr/>
        </p:nvSpPr>
        <p:spPr>
          <a:xfrm>
            <a:off x="3841955" y="8592831"/>
            <a:ext cx="7778545" cy="503930"/>
          </a:xfrm>
          <a:prstGeom prst="roundRect">
            <a:avLst/>
          </a:prstGeom>
          <a:solidFill>
            <a:schemeClr val="accent6"/>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Rectangle : coins arrondis 21">
            <a:extLst>
              <a:ext uri="{FF2B5EF4-FFF2-40B4-BE49-F238E27FC236}">
                <a16:creationId xmlns:a16="http://schemas.microsoft.com/office/drawing/2014/main" id="{07F2E6B2-5675-46CE-2924-847C05F5034E}"/>
              </a:ext>
            </a:extLst>
          </p:cNvPr>
          <p:cNvSpPr/>
          <p:nvPr/>
        </p:nvSpPr>
        <p:spPr>
          <a:xfrm>
            <a:off x="3841955" y="9212263"/>
            <a:ext cx="7778545" cy="503930"/>
          </a:xfrm>
          <a:prstGeom prst="roundRect">
            <a:avLst/>
          </a:prstGeom>
          <a:solidFill>
            <a:schemeClr val="accent6"/>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3" name="Rectangle : coins arrondis 22">
            <a:extLst>
              <a:ext uri="{FF2B5EF4-FFF2-40B4-BE49-F238E27FC236}">
                <a16:creationId xmlns:a16="http://schemas.microsoft.com/office/drawing/2014/main" id="{66A3A699-4EA4-531B-9654-3A353F7FEB07}"/>
              </a:ext>
            </a:extLst>
          </p:cNvPr>
          <p:cNvSpPr/>
          <p:nvPr/>
        </p:nvSpPr>
        <p:spPr>
          <a:xfrm>
            <a:off x="3841955" y="7958651"/>
            <a:ext cx="7778545" cy="503930"/>
          </a:xfrm>
          <a:prstGeom prst="roundRect">
            <a:avLst/>
          </a:prstGeom>
          <a:solidFill>
            <a:schemeClr val="accent6"/>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Shape 0">
            <a:extLst>
              <a:ext uri="{FF2B5EF4-FFF2-40B4-BE49-F238E27FC236}">
                <a16:creationId xmlns:a16="http://schemas.microsoft.com/office/drawing/2014/main" id="{C0B08ECA-B279-B148-7DD9-7B9C05E441C3}"/>
              </a:ext>
            </a:extLst>
          </p:cNvPr>
          <p:cNvSpPr/>
          <p:nvPr/>
        </p:nvSpPr>
        <p:spPr>
          <a:xfrm>
            <a:off x="0" y="0"/>
            <a:ext cx="3270455" cy="10287000"/>
          </a:xfrm>
          <a:prstGeom prst="rect">
            <a:avLst/>
          </a:prstGeom>
          <a:gradFill flip="none" rotWithShape="1">
            <a:gsLst>
              <a:gs pos="0">
                <a:schemeClr val="accent1"/>
              </a:gs>
              <a:gs pos="54600">
                <a:srgbClr val="103145"/>
              </a:gs>
              <a:gs pos="21000">
                <a:srgbClr val="3C304E"/>
              </a:gs>
              <a:gs pos="12000">
                <a:srgbClr val="692F57"/>
              </a:gs>
              <a:gs pos="31000">
                <a:schemeClr val="accent2"/>
              </a:gs>
            </a:gsLst>
            <a:lin ang="7800000" scaled="0"/>
            <a:tileRect/>
          </a:gra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447675" y="720328"/>
            <a:ext cx="2286000" cy="1235869"/>
          </a:xfrm>
          <a:prstGeom prst="rect">
            <a:avLst/>
          </a:prstGeom>
        </p:spPr>
      </p:pic>
      <p:sp>
        <p:nvSpPr>
          <p:cNvPr id="4" name="Text 1"/>
          <p:cNvSpPr/>
          <p:nvPr/>
        </p:nvSpPr>
        <p:spPr>
          <a:xfrm>
            <a:off x="216565" y="8124825"/>
            <a:ext cx="2894171" cy="381000"/>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800" dirty="0">
                <a:solidFill>
                  <a:srgbClr val="FFFFFF"/>
                </a:solidFill>
                <a:latin typeface="Euclid Circular A" panose="020B0504000000000000" pitchFamily="34" charset="0"/>
                <a:ea typeface="Euclid Circular A" panose="020B0504000000000000" pitchFamily="34" charset="0"/>
                <a:cs typeface="Arial" pitchFamily="34" charset="-120"/>
              </a:rPr>
              <a:t>USAGE INTERNE</a:t>
            </a:r>
            <a:endParaRPr lang="en-US" sz="1800" dirty="0"/>
          </a:p>
        </p:txBody>
      </p:sp>
      <p:sp>
        <p:nvSpPr>
          <p:cNvPr id="5" name="Text 2"/>
          <p:cNvSpPr/>
          <p:nvPr/>
        </p:nvSpPr>
        <p:spPr>
          <a:xfrm>
            <a:off x="216565" y="8553450"/>
            <a:ext cx="2894171" cy="381000"/>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800" dirty="0">
                <a:solidFill>
                  <a:srgbClr val="F4A6C4"/>
                </a:solidFill>
                <a:latin typeface="Euclid Circular A" panose="020B0504000000000000" pitchFamily="34" charset="0"/>
                <a:ea typeface="Euclid Circular A" panose="020B0504000000000000" pitchFamily="34" charset="0"/>
                <a:cs typeface="Arial" pitchFamily="34" charset="-120"/>
              </a:rPr>
              <a:t>STELLIUM PLACEMENT</a:t>
            </a:r>
            <a:endParaRPr lang="en-US" sz="1800" dirty="0"/>
          </a:p>
        </p:txBody>
      </p:sp>
      <p:sp>
        <p:nvSpPr>
          <p:cNvPr id="6" name="Text 3"/>
          <p:cNvSpPr/>
          <p:nvPr/>
        </p:nvSpPr>
        <p:spPr>
          <a:xfrm>
            <a:off x="216565" y="8982075"/>
            <a:ext cx="2894171" cy="381000"/>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800" dirty="0">
                <a:solidFill>
                  <a:srgbClr val="F4A6C4"/>
                </a:solidFill>
                <a:latin typeface="Euclid Circular A" panose="020B0504000000000000" pitchFamily="34" charset="0"/>
                <a:ea typeface="Euclid Circular A" panose="020B0504000000000000" pitchFamily="34" charset="0"/>
                <a:cs typeface="Arial" pitchFamily="34" charset="-120"/>
              </a:rPr>
              <a:t>DATE EVENEMENT</a:t>
            </a:r>
            <a:endParaRPr lang="en-US" sz="1800" dirty="0"/>
          </a:p>
        </p:txBody>
      </p:sp>
      <p:sp>
        <p:nvSpPr>
          <p:cNvPr id="7" name="Text 4"/>
          <p:cNvSpPr/>
          <p:nvPr/>
        </p:nvSpPr>
        <p:spPr>
          <a:xfrm>
            <a:off x="216565" y="9410700"/>
            <a:ext cx="2894171" cy="381000"/>
          </a:xfrm>
          <a:prstGeom prst="rect">
            <a:avLst/>
          </a:prstGeom>
          <a:noFill/>
          <a:ln/>
        </p:spPr>
        <p:txBody>
          <a:bodyPr wrap="none" lIns="25400" tIns="25400" rIns="25400" bIns="25400" rtlCol="0" anchor="t">
            <a:normAutofit fontScale="92500" lnSpcReduction="10000"/>
          </a:bodyPr>
          <a:lstStyle/>
          <a:p>
            <a:pPr marL="0" indent="0" algn="l">
              <a:lnSpc>
                <a:spcPct val="150000"/>
              </a:lnSpc>
              <a:buNone/>
            </a:pPr>
            <a:r>
              <a:rPr lang="en-US" sz="1800" dirty="0">
                <a:solidFill>
                  <a:srgbClr val="F4A6C4"/>
                </a:solidFill>
                <a:latin typeface="Euclid Circular A" panose="020B0504000000000000" pitchFamily="34" charset="0"/>
                <a:ea typeface="Euclid Circular A" panose="020B0504000000000000" pitchFamily="34" charset="0"/>
                <a:cs typeface="Arial" pitchFamily="34" charset="-120"/>
              </a:rPr>
              <a:t>ÉVÈNEMENT </a:t>
            </a:r>
            <a:endParaRPr lang="en-US" sz="1800" dirty="0"/>
          </a:p>
        </p:txBody>
      </p:sp>
      <p:pic>
        <p:nvPicPr>
          <p:cNvPr id="8" name="Image 1" descr="preencoded.png"/>
          <p:cNvPicPr>
            <a:picLocks noChangeAspect="1"/>
          </p:cNvPicPr>
          <p:nvPr/>
        </p:nvPicPr>
        <p:blipFill>
          <a:blip r:embed="rId4">
            <a:alphaModFix amt="95000"/>
          </a:blip>
          <a:stretch>
            <a:fillRect/>
          </a:stretch>
        </p:blipFill>
        <p:spPr>
          <a:xfrm>
            <a:off x="13639800" y="2857500"/>
            <a:ext cx="3429000" cy="2691854"/>
          </a:xfrm>
          <a:prstGeom prst="rect">
            <a:avLst/>
          </a:prstGeom>
        </p:spPr>
      </p:pic>
      <p:sp>
        <p:nvSpPr>
          <p:cNvPr id="9" name="Text 5"/>
          <p:cNvSpPr/>
          <p:nvPr/>
        </p:nvSpPr>
        <p:spPr>
          <a:xfrm>
            <a:off x="3838575" y="914400"/>
            <a:ext cx="13941076" cy="4238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025" kern="0" spc="324" dirty="0">
                <a:solidFill>
                  <a:srgbClr val="DC216E"/>
                </a:solidFill>
                <a:latin typeface="Euclid Circular A" panose="020B0504000000000000" pitchFamily="34" charset="0"/>
                <a:ea typeface="Euclid Circular A" panose="020B0504000000000000" pitchFamily="34" charset="0"/>
                <a:cs typeface="Arial" pitchFamily="34" charset="-120"/>
              </a:rPr>
              <a:t>STELLIUM PLACEMENT — FORMATION</a:t>
            </a:r>
            <a:endParaRPr lang="en-US" sz="2025" dirty="0"/>
          </a:p>
        </p:txBody>
      </p:sp>
      <p:sp>
        <p:nvSpPr>
          <p:cNvPr id="10" name="Text 6"/>
          <p:cNvSpPr/>
          <p:nvPr/>
        </p:nvSpPr>
        <p:spPr>
          <a:xfrm>
            <a:off x="3838575" y="1662113"/>
            <a:ext cx="9013627" cy="2195810"/>
          </a:xfrm>
          <a:prstGeom prst="rect">
            <a:avLst/>
          </a:prstGeom>
          <a:noFill/>
          <a:ln/>
        </p:spPr>
        <p:txBody>
          <a:bodyPr wrap="square" lIns="25400" tIns="25400" rIns="25400" bIns="25400" rtlCol="0" anchor="t">
            <a:normAutofit fontScale="92500" lnSpcReduction="20000"/>
          </a:bodyPr>
          <a:lstStyle/>
          <a:p>
            <a:pPr>
              <a:lnSpc>
                <a:spcPct val="94000"/>
              </a:lnSpc>
            </a:pPr>
            <a:r>
              <a:rPr lang="en-US" sz="9600" kern="0" spc="-420" dirty="0" err="1">
                <a:solidFill>
                  <a:srgbClr val="0E3145"/>
                </a:solidFill>
                <a:latin typeface="Euclid Circular A" pitchFamily="34" charset="0"/>
                <a:ea typeface="Euclid Circular A" pitchFamily="34" charset="-122"/>
                <a:cs typeface="Euclid Circular A" pitchFamily="34" charset="-120"/>
              </a:rPr>
              <a:t>Intitulé</a:t>
            </a:r>
            <a:r>
              <a:rPr lang="en-US" sz="9600" kern="0" spc="-420" dirty="0">
                <a:solidFill>
                  <a:srgbClr val="0E3145"/>
                </a:solidFill>
                <a:latin typeface="Euclid Circular A" pitchFamily="34" charset="0"/>
                <a:ea typeface="Euclid Circular A" pitchFamily="34" charset="-122"/>
                <a:cs typeface="Euclid Circular A" pitchFamily="34" charset="-120"/>
              </a:rPr>
              <a:t> de la </a:t>
            </a:r>
            <a:r>
              <a:rPr lang="en-US" sz="9600" kern="0" spc="-420" dirty="0" err="1">
                <a:solidFill>
                  <a:srgbClr val="DC216E"/>
                </a:solidFill>
                <a:latin typeface="Euclid Circular A" pitchFamily="34" charset="0"/>
                <a:ea typeface="Euclid Circular A" pitchFamily="34" charset="-122"/>
                <a:cs typeface="Euclid Circular A" pitchFamily="34" charset="-120"/>
              </a:rPr>
              <a:t>présentation</a:t>
            </a:r>
            <a:endParaRPr lang="en-US" sz="9600" dirty="0"/>
          </a:p>
        </p:txBody>
      </p:sp>
      <p:sp>
        <p:nvSpPr>
          <p:cNvPr id="11" name="Text 7"/>
          <p:cNvSpPr/>
          <p:nvPr/>
        </p:nvSpPr>
        <p:spPr>
          <a:xfrm>
            <a:off x="3838575" y="4315123"/>
            <a:ext cx="7627520" cy="2622500"/>
          </a:xfrm>
          <a:prstGeom prst="rect">
            <a:avLst/>
          </a:prstGeom>
          <a:noFill/>
          <a:ln/>
        </p:spPr>
        <p:txBody>
          <a:bodyPr wrap="square" lIns="25400" tIns="25400" rIns="25400" bIns="25400" rtlCol="0" anchor="t">
            <a:normAutofit/>
          </a:bodyPr>
          <a:lstStyle/>
          <a:p>
            <a:pPr marL="0" indent="0" algn="l">
              <a:lnSpc>
                <a:spcPct val="118000"/>
              </a:lnSpc>
              <a:buNone/>
            </a:pPr>
            <a:r>
              <a:rPr lang="en-US" sz="3450" dirty="0">
                <a:solidFill>
                  <a:schemeClr val="accent3"/>
                </a:solidFill>
                <a:latin typeface="Euclid Circular A" panose="020B0504000000000000" pitchFamily="34" charset="0"/>
                <a:ea typeface="Euclid Circular A" panose="020B0504000000000000" pitchFamily="34" charset="0"/>
                <a:cs typeface="Arial" pitchFamily="34" charset="-120"/>
              </a:rPr>
              <a:t>Comprendre la prévoyance, ses garanties et ses usages professionnels pour mieux conseiller.</a:t>
            </a:r>
            <a:endParaRPr lang="en-US" sz="3450" dirty="0">
              <a:solidFill>
                <a:schemeClr val="accent3"/>
              </a:solidFill>
            </a:endParaRPr>
          </a:p>
        </p:txBody>
      </p:sp>
      <p:sp>
        <p:nvSpPr>
          <p:cNvPr id="12" name="Shape 8"/>
          <p:cNvSpPr/>
          <p:nvPr/>
        </p:nvSpPr>
        <p:spPr>
          <a:xfrm>
            <a:off x="3838575" y="7572375"/>
            <a:ext cx="10668000" cy="9525"/>
          </a:xfrm>
          <a:prstGeom prst="rect">
            <a:avLst/>
          </a:prstGeom>
          <a:solidFill>
            <a:schemeClr val="accent3">
              <a:lumMod val="20000"/>
              <a:lumOff val="80000"/>
            </a:schemeClr>
          </a:solidFill>
          <a:ln/>
        </p:spPr>
        <p:txBody>
          <a:bodyPr/>
          <a:lstStyle/>
          <a:p>
            <a:endParaRPr lang="fr-FR"/>
          </a:p>
        </p:txBody>
      </p:sp>
      <p:sp>
        <p:nvSpPr>
          <p:cNvPr id="13" name="Text 9"/>
          <p:cNvSpPr/>
          <p:nvPr/>
        </p:nvSpPr>
        <p:spPr>
          <a:xfrm>
            <a:off x="3994990" y="7991475"/>
            <a:ext cx="400050" cy="4095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DC216E"/>
                </a:solidFill>
                <a:latin typeface="Euclid Circular A" panose="020B0504000000000000" pitchFamily="34" charset="0"/>
                <a:ea typeface="Euclid Circular A" panose="020B0504000000000000" pitchFamily="34" charset="0"/>
                <a:cs typeface="Arial" pitchFamily="34" charset="-120"/>
              </a:rPr>
              <a:t>01</a:t>
            </a:r>
            <a:endParaRPr lang="en-US" sz="1950" dirty="0"/>
          </a:p>
        </p:txBody>
      </p:sp>
      <p:sp>
        <p:nvSpPr>
          <p:cNvPr id="14" name="Text 10"/>
          <p:cNvSpPr/>
          <p:nvPr/>
        </p:nvSpPr>
        <p:spPr>
          <a:xfrm>
            <a:off x="4642690" y="7962900"/>
            <a:ext cx="2532906" cy="4524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75" dirty="0" err="1">
                <a:solidFill>
                  <a:srgbClr val="0E3145"/>
                </a:solidFill>
                <a:latin typeface="Euclid Circular A" panose="020B0504000000000000" pitchFamily="34" charset="0"/>
                <a:ea typeface="Euclid Circular A" panose="020B0504000000000000" pitchFamily="34" charset="0"/>
                <a:cs typeface="Arial" pitchFamily="34" charset="-120"/>
              </a:rPr>
              <a:t>Partie</a:t>
            </a:r>
            <a:r>
              <a:rPr lang="en-US" sz="2175" dirty="0">
                <a:solidFill>
                  <a:srgbClr val="0E3145"/>
                </a:solidFill>
                <a:latin typeface="Euclid Circular A" panose="020B0504000000000000" pitchFamily="34" charset="0"/>
                <a:ea typeface="Euclid Circular A" panose="020B0504000000000000" pitchFamily="34" charset="0"/>
                <a:cs typeface="Arial" pitchFamily="34" charset="-120"/>
              </a:rPr>
              <a:t> 1</a:t>
            </a:r>
            <a:endParaRPr lang="en-US" sz="2175" dirty="0"/>
          </a:p>
        </p:txBody>
      </p:sp>
      <p:sp>
        <p:nvSpPr>
          <p:cNvPr id="15" name="Text 11"/>
          <p:cNvSpPr/>
          <p:nvPr/>
        </p:nvSpPr>
        <p:spPr>
          <a:xfrm>
            <a:off x="3994990" y="8577263"/>
            <a:ext cx="400050" cy="4095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DC216E"/>
                </a:solidFill>
                <a:latin typeface="Euclid Circular A" panose="020B0504000000000000" pitchFamily="34" charset="0"/>
                <a:ea typeface="Euclid Circular A" panose="020B0504000000000000" pitchFamily="34" charset="0"/>
                <a:cs typeface="Arial" pitchFamily="34" charset="-120"/>
              </a:rPr>
              <a:t>02</a:t>
            </a:r>
            <a:endParaRPr lang="en-US" sz="1950" dirty="0"/>
          </a:p>
        </p:txBody>
      </p:sp>
      <p:sp>
        <p:nvSpPr>
          <p:cNvPr id="16" name="Text 12"/>
          <p:cNvSpPr/>
          <p:nvPr/>
        </p:nvSpPr>
        <p:spPr>
          <a:xfrm>
            <a:off x="4642690" y="8548688"/>
            <a:ext cx="3495386" cy="4524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75" dirty="0" err="1">
                <a:solidFill>
                  <a:srgbClr val="0E3145"/>
                </a:solidFill>
                <a:latin typeface="Euclid Circular A" panose="020B0504000000000000" pitchFamily="34" charset="0"/>
                <a:ea typeface="Euclid Circular A" panose="020B0504000000000000" pitchFamily="34" charset="0"/>
                <a:cs typeface="Arial" pitchFamily="34" charset="-120"/>
              </a:rPr>
              <a:t>Partie</a:t>
            </a:r>
            <a:r>
              <a:rPr lang="en-US" sz="2175" dirty="0">
                <a:solidFill>
                  <a:srgbClr val="0E3145"/>
                </a:solidFill>
                <a:latin typeface="Euclid Circular A" panose="020B0504000000000000" pitchFamily="34" charset="0"/>
                <a:ea typeface="Euclid Circular A" panose="020B0504000000000000" pitchFamily="34" charset="0"/>
                <a:cs typeface="Arial" pitchFamily="34" charset="-120"/>
              </a:rPr>
              <a:t> 2</a:t>
            </a:r>
            <a:endParaRPr lang="en-US" sz="2175" dirty="0"/>
          </a:p>
        </p:txBody>
      </p:sp>
      <p:sp>
        <p:nvSpPr>
          <p:cNvPr id="17" name="Text 13"/>
          <p:cNvSpPr/>
          <p:nvPr/>
        </p:nvSpPr>
        <p:spPr>
          <a:xfrm>
            <a:off x="3994990" y="9211178"/>
            <a:ext cx="400050" cy="4095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dirty="0">
                <a:solidFill>
                  <a:srgbClr val="DC216E"/>
                </a:solidFill>
                <a:latin typeface="Euclid Circular A" panose="020B0504000000000000" pitchFamily="34" charset="0"/>
                <a:ea typeface="Euclid Circular A" panose="020B0504000000000000" pitchFamily="34" charset="0"/>
                <a:cs typeface="Arial" pitchFamily="34" charset="-120"/>
              </a:rPr>
              <a:t>03</a:t>
            </a:r>
            <a:endParaRPr lang="en-US" sz="1950" dirty="0"/>
          </a:p>
        </p:txBody>
      </p:sp>
      <p:sp>
        <p:nvSpPr>
          <p:cNvPr id="18" name="Text 14"/>
          <p:cNvSpPr/>
          <p:nvPr/>
        </p:nvSpPr>
        <p:spPr>
          <a:xfrm>
            <a:off x="4642690" y="9182603"/>
            <a:ext cx="4258939" cy="452438"/>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175" dirty="0" err="1">
                <a:solidFill>
                  <a:srgbClr val="0E3145"/>
                </a:solidFill>
                <a:latin typeface="Euclid Circular A" panose="020B0504000000000000" pitchFamily="34" charset="0"/>
                <a:ea typeface="Euclid Circular A" panose="020B0504000000000000" pitchFamily="34" charset="0"/>
                <a:cs typeface="Arial" pitchFamily="34" charset="-120"/>
              </a:rPr>
              <a:t>Partie</a:t>
            </a:r>
            <a:r>
              <a:rPr lang="en-US" sz="2175" dirty="0">
                <a:solidFill>
                  <a:srgbClr val="0E3145"/>
                </a:solidFill>
                <a:latin typeface="Euclid Circular A" panose="020B0504000000000000" pitchFamily="34" charset="0"/>
                <a:ea typeface="Euclid Circular A" panose="020B0504000000000000" pitchFamily="34" charset="0"/>
                <a:cs typeface="Arial" pitchFamily="34" charset="-120"/>
              </a:rPr>
              <a:t> 3</a:t>
            </a:r>
            <a:endParaRPr lang="en-US" sz="21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E3145"/>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FB502608-E03C-4B09-38CA-FD768CC75A50}"/>
              </a:ext>
            </a:extLst>
          </p:cNvPr>
          <p:cNvPicPr>
            <a:picLocks noChangeAspect="1"/>
          </p:cNvPicPr>
          <p:nvPr/>
        </p:nvPicPr>
        <p:blipFill>
          <a:blip r:embed="rId3"/>
          <a:stretch>
            <a:fillRect/>
          </a:stretch>
        </p:blipFill>
        <p:spPr>
          <a:xfrm>
            <a:off x="0" y="0"/>
            <a:ext cx="18288000" cy="10287000"/>
          </a:xfrm>
          <a:prstGeom prst="rect">
            <a:avLst/>
          </a:prstGeom>
        </p:spPr>
      </p:pic>
      <p:sp>
        <p:nvSpPr>
          <p:cNvPr id="6" name="Shape 4"/>
          <p:cNvSpPr/>
          <p:nvPr/>
        </p:nvSpPr>
        <p:spPr>
          <a:xfrm>
            <a:off x="0" y="0"/>
            <a:ext cx="18288000" cy="10287000"/>
          </a:xfrm>
          <a:prstGeom prst="rect">
            <a:avLst/>
          </a:prstGeom>
          <a:gradFill rotWithShape="1">
            <a:gsLst>
              <a:gs pos="0">
                <a:srgbClr val="071E2C">
                  <a:alpha val="86000"/>
                </a:srgbClr>
              </a:gs>
              <a:gs pos="46000">
                <a:srgbClr val="071E2C">
                  <a:alpha val="50000"/>
                </a:srgbClr>
              </a:gs>
              <a:gs pos="72000">
                <a:srgbClr val="071E2C">
                  <a:alpha val="0"/>
                </a:srgbClr>
              </a:gs>
            </a:gsLst>
            <a:lin ang="0" scaled="0"/>
          </a:gradFill>
          <a:ln/>
        </p:spPr>
        <p:txBody>
          <a:bodyPr/>
          <a:lstStyle/>
          <a:p>
            <a:endParaRPr lang="fr-FR"/>
          </a:p>
        </p:txBody>
      </p:sp>
      <p:pic>
        <p:nvPicPr>
          <p:cNvPr id="7" name="Image 0" descr="preencoded.png"/>
          <p:cNvPicPr>
            <a:picLocks noChangeAspect="1"/>
          </p:cNvPicPr>
          <p:nvPr/>
        </p:nvPicPr>
        <p:blipFill>
          <a:blip r:embed="rId4"/>
          <a:stretch>
            <a:fillRect/>
          </a:stretch>
        </p:blipFill>
        <p:spPr>
          <a:xfrm>
            <a:off x="594852" y="1043554"/>
            <a:ext cx="2472813" cy="1337139"/>
          </a:xfrm>
          <a:prstGeom prst="rect">
            <a:avLst/>
          </a:prstGeom>
        </p:spPr>
      </p:pic>
      <p:sp>
        <p:nvSpPr>
          <p:cNvPr id="8" name="Text 5"/>
          <p:cNvSpPr/>
          <p:nvPr/>
        </p:nvSpPr>
        <p:spPr>
          <a:xfrm>
            <a:off x="1066800" y="6722864"/>
            <a:ext cx="1022604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468" dirty="0">
                <a:solidFill>
                  <a:srgbClr val="F4A6C4"/>
                </a:solidFill>
                <a:latin typeface="Euclid Circular A" pitchFamily="34" charset="0"/>
                <a:ea typeface="Euclid Circular A" pitchFamily="34" charset="-122"/>
                <a:cs typeface="Euclid Circular A" pitchFamily="34" charset="-120"/>
              </a:rPr>
              <a:t>SURTITRE</a:t>
            </a:r>
            <a:endParaRPr lang="en-US" sz="1800" dirty="0"/>
          </a:p>
        </p:txBody>
      </p:sp>
      <p:sp>
        <p:nvSpPr>
          <p:cNvPr id="9" name="Text 6"/>
          <p:cNvSpPr/>
          <p:nvPr/>
        </p:nvSpPr>
        <p:spPr>
          <a:xfrm>
            <a:off x="1066800" y="7237214"/>
            <a:ext cx="9575292" cy="2173486"/>
          </a:xfrm>
          <a:prstGeom prst="rect">
            <a:avLst/>
          </a:prstGeom>
          <a:noFill/>
          <a:ln/>
        </p:spPr>
        <p:txBody>
          <a:bodyPr wrap="square" lIns="25400" tIns="25400" rIns="25400" bIns="25400" rtlCol="0" anchor="t">
            <a:normAutofit fontScale="92500" lnSpcReduction="20000"/>
          </a:bodyPr>
          <a:lstStyle/>
          <a:p>
            <a:pPr marL="0" indent="0" algn="l">
              <a:lnSpc>
                <a:spcPct val="95000"/>
              </a:lnSpc>
              <a:buNone/>
            </a:pPr>
            <a:r>
              <a:rPr lang="en-US" sz="8850" kern="0" spc="-310" dirty="0">
                <a:solidFill>
                  <a:srgbClr val="FFFFFF"/>
                </a:solidFill>
                <a:latin typeface="Euclid Circular A" pitchFamily="34" charset="0"/>
                <a:ea typeface="Euclid Circular A" pitchFamily="34" charset="-122"/>
                <a:cs typeface="Euclid Circular A" pitchFamily="34" charset="-120"/>
              </a:rPr>
              <a:t>Titre sur visuel plein cadre</a:t>
            </a:r>
            <a:endParaRPr lang="en-US" sz="8850" dirty="0"/>
          </a:p>
        </p:txBody>
      </p:sp>
      <p:sp>
        <p:nvSpPr>
          <p:cNvPr id="10" name="Espace réservé du numéro de diapositive 9">
            <a:extLst>
              <a:ext uri="{FF2B5EF4-FFF2-40B4-BE49-F238E27FC236}">
                <a16:creationId xmlns:a16="http://schemas.microsoft.com/office/drawing/2014/main" id="{B6F2D08D-CA3F-0970-28C2-EC4F6C3A19F8}"/>
              </a:ext>
            </a:extLst>
          </p:cNvPr>
          <p:cNvSpPr>
            <a:spLocks noGrp="1"/>
          </p:cNvSpPr>
          <p:nvPr>
            <p:ph type="sldNum" sz="quarter" idx="4294967295"/>
          </p:nvPr>
        </p:nvSpPr>
        <p:spPr>
          <a:xfrm>
            <a:off x="12725400" y="9617869"/>
            <a:ext cx="4114800" cy="547688"/>
          </a:xfrm>
          <a:prstGeom prst="rect">
            <a:avLst/>
          </a:prstGeom>
        </p:spPr>
        <p:txBody>
          <a:bodyPr>
            <a:normAutofit/>
          </a:bodyPr>
          <a:lstStyle/>
          <a:p>
            <a:pPr>
              <a:lnSpc>
                <a:spcPct val="150000"/>
              </a:lnSpc>
            </a:pPr>
            <a:fld id="{57A1DD80-6697-4377-9F0E-F8F828F1F27E}" type="slidenum">
              <a:rPr lang="fr-FR" smtClean="0"/>
              <a:pPr>
                <a:lnSpc>
                  <a:spcPct val="150000"/>
                </a:lnSpc>
              </a:pPr>
              <a:t>4</a:t>
            </a:fld>
            <a:endParaRPr lang="fr-FR" kern="0" spc="72">
              <a:solidFill>
                <a:srgbClr val="0E3145"/>
              </a:solidFill>
              <a:latin typeface="Euclid Circular A" panose="020B0504000000000000" pitchFamily="34" charset="0"/>
              <a:ea typeface="Euclid Circular A" panose="020B0504000000000000" pitchFamily="34" charset="0"/>
              <a:cs typeface="Arial" pitchFamily="34" charset="-12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chemeClr val="bg1"/>
        </a:solidFill>
        <a:effectLst/>
      </p:bgPr>
    </p:bg>
    <p:spTree>
      <p:nvGrpSpPr>
        <p:cNvPr id="1" name=""/>
        <p:cNvGrpSpPr/>
        <p:nvPr/>
      </p:nvGrpSpPr>
      <p:grpSpPr>
        <a:xfrm>
          <a:off x="0" y="0"/>
          <a:ext cx="0" cy="0"/>
          <a:chOff x="0" y="0"/>
          <a:chExt cx="0" cy="0"/>
        </a:xfrm>
      </p:grpSpPr>
      <p:sp>
        <p:nvSpPr>
          <p:cNvPr id="3" name="Text 0"/>
          <p:cNvSpPr/>
          <p:nvPr/>
        </p:nvSpPr>
        <p:spPr>
          <a:xfrm>
            <a:off x="1066800" y="1009650"/>
            <a:ext cx="398145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SOMMAIRE</a:t>
            </a:r>
            <a:endParaRPr lang="en-US" sz="1800" dirty="0"/>
          </a:p>
        </p:txBody>
      </p:sp>
      <p:sp>
        <p:nvSpPr>
          <p:cNvPr id="4" name="Text 1"/>
          <p:cNvSpPr/>
          <p:nvPr/>
        </p:nvSpPr>
        <p:spPr>
          <a:xfrm>
            <a:off x="1066800" y="1466850"/>
            <a:ext cx="3728085" cy="1600200"/>
          </a:xfrm>
          <a:prstGeom prst="rect">
            <a:avLst/>
          </a:prstGeom>
          <a:noFill/>
          <a:ln/>
        </p:spPr>
        <p:txBody>
          <a:bodyPr wrap="square" lIns="25400" tIns="25400" rIns="25400" bIns="25400" rtlCol="0" anchor="t">
            <a:noAutofit/>
          </a:bodyPr>
          <a:lstStyle/>
          <a:p>
            <a:pPr marL="0" indent="0" algn="l">
              <a:lnSpc>
                <a:spcPct val="100000"/>
              </a:lnSpc>
              <a:buNone/>
            </a:pPr>
            <a:r>
              <a:rPr lang="en-US" sz="5400" kern="0" spc="-184" dirty="0">
                <a:solidFill>
                  <a:srgbClr val="0E3145"/>
                </a:solidFill>
                <a:latin typeface="Euclid Circular A" pitchFamily="34" charset="0"/>
                <a:ea typeface="Euclid Circular A" pitchFamily="34" charset="-122"/>
                <a:cs typeface="Euclid Circular A" pitchFamily="34" charset="-120"/>
              </a:rPr>
              <a:t>Au </a:t>
            </a:r>
            <a:r>
              <a:rPr lang="en-US" sz="5400" kern="0" spc="-184" dirty="0">
                <a:solidFill>
                  <a:srgbClr val="DC216E"/>
                </a:solidFill>
                <a:latin typeface="Euclid Circular A" pitchFamily="34" charset="0"/>
                <a:ea typeface="Euclid Circular A" pitchFamily="34" charset="-122"/>
                <a:cs typeface="Euclid Circular A" pitchFamily="34" charset="-120"/>
              </a:rPr>
              <a:t>programme</a:t>
            </a:r>
            <a:endParaRPr lang="en-US" sz="5400" dirty="0"/>
          </a:p>
        </p:txBody>
      </p:sp>
      <p:sp>
        <p:nvSpPr>
          <p:cNvPr id="5" name="Text 2"/>
          <p:cNvSpPr/>
          <p:nvPr/>
        </p:nvSpPr>
        <p:spPr>
          <a:xfrm>
            <a:off x="1066800" y="3295650"/>
            <a:ext cx="3728085" cy="1195388"/>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Les grandes parties de la présentation, en un coup d'œil.</a:t>
            </a:r>
            <a:endParaRPr lang="en-US" sz="2025" dirty="0"/>
          </a:p>
        </p:txBody>
      </p:sp>
      <p:sp>
        <p:nvSpPr>
          <p:cNvPr id="6" name="Shape 3"/>
          <p:cNvSpPr/>
          <p:nvPr/>
        </p:nvSpPr>
        <p:spPr>
          <a:xfrm>
            <a:off x="5448300" y="781120"/>
            <a:ext cx="11772900" cy="9525"/>
          </a:xfrm>
          <a:prstGeom prst="rect">
            <a:avLst/>
          </a:prstGeom>
          <a:solidFill>
            <a:srgbClr val="0E3145">
              <a:alpha val="12000"/>
            </a:srgbClr>
          </a:solidFill>
          <a:ln/>
        </p:spPr>
        <p:txBody>
          <a:bodyPr/>
          <a:lstStyle/>
          <a:p>
            <a:endParaRPr lang="fr-FR"/>
          </a:p>
        </p:txBody>
      </p:sp>
      <p:sp>
        <p:nvSpPr>
          <p:cNvPr id="7" name="Text 4"/>
          <p:cNvSpPr/>
          <p:nvPr/>
        </p:nvSpPr>
        <p:spPr>
          <a:xfrm>
            <a:off x="5448300" y="1076395"/>
            <a:ext cx="990600" cy="714375"/>
          </a:xfrm>
          <a:prstGeom prst="rect">
            <a:avLst/>
          </a:prstGeom>
          <a:noFill/>
          <a:ln/>
        </p:spPr>
        <p:txBody>
          <a:bodyPr wrap="square" lIns="25400" tIns="25400" rIns="25400" bIns="25400" rtlCol="0" anchor="t">
            <a:normAutofit/>
          </a:bodyPr>
          <a:lstStyle/>
          <a:p>
            <a:pPr marL="0" indent="0" algn="l">
              <a:buNone/>
            </a:pPr>
            <a:r>
              <a:rPr lang="en-US" sz="4200" kern="0" spc="-84" dirty="0">
                <a:solidFill>
                  <a:srgbClr val="DC216E"/>
                </a:solidFill>
                <a:latin typeface="Euclid Circular A" pitchFamily="34" charset="0"/>
                <a:ea typeface="Euclid Circular A" pitchFamily="34" charset="-122"/>
                <a:cs typeface="Euclid Circular A" pitchFamily="34" charset="-120"/>
              </a:rPr>
              <a:t>01</a:t>
            </a:r>
            <a:endParaRPr lang="en-US" sz="4200" dirty="0"/>
          </a:p>
        </p:txBody>
      </p:sp>
      <p:sp>
        <p:nvSpPr>
          <p:cNvPr id="8" name="Text 5"/>
          <p:cNvSpPr/>
          <p:nvPr/>
        </p:nvSpPr>
        <p:spPr>
          <a:xfrm>
            <a:off x="6648450" y="1247845"/>
            <a:ext cx="11630025" cy="495300"/>
          </a:xfrm>
          <a:prstGeom prst="rect">
            <a:avLst/>
          </a:prstGeom>
          <a:noFill/>
          <a:ln/>
        </p:spPr>
        <p:txBody>
          <a:bodyPr wrap="square" lIns="25400" tIns="25400" rIns="25400" bIns="25400" rtlCol="0" anchor="t">
            <a:normAutofit/>
          </a:bodyPr>
          <a:lstStyle/>
          <a:p>
            <a:pPr marL="0" indent="0" algn="l">
              <a:buNone/>
            </a:pPr>
            <a:r>
              <a:rPr lang="en-US" sz="2850" kern="0" spc="-29" dirty="0">
                <a:solidFill>
                  <a:srgbClr val="0E3145"/>
                </a:solidFill>
                <a:latin typeface="Euclid Circular A" pitchFamily="34" charset="0"/>
                <a:ea typeface="Euclid Circular A" pitchFamily="34" charset="-122"/>
                <a:cs typeface="Euclid Circular A" pitchFamily="34" charset="-120"/>
              </a:rPr>
              <a:t>Intitulé de la première partie</a:t>
            </a:r>
            <a:endParaRPr lang="en-US" sz="2850" dirty="0"/>
          </a:p>
        </p:txBody>
      </p:sp>
      <p:sp>
        <p:nvSpPr>
          <p:cNvPr id="9" name="Text 6"/>
          <p:cNvSpPr/>
          <p:nvPr/>
        </p:nvSpPr>
        <p:spPr>
          <a:xfrm>
            <a:off x="6648450" y="1781245"/>
            <a:ext cx="11630025"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Courte description de ce que couvre la partie.</a:t>
            </a:r>
            <a:endParaRPr lang="en-US" sz="1800" dirty="0"/>
          </a:p>
        </p:txBody>
      </p:sp>
      <p:sp>
        <p:nvSpPr>
          <p:cNvPr id="10" name="Shape 7"/>
          <p:cNvSpPr/>
          <p:nvPr/>
        </p:nvSpPr>
        <p:spPr>
          <a:xfrm>
            <a:off x="5448300" y="2352745"/>
            <a:ext cx="11772900" cy="9525"/>
          </a:xfrm>
          <a:prstGeom prst="rect">
            <a:avLst/>
          </a:prstGeom>
          <a:solidFill>
            <a:srgbClr val="0E3145">
              <a:alpha val="12000"/>
            </a:srgbClr>
          </a:solidFill>
          <a:ln/>
        </p:spPr>
        <p:txBody>
          <a:bodyPr/>
          <a:lstStyle/>
          <a:p>
            <a:endParaRPr lang="fr-FR"/>
          </a:p>
        </p:txBody>
      </p:sp>
      <p:sp>
        <p:nvSpPr>
          <p:cNvPr id="11" name="Text 8"/>
          <p:cNvSpPr/>
          <p:nvPr/>
        </p:nvSpPr>
        <p:spPr>
          <a:xfrm>
            <a:off x="5448300" y="2648020"/>
            <a:ext cx="990600" cy="714375"/>
          </a:xfrm>
          <a:prstGeom prst="rect">
            <a:avLst/>
          </a:prstGeom>
          <a:noFill/>
          <a:ln/>
        </p:spPr>
        <p:txBody>
          <a:bodyPr wrap="square" lIns="25400" tIns="25400" rIns="25400" bIns="25400" rtlCol="0" anchor="t">
            <a:normAutofit/>
          </a:bodyPr>
          <a:lstStyle/>
          <a:p>
            <a:pPr marL="0" indent="0" algn="l">
              <a:buNone/>
            </a:pPr>
            <a:r>
              <a:rPr lang="en-US" sz="4200" kern="0" spc="-84" dirty="0">
                <a:solidFill>
                  <a:srgbClr val="DC216E"/>
                </a:solidFill>
                <a:latin typeface="Euclid Circular A" pitchFamily="34" charset="0"/>
                <a:ea typeface="Euclid Circular A" pitchFamily="34" charset="-122"/>
                <a:cs typeface="Euclid Circular A" pitchFamily="34" charset="-120"/>
              </a:rPr>
              <a:t>02</a:t>
            </a:r>
            <a:endParaRPr lang="en-US" sz="4200" dirty="0"/>
          </a:p>
        </p:txBody>
      </p:sp>
      <p:sp>
        <p:nvSpPr>
          <p:cNvPr id="12" name="Text 9"/>
          <p:cNvSpPr/>
          <p:nvPr/>
        </p:nvSpPr>
        <p:spPr>
          <a:xfrm>
            <a:off x="6648450" y="2819470"/>
            <a:ext cx="11630025" cy="495300"/>
          </a:xfrm>
          <a:prstGeom prst="rect">
            <a:avLst/>
          </a:prstGeom>
          <a:noFill/>
          <a:ln/>
        </p:spPr>
        <p:txBody>
          <a:bodyPr wrap="square" lIns="25400" tIns="25400" rIns="25400" bIns="25400" rtlCol="0" anchor="t">
            <a:normAutofit/>
          </a:bodyPr>
          <a:lstStyle/>
          <a:p>
            <a:pPr marL="0" indent="0" algn="l">
              <a:buNone/>
            </a:pPr>
            <a:r>
              <a:rPr lang="en-US" sz="2850" kern="0" spc="-29" dirty="0">
                <a:solidFill>
                  <a:srgbClr val="0E3145"/>
                </a:solidFill>
                <a:latin typeface="Euclid Circular A" pitchFamily="34" charset="0"/>
                <a:ea typeface="Euclid Circular A" pitchFamily="34" charset="-122"/>
                <a:cs typeface="Euclid Circular A" pitchFamily="34" charset="-120"/>
              </a:rPr>
              <a:t>Intitulé de la deuxième partie</a:t>
            </a:r>
            <a:endParaRPr lang="en-US" sz="2850" dirty="0"/>
          </a:p>
        </p:txBody>
      </p:sp>
      <p:sp>
        <p:nvSpPr>
          <p:cNvPr id="13" name="Text 10"/>
          <p:cNvSpPr/>
          <p:nvPr/>
        </p:nvSpPr>
        <p:spPr>
          <a:xfrm>
            <a:off x="6648450" y="3352870"/>
            <a:ext cx="11630025"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Courte description de ce que couvre la partie.</a:t>
            </a:r>
            <a:endParaRPr lang="en-US" sz="1800" dirty="0"/>
          </a:p>
        </p:txBody>
      </p:sp>
      <p:sp>
        <p:nvSpPr>
          <p:cNvPr id="14" name="Shape 11"/>
          <p:cNvSpPr/>
          <p:nvPr/>
        </p:nvSpPr>
        <p:spPr>
          <a:xfrm>
            <a:off x="5448300" y="3924370"/>
            <a:ext cx="11772900" cy="9525"/>
          </a:xfrm>
          <a:prstGeom prst="rect">
            <a:avLst/>
          </a:prstGeom>
          <a:solidFill>
            <a:srgbClr val="0E3145">
              <a:alpha val="12000"/>
            </a:srgbClr>
          </a:solidFill>
          <a:ln/>
        </p:spPr>
        <p:txBody>
          <a:bodyPr/>
          <a:lstStyle/>
          <a:p>
            <a:endParaRPr lang="fr-FR"/>
          </a:p>
        </p:txBody>
      </p:sp>
      <p:sp>
        <p:nvSpPr>
          <p:cNvPr id="15" name="Text 12"/>
          <p:cNvSpPr/>
          <p:nvPr/>
        </p:nvSpPr>
        <p:spPr>
          <a:xfrm>
            <a:off x="5448300" y="4219645"/>
            <a:ext cx="990600" cy="714375"/>
          </a:xfrm>
          <a:prstGeom prst="rect">
            <a:avLst/>
          </a:prstGeom>
          <a:noFill/>
          <a:ln/>
        </p:spPr>
        <p:txBody>
          <a:bodyPr wrap="square" lIns="25400" tIns="25400" rIns="25400" bIns="25400" rtlCol="0" anchor="t">
            <a:normAutofit/>
          </a:bodyPr>
          <a:lstStyle/>
          <a:p>
            <a:pPr marL="0" indent="0" algn="l">
              <a:buNone/>
            </a:pPr>
            <a:r>
              <a:rPr lang="en-US" sz="4200" kern="0" spc="-84" dirty="0">
                <a:solidFill>
                  <a:srgbClr val="DC216E"/>
                </a:solidFill>
                <a:latin typeface="Euclid Circular A" pitchFamily="34" charset="0"/>
                <a:ea typeface="Euclid Circular A" pitchFamily="34" charset="-122"/>
                <a:cs typeface="Euclid Circular A" pitchFamily="34" charset="-120"/>
              </a:rPr>
              <a:t>03</a:t>
            </a:r>
            <a:endParaRPr lang="en-US" sz="4200" dirty="0"/>
          </a:p>
        </p:txBody>
      </p:sp>
      <p:sp>
        <p:nvSpPr>
          <p:cNvPr id="16" name="Text 13"/>
          <p:cNvSpPr/>
          <p:nvPr/>
        </p:nvSpPr>
        <p:spPr>
          <a:xfrm>
            <a:off x="6648450" y="4391095"/>
            <a:ext cx="11630025" cy="495300"/>
          </a:xfrm>
          <a:prstGeom prst="rect">
            <a:avLst/>
          </a:prstGeom>
          <a:noFill/>
          <a:ln/>
        </p:spPr>
        <p:txBody>
          <a:bodyPr wrap="square" lIns="25400" tIns="25400" rIns="25400" bIns="25400" rtlCol="0" anchor="t">
            <a:normAutofit/>
          </a:bodyPr>
          <a:lstStyle/>
          <a:p>
            <a:pPr marL="0" indent="0" algn="l">
              <a:buNone/>
            </a:pPr>
            <a:r>
              <a:rPr lang="en-US" sz="2850" kern="0" spc="-29" dirty="0">
                <a:solidFill>
                  <a:srgbClr val="0E3145"/>
                </a:solidFill>
                <a:latin typeface="Euclid Circular A" pitchFamily="34" charset="0"/>
                <a:ea typeface="Euclid Circular A" pitchFamily="34" charset="-122"/>
                <a:cs typeface="Euclid Circular A" pitchFamily="34" charset="-120"/>
              </a:rPr>
              <a:t>Intitulé de la troisième partie</a:t>
            </a:r>
            <a:endParaRPr lang="en-US" sz="2850" dirty="0"/>
          </a:p>
        </p:txBody>
      </p:sp>
      <p:sp>
        <p:nvSpPr>
          <p:cNvPr id="17" name="Text 14"/>
          <p:cNvSpPr/>
          <p:nvPr/>
        </p:nvSpPr>
        <p:spPr>
          <a:xfrm>
            <a:off x="6648450" y="4924495"/>
            <a:ext cx="11630025"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Courte description de ce que couvre la partie.</a:t>
            </a:r>
            <a:endParaRPr lang="en-US" sz="1800" dirty="0"/>
          </a:p>
        </p:txBody>
      </p:sp>
      <p:sp>
        <p:nvSpPr>
          <p:cNvPr id="18" name="Shape 15"/>
          <p:cNvSpPr/>
          <p:nvPr/>
        </p:nvSpPr>
        <p:spPr>
          <a:xfrm>
            <a:off x="5448300" y="7067620"/>
            <a:ext cx="11772900" cy="9525"/>
          </a:xfrm>
          <a:prstGeom prst="rect">
            <a:avLst/>
          </a:prstGeom>
          <a:solidFill>
            <a:srgbClr val="0E3145">
              <a:alpha val="12000"/>
            </a:srgbClr>
          </a:solidFill>
          <a:ln/>
        </p:spPr>
        <p:txBody>
          <a:bodyPr/>
          <a:lstStyle/>
          <a:p>
            <a:endParaRPr lang="fr-FR"/>
          </a:p>
        </p:txBody>
      </p:sp>
      <p:sp>
        <p:nvSpPr>
          <p:cNvPr id="19" name="Shape 16"/>
          <p:cNvSpPr/>
          <p:nvPr/>
        </p:nvSpPr>
        <p:spPr>
          <a:xfrm>
            <a:off x="5448300" y="5495995"/>
            <a:ext cx="11772900" cy="9525"/>
          </a:xfrm>
          <a:prstGeom prst="rect">
            <a:avLst/>
          </a:prstGeom>
          <a:solidFill>
            <a:srgbClr val="0E3145">
              <a:alpha val="12000"/>
            </a:srgbClr>
          </a:solidFill>
          <a:ln/>
        </p:spPr>
        <p:txBody>
          <a:bodyPr/>
          <a:lstStyle/>
          <a:p>
            <a:endParaRPr lang="fr-FR"/>
          </a:p>
        </p:txBody>
      </p:sp>
      <p:sp>
        <p:nvSpPr>
          <p:cNvPr id="20" name="Text 17"/>
          <p:cNvSpPr/>
          <p:nvPr/>
        </p:nvSpPr>
        <p:spPr>
          <a:xfrm>
            <a:off x="5448300" y="5791270"/>
            <a:ext cx="990600" cy="714375"/>
          </a:xfrm>
          <a:prstGeom prst="rect">
            <a:avLst/>
          </a:prstGeom>
          <a:noFill/>
          <a:ln/>
        </p:spPr>
        <p:txBody>
          <a:bodyPr wrap="square" lIns="25400" tIns="25400" rIns="25400" bIns="25400" rtlCol="0" anchor="t">
            <a:normAutofit/>
          </a:bodyPr>
          <a:lstStyle/>
          <a:p>
            <a:pPr marL="0" indent="0" algn="l">
              <a:buNone/>
            </a:pPr>
            <a:r>
              <a:rPr lang="en-US" sz="4200" kern="0" spc="-84" dirty="0">
                <a:solidFill>
                  <a:srgbClr val="DC216E"/>
                </a:solidFill>
                <a:latin typeface="Euclid Circular A" pitchFamily="34" charset="0"/>
                <a:ea typeface="Euclid Circular A" pitchFamily="34" charset="-122"/>
                <a:cs typeface="Euclid Circular A" pitchFamily="34" charset="-120"/>
              </a:rPr>
              <a:t>04</a:t>
            </a:r>
            <a:endParaRPr lang="en-US" sz="4200" dirty="0"/>
          </a:p>
        </p:txBody>
      </p:sp>
      <p:sp>
        <p:nvSpPr>
          <p:cNvPr id="21" name="Text 18"/>
          <p:cNvSpPr/>
          <p:nvPr/>
        </p:nvSpPr>
        <p:spPr>
          <a:xfrm>
            <a:off x="6648450" y="5962720"/>
            <a:ext cx="11630025" cy="495300"/>
          </a:xfrm>
          <a:prstGeom prst="rect">
            <a:avLst/>
          </a:prstGeom>
          <a:noFill/>
          <a:ln/>
        </p:spPr>
        <p:txBody>
          <a:bodyPr wrap="square" lIns="25400" tIns="25400" rIns="25400" bIns="25400" rtlCol="0" anchor="t">
            <a:normAutofit/>
          </a:bodyPr>
          <a:lstStyle/>
          <a:p>
            <a:pPr marL="0" indent="0" algn="l">
              <a:buNone/>
            </a:pPr>
            <a:r>
              <a:rPr lang="en-US" sz="2850" kern="0" spc="-29" dirty="0">
                <a:solidFill>
                  <a:srgbClr val="0E3145"/>
                </a:solidFill>
                <a:latin typeface="Euclid Circular A" pitchFamily="34" charset="0"/>
                <a:ea typeface="Euclid Circular A" pitchFamily="34" charset="-122"/>
                <a:cs typeface="Euclid Circular A" pitchFamily="34" charset="-120"/>
              </a:rPr>
              <a:t>Intitulé de la quatrième partie</a:t>
            </a:r>
            <a:endParaRPr lang="en-US" sz="2850" dirty="0"/>
          </a:p>
        </p:txBody>
      </p:sp>
      <p:sp>
        <p:nvSpPr>
          <p:cNvPr id="22" name="Text 19"/>
          <p:cNvSpPr/>
          <p:nvPr/>
        </p:nvSpPr>
        <p:spPr>
          <a:xfrm>
            <a:off x="6648450" y="6496120"/>
            <a:ext cx="11630025"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Courte description de ce que couvre la partie.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1714500" y="4573576"/>
            <a:ext cx="9601199" cy="4095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950" kern="0" spc="312" dirty="0">
                <a:solidFill>
                  <a:srgbClr val="0E3145">
                    <a:alpha val="99000"/>
                  </a:srgbClr>
                </a:solidFill>
                <a:latin typeface="Euclid Circular A" panose="020B0504000000000000" pitchFamily="34" charset="0"/>
                <a:ea typeface="Euclid Circular A" panose="020B0504000000000000" pitchFamily="34" charset="0"/>
                <a:cs typeface="Arial" pitchFamily="34" charset="-120"/>
              </a:rPr>
              <a:t>PARTIE 01</a:t>
            </a:r>
            <a:endParaRPr lang="en-US" sz="1950" dirty="0"/>
          </a:p>
        </p:txBody>
      </p:sp>
      <p:sp>
        <p:nvSpPr>
          <p:cNvPr id="6" name="Text 3"/>
          <p:cNvSpPr/>
          <p:nvPr/>
        </p:nvSpPr>
        <p:spPr>
          <a:xfrm>
            <a:off x="1714500" y="5197911"/>
            <a:ext cx="9601199" cy="1139428"/>
          </a:xfrm>
          <a:prstGeom prst="rect">
            <a:avLst/>
          </a:prstGeom>
          <a:noFill/>
          <a:ln/>
        </p:spPr>
        <p:txBody>
          <a:bodyPr wrap="square" lIns="25400" tIns="25400" rIns="25400" bIns="25400" rtlCol="0" anchor="t">
            <a:normAutofit fontScale="85000" lnSpcReduction="20000"/>
          </a:bodyPr>
          <a:lstStyle/>
          <a:p>
            <a:pPr>
              <a:lnSpc>
                <a:spcPct val="98000"/>
              </a:lnSpc>
            </a:pPr>
            <a:r>
              <a:rPr lang="en-US" sz="9600" kern="0" spc="-252" dirty="0" err="1">
                <a:solidFill>
                  <a:srgbClr val="0E3145"/>
                </a:solidFill>
                <a:latin typeface="Euclid Circular A" pitchFamily="34" charset="0"/>
                <a:ea typeface="Euclid Circular A" pitchFamily="34" charset="-122"/>
                <a:cs typeface="Euclid Circular A" pitchFamily="34" charset="-120"/>
              </a:rPr>
              <a:t>Intitulé</a:t>
            </a:r>
            <a:r>
              <a:rPr lang="en-US" sz="9600" kern="0" spc="-252" dirty="0">
                <a:solidFill>
                  <a:srgbClr val="0E3145"/>
                </a:solidFill>
                <a:latin typeface="Euclid Circular A" pitchFamily="34" charset="0"/>
                <a:ea typeface="Euclid Circular A" pitchFamily="34" charset="-122"/>
                <a:cs typeface="Euclid Circular A" pitchFamily="34" charset="-120"/>
              </a:rPr>
              <a:t> de la </a:t>
            </a:r>
            <a:r>
              <a:rPr lang="en-US" sz="9600" kern="0" spc="-252" dirty="0" err="1">
                <a:solidFill>
                  <a:srgbClr val="DC216E"/>
                </a:solidFill>
                <a:latin typeface="Euclid Circular A" pitchFamily="34" charset="0"/>
                <a:ea typeface="Euclid Circular A" pitchFamily="34" charset="-122"/>
                <a:cs typeface="Euclid Circular A" pitchFamily="34" charset="-120"/>
              </a:rPr>
              <a:t>partie</a:t>
            </a:r>
            <a:endParaRPr lang="en-US" sz="9600" dirty="0"/>
          </a:p>
        </p:txBody>
      </p:sp>
      <p:sp>
        <p:nvSpPr>
          <p:cNvPr id="7" name="Text 4"/>
          <p:cNvSpPr/>
          <p:nvPr/>
        </p:nvSpPr>
        <p:spPr>
          <a:xfrm>
            <a:off x="1714500" y="6652499"/>
            <a:ext cx="9376767" cy="2353866"/>
          </a:xfrm>
          <a:prstGeom prst="rect">
            <a:avLst/>
          </a:prstGeom>
          <a:noFill/>
          <a:ln/>
        </p:spPr>
        <p:txBody>
          <a:bodyPr wrap="square" lIns="25400" tIns="25400" rIns="25400" bIns="25400" rtlCol="0" anchor="t">
            <a:normAutofit/>
          </a:bodyPr>
          <a:lstStyle/>
          <a:p>
            <a:pPr>
              <a:lnSpc>
                <a:spcPct val="150000"/>
              </a:lnSpc>
            </a:pPr>
            <a:r>
              <a:rPr lang="en-US" sz="3200" dirty="0">
                <a:solidFill>
                  <a:srgbClr val="0E3145">
                    <a:alpha val="66000"/>
                  </a:srgbClr>
                </a:solidFill>
                <a:latin typeface="Euclid Circular A" pitchFamily="34" charset="0"/>
                <a:ea typeface="Euclid Circular A" pitchFamily="34" charset="-122"/>
                <a:cs typeface="Euclid Circular A" pitchFamily="34" charset="-120"/>
              </a:rPr>
              <a:t>Phrase </a:t>
            </a:r>
            <a:r>
              <a:rPr lang="en-US" sz="3200" dirty="0" err="1">
                <a:solidFill>
                  <a:srgbClr val="0E3145">
                    <a:alpha val="66000"/>
                  </a:srgbClr>
                </a:solidFill>
                <a:latin typeface="Euclid Circular A" pitchFamily="34" charset="0"/>
                <a:ea typeface="Euclid Circular A" pitchFamily="34" charset="-122"/>
                <a:cs typeface="Euclid Circular A" pitchFamily="34" charset="-120"/>
              </a:rPr>
              <a:t>d'introduction</a:t>
            </a:r>
            <a:r>
              <a:rPr lang="en-US" sz="3200" dirty="0">
                <a:solidFill>
                  <a:srgbClr val="0E3145">
                    <a:alpha val="66000"/>
                  </a:srgbClr>
                </a:solidFill>
                <a:latin typeface="Euclid Circular A" pitchFamily="34" charset="0"/>
                <a:ea typeface="Euclid Circular A" pitchFamily="34" charset="-122"/>
                <a:cs typeface="Euclid Circular A" pitchFamily="34" charset="-120"/>
              </a:rPr>
              <a:t> : </a:t>
            </a:r>
            <a:r>
              <a:rPr lang="en-US" sz="3200" dirty="0" err="1">
                <a:solidFill>
                  <a:srgbClr val="0E3145">
                    <a:alpha val="66000"/>
                  </a:srgbClr>
                </a:solidFill>
                <a:latin typeface="Euclid Circular A" pitchFamily="34" charset="0"/>
                <a:ea typeface="Euclid Circular A" pitchFamily="34" charset="-122"/>
                <a:cs typeface="Euclid Circular A" pitchFamily="34" charset="-120"/>
              </a:rPr>
              <a:t>ce</a:t>
            </a:r>
            <a:r>
              <a:rPr lang="en-US" sz="3200" dirty="0">
                <a:solidFill>
                  <a:srgbClr val="0E3145">
                    <a:alpha val="66000"/>
                  </a:srgbClr>
                </a:solidFill>
                <a:latin typeface="Euclid Circular A" pitchFamily="34" charset="0"/>
                <a:ea typeface="Euclid Circular A" pitchFamily="34" charset="-122"/>
                <a:cs typeface="Euclid Circular A" pitchFamily="34" charset="-120"/>
              </a:rPr>
              <a:t> </a:t>
            </a:r>
            <a:r>
              <a:rPr lang="en-US" sz="3200" dirty="0" err="1">
                <a:solidFill>
                  <a:srgbClr val="0E3145">
                    <a:alpha val="66000"/>
                  </a:srgbClr>
                </a:solidFill>
                <a:latin typeface="Euclid Circular A" pitchFamily="34" charset="0"/>
                <a:ea typeface="Euclid Circular A" pitchFamily="34" charset="-122"/>
                <a:cs typeface="Euclid Circular A" pitchFamily="34" charset="-120"/>
              </a:rPr>
              <a:t>que</a:t>
            </a:r>
            <a:r>
              <a:rPr lang="en-US" sz="3200" dirty="0">
                <a:solidFill>
                  <a:srgbClr val="0E3145">
                    <a:alpha val="66000"/>
                  </a:srgbClr>
                </a:solidFill>
                <a:latin typeface="Euclid Circular A" pitchFamily="34" charset="0"/>
                <a:ea typeface="Euclid Circular A" pitchFamily="34" charset="-122"/>
                <a:cs typeface="Euclid Circular A" pitchFamily="34" charset="-120"/>
              </a:rPr>
              <a:t> </a:t>
            </a:r>
            <a:r>
              <a:rPr lang="en-US" sz="3200" dirty="0" err="1">
                <a:solidFill>
                  <a:srgbClr val="0E3145">
                    <a:alpha val="66000"/>
                  </a:srgbClr>
                </a:solidFill>
                <a:latin typeface="Euclid Circular A" pitchFamily="34" charset="0"/>
                <a:ea typeface="Euclid Circular A" pitchFamily="34" charset="-122"/>
                <a:cs typeface="Euclid Circular A" pitchFamily="34" charset="-120"/>
              </a:rPr>
              <a:t>cette</a:t>
            </a:r>
            <a:r>
              <a:rPr lang="en-US" sz="3200" dirty="0">
                <a:solidFill>
                  <a:srgbClr val="0E3145">
                    <a:alpha val="66000"/>
                  </a:srgbClr>
                </a:solidFill>
                <a:latin typeface="Euclid Circular A" pitchFamily="34" charset="0"/>
                <a:ea typeface="Euclid Circular A" pitchFamily="34" charset="-122"/>
                <a:cs typeface="Euclid Circular A" pitchFamily="34" charset="-120"/>
              </a:rPr>
              <a:t> </a:t>
            </a:r>
            <a:r>
              <a:rPr lang="en-US" sz="3200" dirty="0" err="1">
                <a:solidFill>
                  <a:srgbClr val="0E3145">
                    <a:alpha val="66000"/>
                  </a:srgbClr>
                </a:solidFill>
                <a:latin typeface="Euclid Circular A" pitchFamily="34" charset="0"/>
                <a:ea typeface="Euclid Circular A" pitchFamily="34" charset="-122"/>
                <a:cs typeface="Euclid Circular A" pitchFamily="34" charset="-120"/>
              </a:rPr>
              <a:t>partie</a:t>
            </a:r>
            <a:r>
              <a:rPr lang="en-US" sz="3200" dirty="0">
                <a:solidFill>
                  <a:srgbClr val="0E3145">
                    <a:alpha val="66000"/>
                  </a:srgbClr>
                </a:solidFill>
                <a:latin typeface="Euclid Circular A" pitchFamily="34" charset="0"/>
                <a:ea typeface="Euclid Circular A" pitchFamily="34" charset="-122"/>
                <a:cs typeface="Euclid Circular A" pitchFamily="34" charset="-120"/>
              </a:rPr>
              <a:t> </a:t>
            </a:r>
            <a:r>
              <a:rPr lang="en-US" sz="3200" dirty="0" err="1">
                <a:solidFill>
                  <a:srgbClr val="0E3145">
                    <a:alpha val="66000"/>
                  </a:srgbClr>
                </a:solidFill>
                <a:latin typeface="Euclid Circular A" pitchFamily="34" charset="0"/>
                <a:ea typeface="Euclid Circular A" pitchFamily="34" charset="-122"/>
                <a:cs typeface="Euclid Circular A" pitchFamily="34" charset="-120"/>
              </a:rPr>
              <a:t>va</a:t>
            </a:r>
            <a:r>
              <a:rPr lang="en-US" sz="3200" dirty="0">
                <a:solidFill>
                  <a:srgbClr val="0E3145">
                    <a:alpha val="66000"/>
                  </a:srgbClr>
                </a:solidFill>
                <a:latin typeface="Euclid Circular A" pitchFamily="34" charset="0"/>
                <a:ea typeface="Euclid Circular A" pitchFamily="34" charset="-122"/>
                <a:cs typeface="Euclid Circular A" pitchFamily="34" charset="-120"/>
              </a:rPr>
              <a:t> </a:t>
            </a:r>
            <a:r>
              <a:rPr lang="en-US" sz="3200" dirty="0" err="1">
                <a:solidFill>
                  <a:srgbClr val="0E3145">
                    <a:alpha val="66000"/>
                  </a:srgbClr>
                </a:solidFill>
                <a:latin typeface="Euclid Circular A" pitchFamily="34" charset="0"/>
                <a:ea typeface="Euclid Circular A" pitchFamily="34" charset="-122"/>
                <a:cs typeface="Euclid Circular A" pitchFamily="34" charset="-120"/>
              </a:rPr>
              <a:t>couvrir</a:t>
            </a:r>
            <a:r>
              <a:rPr lang="en-US" sz="3200" dirty="0">
                <a:solidFill>
                  <a:srgbClr val="0E3145">
                    <a:alpha val="66000"/>
                  </a:srgbClr>
                </a:solidFill>
                <a:latin typeface="Euclid Circular A" pitchFamily="34" charset="0"/>
                <a:ea typeface="Euclid Circular A" pitchFamily="34" charset="-122"/>
                <a:cs typeface="Euclid Circular A" pitchFamily="34" charset="-120"/>
              </a:rPr>
              <a:t> et </a:t>
            </a:r>
            <a:r>
              <a:rPr lang="en-US" sz="3200" dirty="0" err="1">
                <a:solidFill>
                  <a:srgbClr val="0E3145">
                    <a:alpha val="66000"/>
                  </a:srgbClr>
                </a:solidFill>
                <a:latin typeface="Euclid Circular A" pitchFamily="34" charset="0"/>
                <a:ea typeface="Euclid Circular A" pitchFamily="34" charset="-122"/>
                <a:cs typeface="Euclid Circular A" pitchFamily="34" charset="-120"/>
              </a:rPr>
              <a:t>pourquoi</a:t>
            </a:r>
            <a:r>
              <a:rPr lang="en-US" sz="3200" dirty="0">
                <a:solidFill>
                  <a:srgbClr val="0E3145">
                    <a:alpha val="66000"/>
                  </a:srgbClr>
                </a:solidFill>
                <a:latin typeface="Euclid Circular A" pitchFamily="34" charset="0"/>
                <a:ea typeface="Euclid Circular A" pitchFamily="34" charset="-122"/>
                <a:cs typeface="Euclid Circular A" pitchFamily="34" charset="-120"/>
              </a:rPr>
              <a:t> </a:t>
            </a:r>
            <a:r>
              <a:rPr lang="en-US" sz="3200" dirty="0" err="1">
                <a:solidFill>
                  <a:srgbClr val="0E3145">
                    <a:alpha val="66000"/>
                  </a:srgbClr>
                </a:solidFill>
                <a:latin typeface="Euclid Circular A" pitchFamily="34" charset="0"/>
                <a:ea typeface="Euclid Circular A" pitchFamily="34" charset="-122"/>
                <a:cs typeface="Euclid Circular A" pitchFamily="34" charset="-120"/>
              </a:rPr>
              <a:t>elle</a:t>
            </a:r>
            <a:r>
              <a:rPr lang="en-US" sz="3200" dirty="0">
                <a:solidFill>
                  <a:srgbClr val="0E3145">
                    <a:alpha val="66000"/>
                  </a:srgbClr>
                </a:solidFill>
                <a:latin typeface="Euclid Circular A" pitchFamily="34" charset="0"/>
                <a:ea typeface="Euclid Circular A" pitchFamily="34" charset="-122"/>
                <a:cs typeface="Euclid Circular A" pitchFamily="34" charset="-120"/>
              </a:rPr>
              <a:t> compte.</a:t>
            </a:r>
            <a:endParaRPr lang="en-US" sz="3200" dirty="0"/>
          </a:p>
        </p:txBody>
      </p:sp>
      <p:sp>
        <p:nvSpPr>
          <p:cNvPr id="9" name="Text 0">
            <a:extLst>
              <a:ext uri="{FF2B5EF4-FFF2-40B4-BE49-F238E27FC236}">
                <a16:creationId xmlns:a16="http://schemas.microsoft.com/office/drawing/2014/main" id="{0A55776B-8DC3-C10E-3FFC-2F2C766882A6}"/>
              </a:ext>
            </a:extLst>
          </p:cNvPr>
          <p:cNvSpPr/>
          <p:nvPr/>
        </p:nvSpPr>
        <p:spPr>
          <a:xfrm>
            <a:off x="-411479" y="-304800"/>
            <a:ext cx="12160118" cy="8682990"/>
          </a:xfrm>
          <a:prstGeom prst="rect">
            <a:avLst/>
          </a:prstGeom>
          <a:noFill/>
          <a:ln/>
        </p:spPr>
        <p:txBody>
          <a:bodyPr wrap="square" lIns="25400" tIns="25400" rIns="25400" bIns="25400" rtlCol="0" anchor="t">
            <a:normAutofit/>
          </a:bodyPr>
          <a:lstStyle/>
          <a:p>
            <a:pPr>
              <a:lnSpc>
                <a:spcPct val="85000"/>
              </a:lnSpc>
            </a:pPr>
            <a:r>
              <a:rPr lang="en-US" sz="52800" kern="0" spc="-1350" dirty="0">
                <a:solidFill>
                  <a:schemeClr val="accent1">
                    <a:alpha val="5000"/>
                  </a:schemeClr>
                </a:solidFill>
                <a:latin typeface="Euclid Circular A SemiBold" panose="020B0704000000000000" pitchFamily="34" charset="0"/>
                <a:ea typeface="Euclid Circular A SemiBold" panose="020B0704000000000000" pitchFamily="34" charset="0"/>
              </a:rPr>
              <a:t>01</a:t>
            </a:r>
          </a:p>
        </p:txBody>
      </p:sp>
      <p:sp>
        <p:nvSpPr>
          <p:cNvPr id="10" name="Rectangle : avec coins arrondis en diagonale 9">
            <a:extLst>
              <a:ext uri="{FF2B5EF4-FFF2-40B4-BE49-F238E27FC236}">
                <a16:creationId xmlns:a16="http://schemas.microsoft.com/office/drawing/2014/main" id="{60740FF2-5CEF-F7F4-2A5A-6B59004CA6D3}"/>
              </a:ext>
            </a:extLst>
          </p:cNvPr>
          <p:cNvSpPr/>
          <p:nvPr/>
        </p:nvSpPr>
        <p:spPr>
          <a:xfrm>
            <a:off x="11436218" y="628650"/>
            <a:ext cx="4876800" cy="6376804"/>
          </a:xfrm>
          <a:prstGeom prst="round2DiagRect">
            <a:avLst/>
          </a:prstGeom>
          <a:blipFill dpi="0" rotWithShape="1">
            <a:blip r:embed="rId3">
              <a:extLst>
                <a:ext uri="{28A0092B-C50C-407E-A947-70E740481C1C}">
                  <a14:useLocalDpi xmlns:a14="http://schemas.microsoft.com/office/drawing/2010/main" val="0"/>
                </a:ext>
              </a:extLst>
            </a:blip>
            <a:srcRect/>
            <a:stretch>
              <a:fillRect l="-61075" r="-29149"/>
            </a:stretch>
          </a:blip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1" name="Image 10">
            <a:extLst>
              <a:ext uri="{FF2B5EF4-FFF2-40B4-BE49-F238E27FC236}">
                <a16:creationId xmlns:a16="http://schemas.microsoft.com/office/drawing/2014/main" id="{3B16AB31-C2F7-ED0D-1FEB-AAA45DCB6619}"/>
              </a:ext>
            </a:extLst>
          </p:cNvPr>
          <p:cNvPicPr>
            <a:picLocks noChangeAspect="1"/>
          </p:cNvPicPr>
          <p:nvPr/>
        </p:nvPicPr>
        <p:blipFill>
          <a:blip r:embed="rId4"/>
          <a:stretch>
            <a:fillRect/>
          </a:stretch>
        </p:blipFill>
        <p:spPr>
          <a:xfrm>
            <a:off x="12813096" y="7460198"/>
            <a:ext cx="1926931" cy="151272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8F3"/>
        </a:solidFill>
        <a:effectLst/>
      </p:bgPr>
    </p:bg>
    <p:spTree>
      <p:nvGrpSpPr>
        <p:cNvPr id="1" name=""/>
        <p:cNvGrpSpPr/>
        <p:nvPr/>
      </p:nvGrpSpPr>
      <p:grpSpPr>
        <a:xfrm>
          <a:off x="0" y="0"/>
          <a:ext cx="0" cy="0"/>
          <a:chOff x="0" y="0"/>
          <a:chExt cx="0" cy="0"/>
        </a:xfrm>
      </p:grpSpPr>
      <p:sp>
        <p:nvSpPr>
          <p:cNvPr id="4" name="Text 1"/>
          <p:cNvSpPr/>
          <p:nvPr/>
        </p:nvSpPr>
        <p:spPr>
          <a:xfrm>
            <a:off x="1066800" y="781050"/>
            <a:ext cx="1776984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468" dirty="0">
                <a:solidFill>
                  <a:srgbClr val="DC216E"/>
                </a:solidFill>
                <a:latin typeface="Euclid Circular A" pitchFamily="34" charset="0"/>
                <a:ea typeface="Euclid Circular A" pitchFamily="34" charset="-122"/>
                <a:cs typeface="Euclid Circular A" pitchFamily="34" charset="-120"/>
              </a:rPr>
              <a:t>PARTIE</a:t>
            </a:r>
            <a:endParaRPr lang="en-US" sz="1800" dirty="0"/>
          </a:p>
        </p:txBody>
      </p:sp>
      <p:sp>
        <p:nvSpPr>
          <p:cNvPr id="5" name="Text 2"/>
          <p:cNvSpPr/>
          <p:nvPr/>
        </p:nvSpPr>
        <p:spPr>
          <a:xfrm>
            <a:off x="1066800" y="3586163"/>
            <a:ext cx="4073783" cy="2781300"/>
          </a:xfrm>
          <a:prstGeom prst="rect">
            <a:avLst/>
          </a:prstGeom>
          <a:noFill/>
          <a:ln/>
        </p:spPr>
        <p:txBody>
          <a:bodyPr wrap="square" lIns="25400" tIns="25400" rIns="25400" bIns="25400" rtlCol="0" anchor="t">
            <a:normAutofit fontScale="92500" lnSpcReduction="20000"/>
          </a:bodyPr>
          <a:lstStyle/>
          <a:p>
            <a:pPr marL="0" indent="0" algn="l">
              <a:lnSpc>
                <a:spcPct val="80000"/>
              </a:lnSpc>
              <a:buNone/>
            </a:pPr>
            <a:r>
              <a:rPr lang="en-US" sz="27000" kern="0" spc="-1350" dirty="0">
                <a:solidFill>
                  <a:srgbClr val="DC216E"/>
                </a:solidFill>
                <a:latin typeface="Euclid Circular A" pitchFamily="34" charset="0"/>
                <a:ea typeface="Euclid Circular A" pitchFamily="34" charset="-122"/>
                <a:cs typeface="Euclid Circular A" pitchFamily="34" charset="-120"/>
              </a:rPr>
              <a:t>01</a:t>
            </a:r>
            <a:endParaRPr lang="en-US" sz="27000" dirty="0"/>
          </a:p>
        </p:txBody>
      </p:sp>
      <p:sp>
        <p:nvSpPr>
          <p:cNvPr id="6" name="Text 3"/>
          <p:cNvSpPr/>
          <p:nvPr/>
        </p:nvSpPr>
        <p:spPr>
          <a:xfrm>
            <a:off x="5379839" y="3895279"/>
            <a:ext cx="9003447" cy="934194"/>
          </a:xfrm>
          <a:prstGeom prst="rect">
            <a:avLst/>
          </a:prstGeom>
          <a:noFill/>
          <a:ln/>
        </p:spPr>
        <p:txBody>
          <a:bodyPr wrap="square" lIns="25400" tIns="25400" rIns="25400" bIns="25400" rtlCol="0" anchor="t">
            <a:normAutofit fontScale="92500" lnSpcReduction="20000"/>
          </a:bodyPr>
          <a:lstStyle/>
          <a:p>
            <a:pPr marL="0" indent="0" algn="l">
              <a:lnSpc>
                <a:spcPct val="98000"/>
              </a:lnSpc>
              <a:buNone/>
            </a:pPr>
            <a:r>
              <a:rPr lang="en-US" sz="7200" kern="0" spc="-252" dirty="0">
                <a:solidFill>
                  <a:srgbClr val="0E3145"/>
                </a:solidFill>
                <a:latin typeface="Euclid Circular A" pitchFamily="34" charset="0"/>
                <a:ea typeface="Euclid Circular A" pitchFamily="34" charset="-122"/>
                <a:cs typeface="Euclid Circular A" pitchFamily="34" charset="-120"/>
              </a:rPr>
              <a:t>Intitulé de la </a:t>
            </a:r>
            <a:r>
              <a:rPr lang="en-US" sz="7200" kern="0" spc="-252" dirty="0">
                <a:solidFill>
                  <a:schemeClr val="accent1"/>
                </a:solidFill>
                <a:latin typeface="Euclid Circular A" pitchFamily="34" charset="0"/>
                <a:ea typeface="Euclid Circular A" pitchFamily="34" charset="-122"/>
                <a:cs typeface="Euclid Circular A" pitchFamily="34" charset="-120"/>
              </a:rPr>
              <a:t>sous-</a:t>
            </a:r>
            <a:r>
              <a:rPr lang="en-US" sz="7200" kern="0" spc="-252" dirty="0" err="1">
                <a:solidFill>
                  <a:srgbClr val="DC216E"/>
                </a:solidFill>
                <a:latin typeface="Euclid Circular A" pitchFamily="34" charset="0"/>
                <a:ea typeface="Euclid Circular A" pitchFamily="34" charset="-122"/>
                <a:cs typeface="Euclid Circular A" pitchFamily="34" charset="-120"/>
              </a:rPr>
              <a:t>partie</a:t>
            </a:r>
            <a:endParaRPr lang="en-US" sz="7200" dirty="0"/>
          </a:p>
        </p:txBody>
      </p:sp>
      <p:sp>
        <p:nvSpPr>
          <p:cNvPr id="7" name="Text 4"/>
          <p:cNvSpPr/>
          <p:nvPr/>
        </p:nvSpPr>
        <p:spPr>
          <a:xfrm>
            <a:off x="5379839" y="5077123"/>
            <a:ext cx="8430500" cy="9810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475" dirty="0">
                <a:solidFill>
                  <a:srgbClr val="0E3145">
                    <a:alpha val="66000"/>
                  </a:srgbClr>
                </a:solidFill>
                <a:latin typeface="Euclid Circular A" pitchFamily="34" charset="0"/>
                <a:ea typeface="Euclid Circular A" pitchFamily="34" charset="-122"/>
                <a:cs typeface="Euclid Circular A" pitchFamily="34" charset="-120"/>
              </a:rPr>
              <a:t>Phrase d'introduction : ce que cette partie va couvrir et pourquoi elle compte.</a:t>
            </a:r>
            <a:endParaRPr lang="en-US" sz="24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Une idée, </a:t>
            </a:r>
            <a:r>
              <a:rPr lang="en-US" sz="6150" kern="0" spc="-184" dirty="0">
                <a:solidFill>
                  <a:srgbClr val="DC216E"/>
                </a:solidFill>
                <a:latin typeface="Euclid Circular A" pitchFamily="34" charset="0"/>
                <a:ea typeface="Euclid Circular A" pitchFamily="34" charset="-122"/>
                <a:cs typeface="Euclid Circular A" pitchFamily="34" charset="-120"/>
              </a:rPr>
              <a:t>développée</a:t>
            </a:r>
            <a:endParaRPr lang="en-US" sz="6150" dirty="0"/>
          </a:p>
        </p:txBody>
      </p:sp>
      <p:sp>
        <p:nvSpPr>
          <p:cNvPr id="5" name="Shape 3"/>
          <p:cNvSpPr/>
          <p:nvPr/>
        </p:nvSpPr>
        <p:spPr>
          <a:xfrm>
            <a:off x="1543050" y="4295843"/>
            <a:ext cx="3238500" cy="3238500"/>
          </a:xfrm>
          <a:prstGeom prst="roundRect">
            <a:avLst>
              <a:gd name="adj" fmla="val 9412"/>
            </a:avLst>
          </a:prstGeom>
          <a:solidFill>
            <a:srgbClr val="FFFFFF"/>
          </a:solidFill>
          <a:ln w="9525">
            <a:solidFill>
              <a:srgbClr val="0E3145">
                <a:alpha val="12000"/>
              </a:srgbClr>
            </a:solidFill>
            <a:prstDash val="solid"/>
          </a:ln>
          <a:effectLst>
            <a:outerShdw blurRad="495300" dist="247650" dir="5400000" algn="bl" rotWithShape="0">
              <a:srgbClr val="0E3145">
                <a:alpha val="30000"/>
              </a:srgbClr>
            </a:outerShdw>
          </a:effectLst>
        </p:spPr>
        <p:txBody>
          <a:bodyPr/>
          <a:lstStyle/>
          <a:p>
            <a:endParaRPr lang="fr-FR"/>
          </a:p>
        </p:txBody>
      </p:sp>
      <p:pic>
        <p:nvPicPr>
          <p:cNvPr id="6" name="Image 0" descr="preencoded.png"/>
          <p:cNvPicPr>
            <a:picLocks noChangeAspect="1"/>
          </p:cNvPicPr>
          <p:nvPr/>
        </p:nvPicPr>
        <p:blipFill>
          <a:blip r:embed="rId3"/>
          <a:srcRect/>
          <a:stretch/>
        </p:blipFill>
        <p:spPr>
          <a:xfrm>
            <a:off x="2305050" y="5057844"/>
            <a:ext cx="1714500" cy="1714500"/>
          </a:xfrm>
          <a:prstGeom prst="rect">
            <a:avLst/>
          </a:prstGeom>
        </p:spPr>
      </p:pic>
      <p:sp>
        <p:nvSpPr>
          <p:cNvPr id="7" name="Text 4"/>
          <p:cNvSpPr/>
          <p:nvPr/>
        </p:nvSpPr>
        <p:spPr>
          <a:xfrm>
            <a:off x="6172200" y="3782924"/>
            <a:ext cx="8795084" cy="1985367"/>
          </a:xfrm>
          <a:prstGeom prst="rect">
            <a:avLst/>
          </a:prstGeom>
          <a:noFill/>
          <a:ln/>
        </p:spPr>
        <p:txBody>
          <a:bodyPr wrap="square" lIns="25400" tIns="25400" rIns="25400" bIns="25400" rtlCol="0" anchor="t">
            <a:normAutofit/>
          </a:bodyPr>
          <a:lstStyle/>
          <a:p>
            <a:pPr marL="0" indent="0" algn="l">
              <a:lnSpc>
                <a:spcPct val="142000"/>
              </a:lnSpc>
              <a:buNone/>
            </a:pPr>
            <a:r>
              <a:rPr lang="en-US" sz="2700" dirty="0">
                <a:solidFill>
                  <a:srgbClr val="0E3145"/>
                </a:solidFill>
                <a:latin typeface="Euclid Circular A" pitchFamily="34" charset="0"/>
                <a:ea typeface="Euclid Circular A" pitchFamily="34" charset="-122"/>
                <a:cs typeface="Euclid Circular A" pitchFamily="34" charset="-120"/>
              </a:rPr>
              <a:t>Votre texte ici. Énoncez l'idée principale en une ou deux phrases, en mettant en valeur les </a:t>
            </a:r>
            <a:r>
              <a:rPr lang="en-US" sz="2700" dirty="0">
                <a:solidFill>
                  <a:srgbClr val="DC216E"/>
                </a:solidFill>
                <a:latin typeface="Euclid Circular A" pitchFamily="34" charset="0"/>
                <a:ea typeface="Euclid Circular A" pitchFamily="34" charset="-122"/>
                <a:cs typeface="Euclid Circular A" pitchFamily="34" charset="-120"/>
              </a:rPr>
              <a:t>mots clés</a:t>
            </a:r>
            <a:r>
              <a:rPr lang="en-US" sz="2700" dirty="0">
                <a:solidFill>
                  <a:srgbClr val="0E3145"/>
                </a:solidFill>
                <a:latin typeface="Euclid Circular A" pitchFamily="34" charset="0"/>
                <a:ea typeface="Euclid Circular A" pitchFamily="34" charset="-122"/>
                <a:cs typeface="Euclid Circular A" pitchFamily="34" charset="-120"/>
              </a:rPr>
              <a:t>.</a:t>
            </a:r>
            <a:endParaRPr lang="en-US" sz="2700" dirty="0"/>
          </a:p>
        </p:txBody>
      </p:sp>
      <p:sp>
        <p:nvSpPr>
          <p:cNvPr id="8" name="Text 5"/>
          <p:cNvSpPr/>
          <p:nvPr/>
        </p:nvSpPr>
        <p:spPr>
          <a:xfrm>
            <a:off x="6172200" y="5996892"/>
            <a:ext cx="8410074" cy="2094905"/>
          </a:xfrm>
          <a:prstGeom prst="rect">
            <a:avLst/>
          </a:prstGeom>
          <a:noFill/>
          <a:ln/>
        </p:spPr>
        <p:txBody>
          <a:bodyPr wrap="square" lIns="25400" tIns="25400" rIns="25400" bIns="25400" rtlCol="0" anchor="t">
            <a:normAutofit/>
          </a:bodyPr>
          <a:lstStyle/>
          <a:p>
            <a:pPr marL="0" indent="0" algn="l">
              <a:lnSpc>
                <a:spcPct val="160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Développez ensuite le raisonnement, l'exemple ou le point d'attention. Gardez un paragraphe court et lisible, projeté à l'écran : trois à quatre lignes suffisent à porter le propos.</a:t>
            </a:r>
            <a:endParaRPr lang="en-US" sz="20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Deux </a:t>
            </a:r>
            <a:r>
              <a:rPr lang="en-US" sz="6150" kern="0" spc="-184" dirty="0">
                <a:solidFill>
                  <a:srgbClr val="DC216E"/>
                </a:solidFill>
                <a:latin typeface="Euclid Circular A" pitchFamily="34" charset="0"/>
                <a:ea typeface="Euclid Circular A" pitchFamily="34" charset="-122"/>
                <a:cs typeface="Euclid Circular A" pitchFamily="34" charset="-120"/>
              </a:rPr>
              <a:t>volets </a:t>
            </a:r>
            <a:r>
              <a:rPr lang="en-US" sz="6150" kern="0" spc="-184" dirty="0">
                <a:solidFill>
                  <a:srgbClr val="0E3145"/>
                </a:solidFill>
                <a:latin typeface="Euclid Circular A" pitchFamily="34" charset="0"/>
                <a:ea typeface="Euclid Circular A" pitchFamily="34" charset="-122"/>
                <a:cs typeface="Euclid Circular A" pitchFamily="34" charset="-120"/>
              </a:rPr>
              <a:t>à présenter</a:t>
            </a:r>
            <a:endParaRPr lang="en-US" sz="6150" dirty="0"/>
          </a:p>
        </p:txBody>
      </p:sp>
      <p:sp>
        <p:nvSpPr>
          <p:cNvPr id="5" name="Shape 3"/>
          <p:cNvSpPr/>
          <p:nvPr/>
        </p:nvSpPr>
        <p:spPr>
          <a:xfrm>
            <a:off x="1066800" y="2438468"/>
            <a:ext cx="7886700" cy="6276975"/>
          </a:xfrm>
          <a:prstGeom prst="roundRect">
            <a:avLst>
              <a:gd name="adj" fmla="val 2731"/>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6" name="Shape 4"/>
          <p:cNvSpPr/>
          <p:nvPr/>
        </p:nvSpPr>
        <p:spPr>
          <a:xfrm>
            <a:off x="1533525" y="2905193"/>
            <a:ext cx="838200" cy="838200"/>
          </a:xfrm>
          <a:prstGeom prst="roundRect">
            <a:avLst>
              <a:gd name="adj" fmla="val 22727"/>
            </a:avLst>
          </a:prstGeom>
          <a:solidFill>
            <a:srgbClr val="DC216E">
              <a:alpha val="8000"/>
            </a:srgbClr>
          </a:solidFill>
          <a:ln w="9525">
            <a:solidFill>
              <a:srgbClr val="DC216E">
                <a:alpha val="22000"/>
              </a:srgbClr>
            </a:solidFill>
            <a:prstDash val="solid"/>
          </a:ln>
        </p:spPr>
        <p:txBody>
          <a:bodyPr/>
          <a:lstStyle/>
          <a:p>
            <a:endParaRPr lang="fr-FR"/>
          </a:p>
        </p:txBody>
      </p:sp>
      <p:pic>
        <p:nvPicPr>
          <p:cNvPr id="7" name="Image 0" descr="preencoded.png"/>
          <p:cNvPicPr>
            <a:picLocks noChangeAspect="1"/>
          </p:cNvPicPr>
          <p:nvPr/>
        </p:nvPicPr>
        <p:blipFill>
          <a:blip r:embed="rId3"/>
          <a:srcRect/>
          <a:stretch/>
        </p:blipFill>
        <p:spPr>
          <a:xfrm>
            <a:off x="1714500" y="3086168"/>
            <a:ext cx="476250" cy="476250"/>
          </a:xfrm>
          <a:prstGeom prst="rect">
            <a:avLst/>
          </a:prstGeom>
        </p:spPr>
      </p:pic>
      <p:sp>
        <p:nvSpPr>
          <p:cNvPr id="8" name="Text 5"/>
          <p:cNvSpPr/>
          <p:nvPr/>
        </p:nvSpPr>
        <p:spPr>
          <a:xfrm>
            <a:off x="1533525" y="4067243"/>
            <a:ext cx="7648575"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SURTITRE</a:t>
            </a:r>
            <a:endParaRPr lang="en-US" sz="1800" dirty="0"/>
          </a:p>
        </p:txBody>
      </p:sp>
      <p:sp>
        <p:nvSpPr>
          <p:cNvPr id="9" name="Text 6"/>
          <p:cNvSpPr/>
          <p:nvPr/>
        </p:nvSpPr>
        <p:spPr>
          <a:xfrm>
            <a:off x="1533525" y="4486343"/>
            <a:ext cx="7648575" cy="542925"/>
          </a:xfrm>
          <a:prstGeom prst="rect">
            <a:avLst/>
          </a:prstGeom>
          <a:noFill/>
          <a:ln/>
        </p:spPr>
        <p:txBody>
          <a:bodyPr wrap="square" lIns="25400" tIns="25400" rIns="25400" bIns="25400" rtlCol="0" anchor="t">
            <a:normAutofit/>
          </a:bodyPr>
          <a:lstStyle/>
          <a:p>
            <a:pPr marL="0" indent="0" algn="l">
              <a:buNone/>
            </a:pPr>
            <a:r>
              <a:rPr lang="en-US" sz="3150" kern="0" spc="-47" dirty="0">
                <a:solidFill>
                  <a:srgbClr val="0E3145"/>
                </a:solidFill>
                <a:latin typeface="Euclid Circular A" pitchFamily="34" charset="0"/>
                <a:ea typeface="Euclid Circular A" pitchFamily="34" charset="-122"/>
                <a:cs typeface="Euclid Circular A" pitchFamily="34" charset="-120"/>
              </a:rPr>
              <a:t>Titre de la carte</a:t>
            </a:r>
            <a:endParaRPr lang="en-US" sz="3150" dirty="0"/>
          </a:p>
        </p:txBody>
      </p:sp>
      <p:sp>
        <p:nvSpPr>
          <p:cNvPr id="10" name="Text 7"/>
          <p:cNvSpPr/>
          <p:nvPr/>
        </p:nvSpPr>
        <p:spPr>
          <a:xfrm>
            <a:off x="1533525" y="5162617"/>
            <a:ext cx="7161848" cy="835223"/>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Description de la carte en deux ou trois lignes. Présentez le point clé, sans surcharger.</a:t>
            </a:r>
            <a:endParaRPr lang="en-US" sz="2025" dirty="0"/>
          </a:p>
        </p:txBody>
      </p:sp>
      <p:sp>
        <p:nvSpPr>
          <p:cNvPr id="11" name="Shape 8"/>
          <p:cNvSpPr/>
          <p:nvPr/>
        </p:nvSpPr>
        <p:spPr>
          <a:xfrm>
            <a:off x="9334500" y="2438468"/>
            <a:ext cx="7886700" cy="6276975"/>
          </a:xfrm>
          <a:prstGeom prst="roundRect">
            <a:avLst>
              <a:gd name="adj" fmla="val 2731"/>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12" name="Shape 9"/>
          <p:cNvSpPr/>
          <p:nvPr/>
        </p:nvSpPr>
        <p:spPr>
          <a:xfrm>
            <a:off x="9801225" y="2905193"/>
            <a:ext cx="838200" cy="838200"/>
          </a:xfrm>
          <a:prstGeom prst="roundRect">
            <a:avLst>
              <a:gd name="adj" fmla="val 22727"/>
            </a:avLst>
          </a:prstGeom>
          <a:solidFill>
            <a:srgbClr val="DC216E">
              <a:alpha val="8000"/>
            </a:srgbClr>
          </a:solidFill>
          <a:ln w="9525">
            <a:solidFill>
              <a:srgbClr val="DC216E">
                <a:alpha val="22000"/>
              </a:srgbClr>
            </a:solidFill>
            <a:prstDash val="solid"/>
          </a:ln>
        </p:spPr>
        <p:txBody>
          <a:bodyPr/>
          <a:lstStyle/>
          <a:p>
            <a:endParaRPr lang="fr-FR"/>
          </a:p>
        </p:txBody>
      </p:sp>
      <p:pic>
        <p:nvPicPr>
          <p:cNvPr id="13" name="Image 1" descr="preencoded.png"/>
          <p:cNvPicPr>
            <a:picLocks noChangeAspect="1"/>
          </p:cNvPicPr>
          <p:nvPr/>
        </p:nvPicPr>
        <p:blipFill>
          <a:blip r:embed="rId4"/>
          <a:srcRect/>
          <a:stretch/>
        </p:blipFill>
        <p:spPr>
          <a:xfrm>
            <a:off x="9982200" y="3086168"/>
            <a:ext cx="476250" cy="476250"/>
          </a:xfrm>
          <a:prstGeom prst="rect">
            <a:avLst/>
          </a:prstGeom>
        </p:spPr>
      </p:pic>
      <p:sp>
        <p:nvSpPr>
          <p:cNvPr id="14" name="Text 10"/>
          <p:cNvSpPr/>
          <p:nvPr/>
        </p:nvSpPr>
        <p:spPr>
          <a:xfrm>
            <a:off x="9801225" y="4067243"/>
            <a:ext cx="7648575"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SURTITRE</a:t>
            </a:r>
            <a:endParaRPr lang="en-US" sz="1800" dirty="0"/>
          </a:p>
        </p:txBody>
      </p:sp>
      <p:sp>
        <p:nvSpPr>
          <p:cNvPr id="15" name="Text 11"/>
          <p:cNvSpPr/>
          <p:nvPr/>
        </p:nvSpPr>
        <p:spPr>
          <a:xfrm>
            <a:off x="9801225" y="4486343"/>
            <a:ext cx="7648575" cy="542925"/>
          </a:xfrm>
          <a:prstGeom prst="rect">
            <a:avLst/>
          </a:prstGeom>
          <a:noFill/>
          <a:ln/>
        </p:spPr>
        <p:txBody>
          <a:bodyPr wrap="square" lIns="25400" tIns="25400" rIns="25400" bIns="25400" rtlCol="0" anchor="t">
            <a:normAutofit/>
          </a:bodyPr>
          <a:lstStyle/>
          <a:p>
            <a:pPr marL="0" indent="0" algn="l">
              <a:buNone/>
            </a:pPr>
            <a:r>
              <a:rPr lang="en-US" sz="3150" kern="0" spc="-47" dirty="0">
                <a:solidFill>
                  <a:srgbClr val="0E3145"/>
                </a:solidFill>
                <a:latin typeface="Euclid Circular A" pitchFamily="34" charset="0"/>
                <a:ea typeface="Euclid Circular A" pitchFamily="34" charset="-122"/>
                <a:cs typeface="Euclid Circular A" pitchFamily="34" charset="-120"/>
              </a:rPr>
              <a:t>Titre de la carte</a:t>
            </a:r>
            <a:endParaRPr lang="en-US" sz="3150" dirty="0"/>
          </a:p>
        </p:txBody>
      </p:sp>
      <p:sp>
        <p:nvSpPr>
          <p:cNvPr id="16" name="Text 12"/>
          <p:cNvSpPr/>
          <p:nvPr/>
        </p:nvSpPr>
        <p:spPr>
          <a:xfrm>
            <a:off x="9801225" y="5162617"/>
            <a:ext cx="7161848" cy="835223"/>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Description de la carte en deux ou trois lignes. Présentez le point clé, sans surcharger.</a:t>
            </a:r>
            <a:endParaRPr lang="en-US" sz="20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Trois </a:t>
            </a:r>
            <a:r>
              <a:rPr lang="en-US" sz="6150" kern="0" spc="-184" dirty="0">
                <a:solidFill>
                  <a:srgbClr val="DC216E"/>
                </a:solidFill>
                <a:latin typeface="Euclid Circular A" pitchFamily="34" charset="0"/>
                <a:ea typeface="Euclid Circular A" pitchFamily="34" charset="-122"/>
                <a:cs typeface="Euclid Circular A" pitchFamily="34" charset="-120"/>
              </a:rPr>
              <a:t>piliers </a:t>
            </a:r>
            <a:r>
              <a:rPr lang="en-US" sz="6150" kern="0" spc="-184" dirty="0">
                <a:solidFill>
                  <a:srgbClr val="0E3145"/>
                </a:solidFill>
                <a:latin typeface="Euclid Circular A" pitchFamily="34" charset="0"/>
                <a:ea typeface="Euclid Circular A" pitchFamily="34" charset="-122"/>
                <a:cs typeface="Euclid Circular A" pitchFamily="34" charset="-120"/>
              </a:rPr>
              <a:t>à présenter</a:t>
            </a:r>
            <a:endParaRPr lang="en-US" sz="6150" dirty="0"/>
          </a:p>
        </p:txBody>
      </p:sp>
      <p:sp>
        <p:nvSpPr>
          <p:cNvPr id="5" name="Shape 3"/>
          <p:cNvSpPr/>
          <p:nvPr/>
        </p:nvSpPr>
        <p:spPr>
          <a:xfrm>
            <a:off x="1066800" y="2438469"/>
            <a:ext cx="5168801" cy="6276975"/>
          </a:xfrm>
          <a:prstGeom prst="roundRect">
            <a:avLst>
              <a:gd name="adj" fmla="val 3317"/>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6" name="Shape 4"/>
          <p:cNvSpPr/>
          <p:nvPr/>
        </p:nvSpPr>
        <p:spPr>
          <a:xfrm>
            <a:off x="1457325" y="2828994"/>
            <a:ext cx="762000" cy="762000"/>
          </a:xfrm>
          <a:prstGeom prst="roundRect">
            <a:avLst>
              <a:gd name="adj" fmla="val 22500"/>
            </a:avLst>
          </a:prstGeom>
          <a:solidFill>
            <a:srgbClr val="DC216E">
              <a:alpha val="8000"/>
            </a:srgbClr>
          </a:solidFill>
          <a:ln w="9525">
            <a:solidFill>
              <a:srgbClr val="DC216E">
                <a:alpha val="22000"/>
              </a:srgbClr>
            </a:solidFill>
            <a:prstDash val="solid"/>
          </a:ln>
        </p:spPr>
        <p:txBody>
          <a:bodyPr/>
          <a:lstStyle/>
          <a:p>
            <a:endParaRPr lang="fr-FR"/>
          </a:p>
        </p:txBody>
      </p:sp>
      <p:pic>
        <p:nvPicPr>
          <p:cNvPr id="7" name="Image 0" descr="preencoded.png"/>
          <p:cNvPicPr>
            <a:picLocks noChangeAspect="1"/>
          </p:cNvPicPr>
          <p:nvPr/>
        </p:nvPicPr>
        <p:blipFill>
          <a:blip r:embed="rId3"/>
          <a:srcRect/>
          <a:stretch/>
        </p:blipFill>
        <p:spPr>
          <a:xfrm>
            <a:off x="1619250" y="2990919"/>
            <a:ext cx="438150" cy="438150"/>
          </a:xfrm>
          <a:prstGeom prst="rect">
            <a:avLst/>
          </a:prstGeom>
        </p:spPr>
      </p:pic>
      <p:sp>
        <p:nvSpPr>
          <p:cNvPr id="8" name="Text 5"/>
          <p:cNvSpPr/>
          <p:nvPr/>
        </p:nvSpPr>
        <p:spPr>
          <a:xfrm>
            <a:off x="1457325" y="3857694"/>
            <a:ext cx="4826526"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SURTITRE</a:t>
            </a:r>
            <a:endParaRPr lang="en-US" sz="1800" dirty="0"/>
          </a:p>
        </p:txBody>
      </p:sp>
      <p:sp>
        <p:nvSpPr>
          <p:cNvPr id="9" name="Text 6"/>
          <p:cNvSpPr/>
          <p:nvPr/>
        </p:nvSpPr>
        <p:spPr>
          <a:xfrm>
            <a:off x="1457325" y="4257744"/>
            <a:ext cx="4826526" cy="447675"/>
          </a:xfrm>
          <a:prstGeom prst="rect">
            <a:avLst/>
          </a:prstGeom>
          <a:noFill/>
          <a:ln/>
        </p:spPr>
        <p:txBody>
          <a:bodyPr wrap="square" lIns="25400" tIns="25400" rIns="25400" bIns="25400" rtlCol="0" anchor="t">
            <a:normAutofit/>
          </a:bodyPr>
          <a:lstStyle/>
          <a:p>
            <a:pPr marL="0" indent="0" algn="l">
              <a:buNone/>
            </a:pPr>
            <a:r>
              <a:rPr lang="en-US" sz="2550" kern="0" spc="-25" dirty="0">
                <a:solidFill>
                  <a:srgbClr val="0E3145"/>
                </a:solidFill>
                <a:latin typeface="Euclid Circular A" pitchFamily="34" charset="0"/>
                <a:ea typeface="Euclid Circular A" pitchFamily="34" charset="-122"/>
                <a:cs typeface="Euclid Circular A" pitchFamily="34" charset="-120"/>
              </a:rPr>
              <a:t>Titre de carte</a:t>
            </a:r>
            <a:endParaRPr lang="en-US" sz="2550" dirty="0"/>
          </a:p>
        </p:txBody>
      </p:sp>
      <p:sp>
        <p:nvSpPr>
          <p:cNvPr id="10" name="Text 7"/>
          <p:cNvSpPr/>
          <p:nvPr/>
        </p:nvSpPr>
        <p:spPr>
          <a:xfrm>
            <a:off x="1457325" y="4800669"/>
            <a:ext cx="4519383" cy="746522"/>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courte de la carte, deux à trois lignes.</a:t>
            </a:r>
            <a:endParaRPr lang="en-US" sz="1800" dirty="0"/>
          </a:p>
        </p:txBody>
      </p:sp>
      <p:sp>
        <p:nvSpPr>
          <p:cNvPr id="11" name="Shape 8"/>
          <p:cNvSpPr/>
          <p:nvPr/>
        </p:nvSpPr>
        <p:spPr>
          <a:xfrm>
            <a:off x="6559451" y="2438469"/>
            <a:ext cx="5168950" cy="6276975"/>
          </a:xfrm>
          <a:prstGeom prst="roundRect">
            <a:avLst>
              <a:gd name="adj" fmla="val 3317"/>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12" name="Shape 9"/>
          <p:cNvSpPr/>
          <p:nvPr/>
        </p:nvSpPr>
        <p:spPr>
          <a:xfrm>
            <a:off x="6949976" y="2828994"/>
            <a:ext cx="762000" cy="762000"/>
          </a:xfrm>
          <a:prstGeom prst="roundRect">
            <a:avLst>
              <a:gd name="adj" fmla="val 22500"/>
            </a:avLst>
          </a:prstGeom>
          <a:solidFill>
            <a:srgbClr val="DC216E">
              <a:alpha val="8000"/>
            </a:srgbClr>
          </a:solidFill>
          <a:ln w="9525">
            <a:solidFill>
              <a:srgbClr val="DC216E">
                <a:alpha val="22000"/>
              </a:srgbClr>
            </a:solidFill>
            <a:prstDash val="solid"/>
          </a:ln>
        </p:spPr>
        <p:txBody>
          <a:bodyPr/>
          <a:lstStyle/>
          <a:p>
            <a:endParaRPr lang="fr-FR"/>
          </a:p>
        </p:txBody>
      </p:sp>
      <p:pic>
        <p:nvPicPr>
          <p:cNvPr id="13" name="Image 1" descr="preencoded.png"/>
          <p:cNvPicPr>
            <a:picLocks noChangeAspect="1"/>
          </p:cNvPicPr>
          <p:nvPr/>
        </p:nvPicPr>
        <p:blipFill>
          <a:blip r:embed="rId4"/>
          <a:srcRect/>
          <a:stretch/>
        </p:blipFill>
        <p:spPr>
          <a:xfrm>
            <a:off x="7111901" y="2990919"/>
            <a:ext cx="438150" cy="438150"/>
          </a:xfrm>
          <a:prstGeom prst="rect">
            <a:avLst/>
          </a:prstGeom>
        </p:spPr>
      </p:pic>
      <p:sp>
        <p:nvSpPr>
          <p:cNvPr id="14" name="Text 10"/>
          <p:cNvSpPr/>
          <p:nvPr/>
        </p:nvSpPr>
        <p:spPr>
          <a:xfrm>
            <a:off x="6949976" y="3857694"/>
            <a:ext cx="482669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SURTITRE</a:t>
            </a:r>
            <a:endParaRPr lang="en-US" sz="1800" dirty="0"/>
          </a:p>
        </p:txBody>
      </p:sp>
      <p:sp>
        <p:nvSpPr>
          <p:cNvPr id="15" name="Text 11"/>
          <p:cNvSpPr/>
          <p:nvPr/>
        </p:nvSpPr>
        <p:spPr>
          <a:xfrm>
            <a:off x="6949976" y="4257744"/>
            <a:ext cx="4826690" cy="447675"/>
          </a:xfrm>
          <a:prstGeom prst="rect">
            <a:avLst/>
          </a:prstGeom>
          <a:noFill/>
          <a:ln/>
        </p:spPr>
        <p:txBody>
          <a:bodyPr wrap="square" lIns="25400" tIns="25400" rIns="25400" bIns="25400" rtlCol="0" anchor="t">
            <a:normAutofit/>
          </a:bodyPr>
          <a:lstStyle/>
          <a:p>
            <a:pPr marL="0" indent="0" algn="l">
              <a:buNone/>
            </a:pPr>
            <a:r>
              <a:rPr lang="en-US" sz="2550" kern="0" spc="-25" dirty="0">
                <a:solidFill>
                  <a:srgbClr val="0E3145"/>
                </a:solidFill>
                <a:latin typeface="Euclid Circular A" pitchFamily="34" charset="0"/>
                <a:ea typeface="Euclid Circular A" pitchFamily="34" charset="-122"/>
                <a:cs typeface="Euclid Circular A" pitchFamily="34" charset="-120"/>
              </a:rPr>
              <a:t>Titre de carte</a:t>
            </a:r>
            <a:endParaRPr lang="en-US" sz="2550" dirty="0"/>
          </a:p>
        </p:txBody>
      </p:sp>
      <p:sp>
        <p:nvSpPr>
          <p:cNvPr id="16" name="Text 12"/>
          <p:cNvSpPr/>
          <p:nvPr/>
        </p:nvSpPr>
        <p:spPr>
          <a:xfrm>
            <a:off x="6949976" y="4800669"/>
            <a:ext cx="4519537" cy="746522"/>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courte de la carte, deux à trois lignes.</a:t>
            </a:r>
            <a:endParaRPr lang="en-US" sz="1800" dirty="0"/>
          </a:p>
        </p:txBody>
      </p:sp>
      <p:sp>
        <p:nvSpPr>
          <p:cNvPr id="17" name="Shape 13"/>
          <p:cNvSpPr/>
          <p:nvPr/>
        </p:nvSpPr>
        <p:spPr>
          <a:xfrm>
            <a:off x="12052250" y="2438469"/>
            <a:ext cx="5168950" cy="6276975"/>
          </a:xfrm>
          <a:prstGeom prst="roundRect">
            <a:avLst>
              <a:gd name="adj" fmla="val 3317"/>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18" name="Shape 14"/>
          <p:cNvSpPr/>
          <p:nvPr/>
        </p:nvSpPr>
        <p:spPr>
          <a:xfrm>
            <a:off x="12442775" y="2828994"/>
            <a:ext cx="762000" cy="762000"/>
          </a:xfrm>
          <a:prstGeom prst="roundRect">
            <a:avLst>
              <a:gd name="adj" fmla="val 22500"/>
            </a:avLst>
          </a:prstGeom>
          <a:solidFill>
            <a:srgbClr val="DC216E">
              <a:alpha val="8000"/>
            </a:srgbClr>
          </a:solidFill>
          <a:ln w="9525">
            <a:solidFill>
              <a:srgbClr val="DC216E">
                <a:alpha val="22000"/>
              </a:srgbClr>
            </a:solidFill>
            <a:prstDash val="solid"/>
          </a:ln>
        </p:spPr>
        <p:txBody>
          <a:bodyPr/>
          <a:lstStyle/>
          <a:p>
            <a:endParaRPr lang="fr-FR"/>
          </a:p>
        </p:txBody>
      </p:sp>
      <p:pic>
        <p:nvPicPr>
          <p:cNvPr id="19" name="Image 2" descr="preencoded.png"/>
          <p:cNvPicPr>
            <a:picLocks noChangeAspect="1"/>
          </p:cNvPicPr>
          <p:nvPr/>
        </p:nvPicPr>
        <p:blipFill>
          <a:blip r:embed="rId5"/>
          <a:srcRect/>
          <a:stretch/>
        </p:blipFill>
        <p:spPr>
          <a:xfrm>
            <a:off x="12604700" y="2990919"/>
            <a:ext cx="438150" cy="438150"/>
          </a:xfrm>
          <a:prstGeom prst="rect">
            <a:avLst/>
          </a:prstGeom>
        </p:spPr>
      </p:pic>
      <p:sp>
        <p:nvSpPr>
          <p:cNvPr id="20" name="Text 15"/>
          <p:cNvSpPr/>
          <p:nvPr/>
        </p:nvSpPr>
        <p:spPr>
          <a:xfrm>
            <a:off x="12442775" y="3857694"/>
            <a:ext cx="482669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SURTITRE</a:t>
            </a:r>
            <a:endParaRPr lang="en-US" sz="1800" dirty="0"/>
          </a:p>
        </p:txBody>
      </p:sp>
      <p:sp>
        <p:nvSpPr>
          <p:cNvPr id="21" name="Text 16"/>
          <p:cNvSpPr/>
          <p:nvPr/>
        </p:nvSpPr>
        <p:spPr>
          <a:xfrm>
            <a:off x="12442775" y="4257744"/>
            <a:ext cx="4826690" cy="447675"/>
          </a:xfrm>
          <a:prstGeom prst="rect">
            <a:avLst/>
          </a:prstGeom>
          <a:noFill/>
          <a:ln/>
        </p:spPr>
        <p:txBody>
          <a:bodyPr wrap="square" lIns="25400" tIns="25400" rIns="25400" bIns="25400" rtlCol="0" anchor="t">
            <a:normAutofit/>
          </a:bodyPr>
          <a:lstStyle/>
          <a:p>
            <a:pPr marL="0" indent="0" algn="l">
              <a:buNone/>
            </a:pPr>
            <a:r>
              <a:rPr lang="en-US" sz="2550" kern="0" spc="-25" dirty="0">
                <a:solidFill>
                  <a:srgbClr val="0E3145"/>
                </a:solidFill>
                <a:latin typeface="Euclid Circular A" pitchFamily="34" charset="0"/>
                <a:ea typeface="Euclid Circular A" pitchFamily="34" charset="-122"/>
                <a:cs typeface="Euclid Circular A" pitchFamily="34" charset="-120"/>
              </a:rPr>
              <a:t>Titre de carte</a:t>
            </a:r>
            <a:endParaRPr lang="en-US" sz="2550" dirty="0"/>
          </a:p>
        </p:txBody>
      </p:sp>
      <p:sp>
        <p:nvSpPr>
          <p:cNvPr id="22" name="Text 17"/>
          <p:cNvSpPr/>
          <p:nvPr/>
        </p:nvSpPr>
        <p:spPr>
          <a:xfrm>
            <a:off x="12442775" y="4800669"/>
            <a:ext cx="4519537" cy="746522"/>
          </a:xfrm>
          <a:prstGeom prst="rect">
            <a:avLst/>
          </a:prstGeom>
          <a:noFill/>
          <a:ln/>
        </p:spPr>
        <p:txBody>
          <a:bodyPr wrap="square" lIns="25400" tIns="25400" rIns="25400" bIns="25400" rtlCol="0" anchor="t">
            <a:normAutofit fontScale="92500" lnSpcReduction="20000"/>
          </a:bodyPr>
          <a:lstStyle/>
          <a:p>
            <a:pPr marL="0" indent="0" algn="l">
              <a:lnSpc>
                <a:spcPct val="155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courte de la carte, deux à trois lignes.</a:t>
            </a:r>
            <a:endParaRPr lang="en-US" sz="1800" dirty="0"/>
          </a:p>
        </p:txBody>
      </p:sp>
      <p:sp>
        <p:nvSpPr>
          <p:cNvPr id="23" name="Shape 18"/>
          <p:cNvSpPr/>
          <p:nvPr/>
        </p:nvSpPr>
        <p:spPr>
          <a:xfrm>
            <a:off x="1066800" y="9099664"/>
            <a:ext cx="16154400" cy="9525"/>
          </a:xfrm>
          <a:prstGeom prst="rect">
            <a:avLst/>
          </a:prstGeom>
          <a:solidFill>
            <a:srgbClr val="0E3145">
              <a:alpha val="12000"/>
            </a:srgbClr>
          </a:solidFill>
          <a:ln/>
        </p:spPr>
        <p:txBody>
          <a:bodyPr/>
          <a:lstStyle/>
          <a:p>
            <a:endParaRPr lang="fr-F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8F3"/>
        </a:solidFill>
        <a:effectLst/>
      </p:bgPr>
    </p:bg>
    <p:spTree>
      <p:nvGrpSpPr>
        <p:cNvPr id="1" name="">
          <a:extLst>
            <a:ext uri="{FF2B5EF4-FFF2-40B4-BE49-F238E27FC236}">
              <a16:creationId xmlns:a16="http://schemas.microsoft.com/office/drawing/2014/main" id="{1498C742-081F-ADDA-F91F-583D74FA57A6}"/>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8D57207-7151-8A1F-0C8C-74F31E9B5124}"/>
              </a:ext>
            </a:extLst>
          </p:cNvPr>
          <p:cNvSpPr/>
          <p:nvPr/>
        </p:nvSpPr>
        <p:spPr>
          <a:xfrm>
            <a:off x="1066800" y="914400"/>
            <a:ext cx="323850" cy="19050"/>
          </a:xfrm>
          <a:prstGeom prst="rect">
            <a:avLst/>
          </a:prstGeom>
          <a:solidFill>
            <a:srgbClr val="DC216E"/>
          </a:solidFill>
          <a:ln/>
        </p:spPr>
        <p:txBody>
          <a:bodyPr/>
          <a:lstStyle/>
          <a:p>
            <a:endParaRPr lang="fr-FR"/>
          </a:p>
        </p:txBody>
      </p:sp>
      <p:sp>
        <p:nvSpPr>
          <p:cNvPr id="3" name="Text 1">
            <a:extLst>
              <a:ext uri="{FF2B5EF4-FFF2-40B4-BE49-F238E27FC236}">
                <a16:creationId xmlns:a16="http://schemas.microsoft.com/office/drawing/2014/main" id="{E58F0CCF-256F-92CF-657D-98070E65F4E7}"/>
              </a:ext>
            </a:extLst>
          </p:cNvPr>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a:extLst>
              <a:ext uri="{FF2B5EF4-FFF2-40B4-BE49-F238E27FC236}">
                <a16:creationId xmlns:a16="http://schemas.microsoft.com/office/drawing/2014/main" id="{38DEA3BA-7546-447F-43A2-6E88EC32EC0F}"/>
              </a:ext>
            </a:extLst>
          </p:cNvPr>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Trois </a:t>
            </a:r>
            <a:r>
              <a:rPr lang="en-US" sz="6150" kern="0" spc="-184" dirty="0">
                <a:solidFill>
                  <a:srgbClr val="DC216E"/>
                </a:solidFill>
                <a:latin typeface="Euclid Circular A" pitchFamily="34" charset="0"/>
                <a:ea typeface="Euclid Circular A" pitchFamily="34" charset="-122"/>
                <a:cs typeface="Euclid Circular A" pitchFamily="34" charset="-120"/>
              </a:rPr>
              <a:t>piliers </a:t>
            </a:r>
            <a:r>
              <a:rPr lang="en-US" sz="6150" kern="0" spc="-184" dirty="0">
                <a:solidFill>
                  <a:srgbClr val="0E3145"/>
                </a:solidFill>
                <a:latin typeface="Euclid Circular A" pitchFamily="34" charset="0"/>
                <a:ea typeface="Euclid Circular A" pitchFamily="34" charset="-122"/>
                <a:cs typeface="Euclid Circular A" pitchFamily="34" charset="-120"/>
              </a:rPr>
              <a:t>à présenter</a:t>
            </a:r>
            <a:endParaRPr lang="en-US" sz="6150" dirty="0"/>
          </a:p>
        </p:txBody>
      </p:sp>
      <p:sp>
        <p:nvSpPr>
          <p:cNvPr id="23" name="Shape 18">
            <a:extLst>
              <a:ext uri="{FF2B5EF4-FFF2-40B4-BE49-F238E27FC236}">
                <a16:creationId xmlns:a16="http://schemas.microsoft.com/office/drawing/2014/main" id="{B0779EC2-6258-7AD2-B594-A3129491CE13}"/>
              </a:ext>
            </a:extLst>
          </p:cNvPr>
          <p:cNvSpPr/>
          <p:nvPr/>
        </p:nvSpPr>
        <p:spPr>
          <a:xfrm>
            <a:off x="1066800" y="9099664"/>
            <a:ext cx="16154400" cy="9525"/>
          </a:xfrm>
          <a:prstGeom prst="rect">
            <a:avLst/>
          </a:prstGeom>
          <a:solidFill>
            <a:srgbClr val="0E3145">
              <a:alpha val="12000"/>
            </a:srgbClr>
          </a:solidFill>
          <a:ln/>
        </p:spPr>
        <p:txBody>
          <a:bodyPr/>
          <a:lstStyle/>
          <a:p>
            <a:endParaRPr lang="fr-FR"/>
          </a:p>
        </p:txBody>
      </p:sp>
      <p:pic>
        <p:nvPicPr>
          <p:cNvPr id="24" name="Image 3" descr="preencoded.png">
            <a:extLst>
              <a:ext uri="{FF2B5EF4-FFF2-40B4-BE49-F238E27FC236}">
                <a16:creationId xmlns:a16="http://schemas.microsoft.com/office/drawing/2014/main" id="{EC4892AC-38C8-CE96-1833-5BBC169A96C8}"/>
              </a:ext>
            </a:extLst>
          </p:cNvPr>
          <p:cNvPicPr>
            <a:picLocks noChangeAspect="1"/>
          </p:cNvPicPr>
          <p:nvPr/>
        </p:nvPicPr>
        <p:blipFill>
          <a:blip r:embed="rId3"/>
          <a:stretch>
            <a:fillRect/>
          </a:stretch>
        </p:blipFill>
        <p:spPr>
          <a:xfrm>
            <a:off x="1066800" y="9337789"/>
            <a:ext cx="607516" cy="285750"/>
          </a:xfrm>
          <a:prstGeom prst="rect">
            <a:avLst/>
          </a:prstGeom>
        </p:spPr>
      </p:pic>
      <p:sp>
        <p:nvSpPr>
          <p:cNvPr id="25" name="Shape 19">
            <a:extLst>
              <a:ext uri="{FF2B5EF4-FFF2-40B4-BE49-F238E27FC236}">
                <a16:creationId xmlns:a16="http://schemas.microsoft.com/office/drawing/2014/main" id="{89AB769C-B148-7868-35EC-85F155CB12BA}"/>
              </a:ext>
            </a:extLst>
          </p:cNvPr>
          <p:cNvSpPr/>
          <p:nvPr/>
        </p:nvSpPr>
        <p:spPr>
          <a:xfrm>
            <a:off x="1845766" y="9375889"/>
            <a:ext cx="9525" cy="209550"/>
          </a:xfrm>
          <a:prstGeom prst="rect">
            <a:avLst/>
          </a:prstGeom>
          <a:solidFill>
            <a:srgbClr val="0E3145">
              <a:alpha val="12000"/>
            </a:srgbClr>
          </a:solidFill>
          <a:ln/>
        </p:spPr>
        <p:txBody>
          <a:bodyPr/>
          <a:lstStyle/>
          <a:p>
            <a:endParaRPr lang="fr-FR"/>
          </a:p>
        </p:txBody>
      </p:sp>
      <p:sp>
        <p:nvSpPr>
          <p:cNvPr id="30" name="Rectangle : avec coins arrondis en haut 29">
            <a:extLst>
              <a:ext uri="{FF2B5EF4-FFF2-40B4-BE49-F238E27FC236}">
                <a16:creationId xmlns:a16="http://schemas.microsoft.com/office/drawing/2014/main" id="{9199E2B5-7E01-3BDC-299A-D50F2E661129}"/>
              </a:ext>
            </a:extLst>
          </p:cNvPr>
          <p:cNvSpPr/>
          <p:nvPr/>
        </p:nvSpPr>
        <p:spPr>
          <a:xfrm>
            <a:off x="1107941" y="2320160"/>
            <a:ext cx="5184575" cy="369540"/>
          </a:xfrm>
          <a:prstGeom prst="round2SameRect">
            <a:avLst>
              <a:gd name="adj1" fmla="val 50000"/>
              <a:gd name="adj2" fmla="val 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1" name="Shape 2">
            <a:extLst>
              <a:ext uri="{FF2B5EF4-FFF2-40B4-BE49-F238E27FC236}">
                <a16:creationId xmlns:a16="http://schemas.microsoft.com/office/drawing/2014/main" id="{30DA1538-D53C-DC62-E2A7-3BA467893DFF}"/>
              </a:ext>
            </a:extLst>
          </p:cNvPr>
          <p:cNvSpPr/>
          <p:nvPr/>
        </p:nvSpPr>
        <p:spPr>
          <a:xfrm>
            <a:off x="1098267" y="2384327"/>
            <a:ext cx="5194250" cy="6364802"/>
          </a:xfrm>
          <a:prstGeom prst="roundRect">
            <a:avLst>
              <a:gd name="adj" fmla="val 3301"/>
            </a:avLst>
          </a:prstGeom>
          <a:solidFill>
            <a:schemeClr val="accent6"/>
          </a:solidFill>
          <a:ln w="9525">
            <a:solidFill>
              <a:srgbClr val="0E3145">
                <a:alpha val="14000"/>
              </a:srgbClr>
            </a:solidFill>
            <a:prstDash val="solid"/>
          </a:ln>
          <a:effectLst>
            <a:outerShdw blurRad="50800" dist="38100" dir="5400000" algn="t" rotWithShape="0">
              <a:prstClr val="black">
                <a:alpha val="40000"/>
              </a:prstClr>
            </a:outerShdw>
          </a:effectLst>
        </p:spPr>
        <p:txBody>
          <a:bodyPr/>
          <a:lstStyle/>
          <a:p>
            <a:endParaRPr lang="fr-FR"/>
          </a:p>
        </p:txBody>
      </p:sp>
      <p:sp>
        <p:nvSpPr>
          <p:cNvPr id="32" name="Text 4">
            <a:extLst>
              <a:ext uri="{FF2B5EF4-FFF2-40B4-BE49-F238E27FC236}">
                <a16:creationId xmlns:a16="http://schemas.microsoft.com/office/drawing/2014/main" id="{460DFCF6-A9A1-9E5D-CC54-55300839107E}"/>
              </a:ext>
            </a:extLst>
          </p:cNvPr>
          <p:cNvSpPr/>
          <p:nvPr/>
        </p:nvSpPr>
        <p:spPr>
          <a:xfrm>
            <a:off x="1450692" y="2661170"/>
            <a:ext cx="4624082" cy="369540"/>
          </a:xfrm>
          <a:prstGeom prst="rect">
            <a:avLst/>
          </a:prstGeom>
          <a:noFill/>
          <a:ln/>
        </p:spPr>
        <p:txBody>
          <a:bodyPr wrap="square" lIns="25400" tIns="25400" rIns="25400" bIns="25400" rtlCol="0" anchor="t">
            <a:noAutofit/>
          </a:bodyPr>
          <a:lstStyle/>
          <a:p>
            <a:pPr marL="0" indent="0" algn="l">
              <a:lnSpc>
                <a:spcPct val="145000"/>
              </a:lnSpc>
              <a:buNone/>
            </a:pPr>
            <a:r>
              <a:rPr lang="en-US" sz="2400" kern="0" spc="360" dirty="0">
                <a:solidFill>
                  <a:srgbClr val="0E3145">
                    <a:alpha val="40000"/>
                  </a:srgbClr>
                </a:solidFill>
                <a:latin typeface="Euclid Circular A" panose="020B0504000000000000" pitchFamily="34" charset="0"/>
                <a:ea typeface="Euclid Circular A" panose="020B0504000000000000" pitchFamily="34" charset="0"/>
                <a:cs typeface="Arial" pitchFamily="34" charset="-120"/>
              </a:rPr>
              <a:t>SURTITRE</a:t>
            </a:r>
            <a:endParaRPr lang="en-US" sz="2400" dirty="0"/>
          </a:p>
        </p:txBody>
      </p:sp>
      <p:sp>
        <p:nvSpPr>
          <p:cNvPr id="33" name="Text 5">
            <a:extLst>
              <a:ext uri="{FF2B5EF4-FFF2-40B4-BE49-F238E27FC236}">
                <a16:creationId xmlns:a16="http://schemas.microsoft.com/office/drawing/2014/main" id="{294F581C-ED9D-ACD8-54FE-1572489D49BF}"/>
              </a:ext>
            </a:extLst>
          </p:cNvPr>
          <p:cNvSpPr/>
          <p:nvPr/>
        </p:nvSpPr>
        <p:spPr>
          <a:xfrm>
            <a:off x="1450692" y="3296792"/>
            <a:ext cx="4624082" cy="398115"/>
          </a:xfrm>
          <a:prstGeom prst="rect">
            <a:avLst/>
          </a:prstGeom>
          <a:noFill/>
          <a:ln/>
        </p:spPr>
        <p:txBody>
          <a:bodyPr wrap="square" lIns="25400" tIns="25400" rIns="25400" bIns="25400" rtlCol="0" anchor="t">
            <a:noAutofit/>
          </a:bodyPr>
          <a:lstStyle/>
          <a:p>
            <a:pPr marL="0" indent="0" algn="l">
              <a:lnSpc>
                <a:spcPct val="105000"/>
              </a:lnSpc>
              <a:buNone/>
            </a:pPr>
            <a:r>
              <a:rPr lang="en-US" sz="3000" kern="0" spc="-40" dirty="0" err="1">
                <a:solidFill>
                  <a:srgbClr val="0E3145"/>
                </a:solidFill>
                <a:latin typeface="Euclid Circular A" panose="020B0504000000000000" pitchFamily="34" charset="0"/>
                <a:ea typeface="Euclid Circular A" panose="020B0504000000000000" pitchFamily="34" charset="0"/>
                <a:cs typeface="Arial" pitchFamily="34" charset="-120"/>
              </a:rPr>
              <a:t>Titre</a:t>
            </a:r>
            <a:r>
              <a:rPr lang="en-US" sz="3000" kern="0" spc="-40" dirty="0">
                <a:solidFill>
                  <a:srgbClr val="0E3145"/>
                </a:solidFill>
                <a:latin typeface="Euclid Circular A" panose="020B0504000000000000" pitchFamily="34" charset="0"/>
                <a:ea typeface="Euclid Circular A" panose="020B0504000000000000" pitchFamily="34" charset="0"/>
                <a:cs typeface="Arial" pitchFamily="34" charset="-120"/>
              </a:rPr>
              <a:t> carte</a:t>
            </a:r>
            <a:endParaRPr lang="en-US" sz="3000" dirty="0"/>
          </a:p>
        </p:txBody>
      </p:sp>
      <p:sp>
        <p:nvSpPr>
          <p:cNvPr id="34" name="Text 6">
            <a:extLst>
              <a:ext uri="{FF2B5EF4-FFF2-40B4-BE49-F238E27FC236}">
                <a16:creationId xmlns:a16="http://schemas.microsoft.com/office/drawing/2014/main" id="{51E386A4-6F01-BC4E-87B3-2BBDF50086BB}"/>
              </a:ext>
            </a:extLst>
          </p:cNvPr>
          <p:cNvSpPr/>
          <p:nvPr/>
        </p:nvSpPr>
        <p:spPr>
          <a:xfrm>
            <a:off x="1450692" y="4110480"/>
            <a:ext cx="4624082" cy="1363861"/>
          </a:xfrm>
          <a:prstGeom prst="rect">
            <a:avLst/>
          </a:prstGeom>
          <a:noFill/>
          <a:ln/>
        </p:spPr>
        <p:txBody>
          <a:bodyPr wrap="square" lIns="25400" tIns="25400" rIns="25400" bIns="25400" rtlCol="0" anchor="t">
            <a:noAutofit/>
          </a:bodyPr>
          <a:lstStyle/>
          <a:p>
            <a:pPr>
              <a:lnSpc>
                <a:spcPct val="145000"/>
              </a:lnSpc>
            </a:pPr>
            <a:r>
              <a:rPr lang="fr-FR" sz="2400" dirty="0">
                <a:solidFill>
                  <a:srgbClr val="0E3145">
                    <a:alpha val="66000"/>
                  </a:srgbClr>
                </a:solidFill>
                <a:latin typeface="Euclid Circular A" panose="020B0504000000000000" pitchFamily="34" charset="0"/>
                <a:ea typeface="Euclid Circular A" panose="020B0504000000000000" pitchFamily="34" charset="0"/>
                <a:cs typeface="Arial" pitchFamily="34" charset="-120"/>
              </a:rPr>
              <a:t>Description courte de la carte, deux à trois lignes.</a:t>
            </a:r>
          </a:p>
        </p:txBody>
      </p:sp>
      <p:sp>
        <p:nvSpPr>
          <p:cNvPr id="35" name="Shape 7">
            <a:extLst>
              <a:ext uri="{FF2B5EF4-FFF2-40B4-BE49-F238E27FC236}">
                <a16:creationId xmlns:a16="http://schemas.microsoft.com/office/drawing/2014/main" id="{4BD68F37-9BD3-283C-4703-52468BDF82D2}"/>
              </a:ext>
            </a:extLst>
          </p:cNvPr>
          <p:cNvSpPr/>
          <p:nvPr/>
        </p:nvSpPr>
        <p:spPr>
          <a:xfrm>
            <a:off x="1450692" y="6572131"/>
            <a:ext cx="4489400" cy="1870323"/>
          </a:xfrm>
          <a:prstGeom prst="roundRect">
            <a:avLst>
              <a:gd name="adj" fmla="val 7209"/>
            </a:avLst>
          </a:prstGeom>
          <a:solidFill>
            <a:schemeClr val="bg1"/>
          </a:solidFill>
          <a:ln/>
        </p:spPr>
        <p:txBody>
          <a:bodyPr/>
          <a:lstStyle/>
          <a:p>
            <a:endParaRPr lang="fr-FR"/>
          </a:p>
        </p:txBody>
      </p:sp>
      <p:sp>
        <p:nvSpPr>
          <p:cNvPr id="36" name="Text 8">
            <a:extLst>
              <a:ext uri="{FF2B5EF4-FFF2-40B4-BE49-F238E27FC236}">
                <a16:creationId xmlns:a16="http://schemas.microsoft.com/office/drawing/2014/main" id="{FAFAA52B-987E-FEC7-F045-413FCE353C70}"/>
              </a:ext>
            </a:extLst>
          </p:cNvPr>
          <p:cNvSpPr/>
          <p:nvPr/>
        </p:nvSpPr>
        <p:spPr>
          <a:xfrm>
            <a:off x="1641192" y="6753106"/>
            <a:ext cx="4231652" cy="3695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kern="0" spc="324" dirty="0">
                <a:solidFill>
                  <a:srgbClr val="0E3145">
                    <a:alpha val="40000"/>
                  </a:srgbClr>
                </a:solidFill>
                <a:latin typeface="Euclid Circular A" panose="020B0504000000000000" pitchFamily="34" charset="0"/>
                <a:ea typeface="Euclid Circular A" panose="020B0504000000000000" pitchFamily="34" charset="0"/>
                <a:cs typeface="Arial" pitchFamily="34" charset="-120"/>
              </a:rPr>
              <a:t>TITRE EXERGUE</a:t>
            </a:r>
            <a:endParaRPr lang="en-US" sz="1800" dirty="0"/>
          </a:p>
        </p:txBody>
      </p:sp>
      <p:sp>
        <p:nvSpPr>
          <p:cNvPr id="37" name="Text 9">
            <a:extLst>
              <a:ext uri="{FF2B5EF4-FFF2-40B4-BE49-F238E27FC236}">
                <a16:creationId xmlns:a16="http://schemas.microsoft.com/office/drawing/2014/main" id="{B673F796-6C5B-411B-C7DC-413EDA0308FC}"/>
              </a:ext>
            </a:extLst>
          </p:cNvPr>
          <p:cNvSpPr/>
          <p:nvPr/>
        </p:nvSpPr>
        <p:spPr>
          <a:xfrm>
            <a:off x="1641192" y="7145044"/>
            <a:ext cx="4231652" cy="892225"/>
          </a:xfrm>
          <a:prstGeom prst="rect">
            <a:avLst/>
          </a:prstGeom>
          <a:noFill/>
          <a:ln/>
        </p:spPr>
        <p:txBody>
          <a:bodyPr wrap="square" lIns="25400" tIns="25400" rIns="25400" bIns="25400" rtlCol="0" anchor="t">
            <a:normAutofit/>
          </a:bodyPr>
          <a:lstStyle/>
          <a:p>
            <a:pPr marL="0" indent="0" algn="l">
              <a:lnSpc>
                <a:spcPct val="115000"/>
              </a:lnSpc>
              <a:buNone/>
            </a:pPr>
            <a:r>
              <a:rPr lang="en-US" sz="1950" kern="0" spc="-10" dirty="0">
                <a:solidFill>
                  <a:schemeClr val="tx2"/>
                </a:solidFill>
                <a:latin typeface="Euclid Circular A" panose="020B0504000000000000" pitchFamily="34" charset="0"/>
                <a:ea typeface="Euclid Circular A" panose="020B0504000000000000" pitchFamily="34" charset="0"/>
                <a:cs typeface="Arial" pitchFamily="34" charset="-120"/>
              </a:rPr>
              <a:t>2-3 phrase</a:t>
            </a:r>
            <a:endParaRPr lang="en-US" sz="1950" dirty="0">
              <a:solidFill>
                <a:schemeClr val="tx2"/>
              </a:solidFill>
            </a:endParaRPr>
          </a:p>
        </p:txBody>
      </p:sp>
      <p:sp>
        <p:nvSpPr>
          <p:cNvPr id="52" name="Rectangle : avec coins arrondis en haut 51">
            <a:extLst>
              <a:ext uri="{FF2B5EF4-FFF2-40B4-BE49-F238E27FC236}">
                <a16:creationId xmlns:a16="http://schemas.microsoft.com/office/drawing/2014/main" id="{BAE500C7-F653-4968-E8B2-18DD9705AEA0}"/>
              </a:ext>
            </a:extLst>
          </p:cNvPr>
          <p:cNvSpPr/>
          <p:nvPr/>
        </p:nvSpPr>
        <p:spPr>
          <a:xfrm>
            <a:off x="6654615" y="2320160"/>
            <a:ext cx="5184575" cy="369540"/>
          </a:xfrm>
          <a:prstGeom prst="round2SameRect">
            <a:avLst>
              <a:gd name="adj1" fmla="val 50000"/>
              <a:gd name="adj2" fmla="val 0"/>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3" name="Shape 2">
            <a:extLst>
              <a:ext uri="{FF2B5EF4-FFF2-40B4-BE49-F238E27FC236}">
                <a16:creationId xmlns:a16="http://schemas.microsoft.com/office/drawing/2014/main" id="{C2355721-7D8F-19E8-E772-C078CA3CBFDC}"/>
              </a:ext>
            </a:extLst>
          </p:cNvPr>
          <p:cNvSpPr/>
          <p:nvPr/>
        </p:nvSpPr>
        <p:spPr>
          <a:xfrm>
            <a:off x="6644941" y="2384327"/>
            <a:ext cx="5194250" cy="6364802"/>
          </a:xfrm>
          <a:prstGeom prst="roundRect">
            <a:avLst>
              <a:gd name="adj" fmla="val 3301"/>
            </a:avLst>
          </a:prstGeom>
          <a:solidFill>
            <a:schemeClr val="accent6"/>
          </a:solidFill>
          <a:ln w="9525">
            <a:solidFill>
              <a:srgbClr val="0E3145">
                <a:alpha val="14000"/>
              </a:srgbClr>
            </a:solidFill>
            <a:prstDash val="solid"/>
          </a:ln>
          <a:effectLst>
            <a:outerShdw blurRad="50800" dist="38100" dir="5400000" algn="t" rotWithShape="0">
              <a:prstClr val="black">
                <a:alpha val="40000"/>
              </a:prstClr>
            </a:outerShdw>
          </a:effectLst>
        </p:spPr>
        <p:txBody>
          <a:bodyPr/>
          <a:lstStyle/>
          <a:p>
            <a:endParaRPr lang="fr-FR"/>
          </a:p>
        </p:txBody>
      </p:sp>
      <p:sp>
        <p:nvSpPr>
          <p:cNvPr id="54" name="Text 4">
            <a:extLst>
              <a:ext uri="{FF2B5EF4-FFF2-40B4-BE49-F238E27FC236}">
                <a16:creationId xmlns:a16="http://schemas.microsoft.com/office/drawing/2014/main" id="{C1A3CCB6-8875-9163-2461-BF5382F14F65}"/>
              </a:ext>
            </a:extLst>
          </p:cNvPr>
          <p:cNvSpPr/>
          <p:nvPr/>
        </p:nvSpPr>
        <p:spPr>
          <a:xfrm>
            <a:off x="6997366" y="2661170"/>
            <a:ext cx="4624082" cy="369540"/>
          </a:xfrm>
          <a:prstGeom prst="rect">
            <a:avLst/>
          </a:prstGeom>
          <a:noFill/>
          <a:ln/>
        </p:spPr>
        <p:txBody>
          <a:bodyPr wrap="square" lIns="25400" tIns="25400" rIns="25400" bIns="25400" rtlCol="0" anchor="t">
            <a:noAutofit/>
          </a:bodyPr>
          <a:lstStyle/>
          <a:p>
            <a:pPr marL="0" indent="0" algn="l">
              <a:lnSpc>
                <a:spcPct val="145000"/>
              </a:lnSpc>
              <a:buNone/>
            </a:pPr>
            <a:r>
              <a:rPr lang="en-US" sz="2400" kern="0" spc="360" dirty="0">
                <a:solidFill>
                  <a:srgbClr val="0E3145">
                    <a:alpha val="40000"/>
                  </a:srgbClr>
                </a:solidFill>
                <a:latin typeface="Euclid Circular A" panose="020B0504000000000000" pitchFamily="34" charset="0"/>
                <a:ea typeface="Euclid Circular A" panose="020B0504000000000000" pitchFamily="34" charset="0"/>
                <a:cs typeface="Arial" pitchFamily="34" charset="-120"/>
              </a:rPr>
              <a:t>SURTITRE</a:t>
            </a:r>
            <a:endParaRPr lang="en-US" sz="2400" dirty="0"/>
          </a:p>
        </p:txBody>
      </p:sp>
      <p:sp>
        <p:nvSpPr>
          <p:cNvPr id="55" name="Text 5">
            <a:extLst>
              <a:ext uri="{FF2B5EF4-FFF2-40B4-BE49-F238E27FC236}">
                <a16:creationId xmlns:a16="http://schemas.microsoft.com/office/drawing/2014/main" id="{BBC2F77F-F423-60F7-BFEA-41C34E81DCB9}"/>
              </a:ext>
            </a:extLst>
          </p:cNvPr>
          <p:cNvSpPr/>
          <p:nvPr/>
        </p:nvSpPr>
        <p:spPr>
          <a:xfrm>
            <a:off x="6997366" y="3296792"/>
            <a:ext cx="4624082" cy="398115"/>
          </a:xfrm>
          <a:prstGeom prst="rect">
            <a:avLst/>
          </a:prstGeom>
          <a:noFill/>
          <a:ln/>
        </p:spPr>
        <p:txBody>
          <a:bodyPr wrap="square" lIns="25400" tIns="25400" rIns="25400" bIns="25400" rtlCol="0" anchor="t">
            <a:noAutofit/>
          </a:bodyPr>
          <a:lstStyle/>
          <a:p>
            <a:pPr marL="0" indent="0" algn="l">
              <a:lnSpc>
                <a:spcPct val="105000"/>
              </a:lnSpc>
              <a:buNone/>
            </a:pPr>
            <a:r>
              <a:rPr lang="en-US" sz="3000" kern="0" spc="-40" dirty="0" err="1">
                <a:solidFill>
                  <a:srgbClr val="0E3145"/>
                </a:solidFill>
                <a:latin typeface="Euclid Circular A" panose="020B0504000000000000" pitchFamily="34" charset="0"/>
                <a:ea typeface="Euclid Circular A" panose="020B0504000000000000" pitchFamily="34" charset="0"/>
                <a:cs typeface="Arial" pitchFamily="34" charset="-120"/>
              </a:rPr>
              <a:t>Titre</a:t>
            </a:r>
            <a:r>
              <a:rPr lang="en-US" sz="3000" kern="0" spc="-40" dirty="0">
                <a:solidFill>
                  <a:srgbClr val="0E3145"/>
                </a:solidFill>
                <a:latin typeface="Euclid Circular A" panose="020B0504000000000000" pitchFamily="34" charset="0"/>
                <a:ea typeface="Euclid Circular A" panose="020B0504000000000000" pitchFamily="34" charset="0"/>
                <a:cs typeface="Arial" pitchFamily="34" charset="-120"/>
              </a:rPr>
              <a:t> carte</a:t>
            </a:r>
            <a:endParaRPr lang="en-US" sz="3000" dirty="0"/>
          </a:p>
        </p:txBody>
      </p:sp>
      <p:sp>
        <p:nvSpPr>
          <p:cNvPr id="56" name="Text 6">
            <a:extLst>
              <a:ext uri="{FF2B5EF4-FFF2-40B4-BE49-F238E27FC236}">
                <a16:creationId xmlns:a16="http://schemas.microsoft.com/office/drawing/2014/main" id="{E87CD26B-0BF6-8A6A-CBAD-EE2D419C21CD}"/>
              </a:ext>
            </a:extLst>
          </p:cNvPr>
          <p:cNvSpPr/>
          <p:nvPr/>
        </p:nvSpPr>
        <p:spPr>
          <a:xfrm>
            <a:off x="6997366" y="4110480"/>
            <a:ext cx="4624082" cy="1363861"/>
          </a:xfrm>
          <a:prstGeom prst="rect">
            <a:avLst/>
          </a:prstGeom>
          <a:noFill/>
          <a:ln/>
        </p:spPr>
        <p:txBody>
          <a:bodyPr wrap="square" lIns="25400" tIns="25400" rIns="25400" bIns="25400" rtlCol="0" anchor="t">
            <a:noAutofit/>
          </a:bodyPr>
          <a:lstStyle/>
          <a:p>
            <a:pPr>
              <a:lnSpc>
                <a:spcPct val="145000"/>
              </a:lnSpc>
            </a:pPr>
            <a:r>
              <a:rPr lang="fr-FR" sz="2400" dirty="0">
                <a:solidFill>
                  <a:srgbClr val="0E3145">
                    <a:alpha val="66000"/>
                  </a:srgbClr>
                </a:solidFill>
                <a:latin typeface="Euclid Circular A" panose="020B0504000000000000" pitchFamily="34" charset="0"/>
                <a:ea typeface="Euclid Circular A" panose="020B0504000000000000" pitchFamily="34" charset="0"/>
                <a:cs typeface="Arial" pitchFamily="34" charset="-120"/>
              </a:rPr>
              <a:t>Description courte de la carte, deux à trois lignes.</a:t>
            </a:r>
          </a:p>
        </p:txBody>
      </p:sp>
      <p:sp>
        <p:nvSpPr>
          <p:cNvPr id="57" name="Shape 7">
            <a:extLst>
              <a:ext uri="{FF2B5EF4-FFF2-40B4-BE49-F238E27FC236}">
                <a16:creationId xmlns:a16="http://schemas.microsoft.com/office/drawing/2014/main" id="{24C72391-2B26-2CA1-2408-6E497CCF175B}"/>
              </a:ext>
            </a:extLst>
          </p:cNvPr>
          <p:cNvSpPr/>
          <p:nvPr/>
        </p:nvSpPr>
        <p:spPr>
          <a:xfrm>
            <a:off x="6997366" y="6572131"/>
            <a:ext cx="4489400" cy="1870323"/>
          </a:xfrm>
          <a:prstGeom prst="roundRect">
            <a:avLst>
              <a:gd name="adj" fmla="val 7209"/>
            </a:avLst>
          </a:prstGeom>
          <a:solidFill>
            <a:schemeClr val="bg1"/>
          </a:solidFill>
          <a:ln/>
        </p:spPr>
        <p:txBody>
          <a:bodyPr/>
          <a:lstStyle/>
          <a:p>
            <a:endParaRPr lang="fr-FR"/>
          </a:p>
        </p:txBody>
      </p:sp>
      <p:sp>
        <p:nvSpPr>
          <p:cNvPr id="58" name="Text 8">
            <a:extLst>
              <a:ext uri="{FF2B5EF4-FFF2-40B4-BE49-F238E27FC236}">
                <a16:creationId xmlns:a16="http://schemas.microsoft.com/office/drawing/2014/main" id="{2690FEA8-7126-6DAE-60D9-6C818CFFF587}"/>
              </a:ext>
            </a:extLst>
          </p:cNvPr>
          <p:cNvSpPr/>
          <p:nvPr/>
        </p:nvSpPr>
        <p:spPr>
          <a:xfrm>
            <a:off x="7187866" y="6753106"/>
            <a:ext cx="4231652" cy="3695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kern="0" spc="324" dirty="0">
                <a:solidFill>
                  <a:srgbClr val="0E3145">
                    <a:alpha val="40000"/>
                  </a:srgbClr>
                </a:solidFill>
                <a:latin typeface="Euclid Circular A" panose="020B0504000000000000" pitchFamily="34" charset="0"/>
                <a:ea typeface="Euclid Circular A" panose="020B0504000000000000" pitchFamily="34" charset="0"/>
                <a:cs typeface="Arial" pitchFamily="34" charset="-120"/>
              </a:rPr>
              <a:t>TITRE EXERGUE</a:t>
            </a:r>
            <a:endParaRPr lang="en-US" sz="1800" dirty="0"/>
          </a:p>
        </p:txBody>
      </p:sp>
      <p:sp>
        <p:nvSpPr>
          <p:cNvPr id="59" name="Text 9">
            <a:extLst>
              <a:ext uri="{FF2B5EF4-FFF2-40B4-BE49-F238E27FC236}">
                <a16:creationId xmlns:a16="http://schemas.microsoft.com/office/drawing/2014/main" id="{7081694D-9729-9935-1401-52F728740ACC}"/>
              </a:ext>
            </a:extLst>
          </p:cNvPr>
          <p:cNvSpPr/>
          <p:nvPr/>
        </p:nvSpPr>
        <p:spPr>
          <a:xfrm>
            <a:off x="7187866" y="7145044"/>
            <a:ext cx="4231652" cy="892225"/>
          </a:xfrm>
          <a:prstGeom prst="rect">
            <a:avLst/>
          </a:prstGeom>
          <a:noFill/>
          <a:ln/>
        </p:spPr>
        <p:txBody>
          <a:bodyPr wrap="square" lIns="25400" tIns="25400" rIns="25400" bIns="25400" rtlCol="0" anchor="t">
            <a:normAutofit/>
          </a:bodyPr>
          <a:lstStyle/>
          <a:p>
            <a:pPr marL="0" indent="0" algn="l">
              <a:lnSpc>
                <a:spcPct val="115000"/>
              </a:lnSpc>
              <a:buNone/>
            </a:pPr>
            <a:r>
              <a:rPr lang="en-US" sz="1950" kern="0" spc="-10" dirty="0">
                <a:solidFill>
                  <a:schemeClr val="tx2"/>
                </a:solidFill>
                <a:latin typeface="Euclid Circular A" panose="020B0504000000000000" pitchFamily="34" charset="0"/>
                <a:ea typeface="Euclid Circular A" panose="020B0504000000000000" pitchFamily="34" charset="0"/>
                <a:cs typeface="Arial" pitchFamily="34" charset="-120"/>
              </a:rPr>
              <a:t>2-3 phrase</a:t>
            </a:r>
            <a:endParaRPr lang="en-US" sz="1950" dirty="0">
              <a:solidFill>
                <a:schemeClr val="tx2"/>
              </a:solidFill>
            </a:endParaRPr>
          </a:p>
        </p:txBody>
      </p:sp>
      <p:sp>
        <p:nvSpPr>
          <p:cNvPr id="60" name="Rectangle : avec coins arrondis en haut 59">
            <a:extLst>
              <a:ext uri="{FF2B5EF4-FFF2-40B4-BE49-F238E27FC236}">
                <a16:creationId xmlns:a16="http://schemas.microsoft.com/office/drawing/2014/main" id="{54C633A1-C4E7-346A-4DD6-4DE4CA4A2C3C}"/>
              </a:ext>
            </a:extLst>
          </p:cNvPr>
          <p:cNvSpPr/>
          <p:nvPr/>
        </p:nvSpPr>
        <p:spPr>
          <a:xfrm>
            <a:off x="12193268" y="2320160"/>
            <a:ext cx="5184575" cy="369540"/>
          </a:xfrm>
          <a:prstGeom prst="round2SameRect">
            <a:avLst>
              <a:gd name="adj1" fmla="val 50000"/>
              <a:gd name="adj2"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1" name="Shape 2">
            <a:extLst>
              <a:ext uri="{FF2B5EF4-FFF2-40B4-BE49-F238E27FC236}">
                <a16:creationId xmlns:a16="http://schemas.microsoft.com/office/drawing/2014/main" id="{7A346946-3374-046F-EC43-CF42A432C0B2}"/>
              </a:ext>
            </a:extLst>
          </p:cNvPr>
          <p:cNvSpPr/>
          <p:nvPr/>
        </p:nvSpPr>
        <p:spPr>
          <a:xfrm>
            <a:off x="12183594" y="2384327"/>
            <a:ext cx="5194250" cy="6364802"/>
          </a:xfrm>
          <a:prstGeom prst="roundRect">
            <a:avLst>
              <a:gd name="adj" fmla="val 3301"/>
            </a:avLst>
          </a:prstGeom>
          <a:solidFill>
            <a:schemeClr val="accent6"/>
          </a:solidFill>
          <a:ln w="9525">
            <a:solidFill>
              <a:srgbClr val="0E3145">
                <a:alpha val="14000"/>
              </a:srgbClr>
            </a:solidFill>
            <a:prstDash val="solid"/>
          </a:ln>
          <a:effectLst>
            <a:outerShdw blurRad="50800" dist="38100" dir="5400000" algn="t" rotWithShape="0">
              <a:prstClr val="black">
                <a:alpha val="40000"/>
              </a:prstClr>
            </a:outerShdw>
          </a:effectLst>
        </p:spPr>
        <p:txBody>
          <a:bodyPr/>
          <a:lstStyle/>
          <a:p>
            <a:endParaRPr lang="fr-FR"/>
          </a:p>
        </p:txBody>
      </p:sp>
      <p:sp>
        <p:nvSpPr>
          <p:cNvPr id="62" name="Text 4">
            <a:extLst>
              <a:ext uri="{FF2B5EF4-FFF2-40B4-BE49-F238E27FC236}">
                <a16:creationId xmlns:a16="http://schemas.microsoft.com/office/drawing/2014/main" id="{42D982F5-20B6-B006-DED8-B3D9DA68B4F1}"/>
              </a:ext>
            </a:extLst>
          </p:cNvPr>
          <p:cNvSpPr/>
          <p:nvPr/>
        </p:nvSpPr>
        <p:spPr>
          <a:xfrm>
            <a:off x="12536019" y="2661170"/>
            <a:ext cx="4624082" cy="369540"/>
          </a:xfrm>
          <a:prstGeom prst="rect">
            <a:avLst/>
          </a:prstGeom>
          <a:noFill/>
          <a:ln/>
        </p:spPr>
        <p:txBody>
          <a:bodyPr wrap="square" lIns="25400" tIns="25400" rIns="25400" bIns="25400" rtlCol="0" anchor="t">
            <a:noAutofit/>
          </a:bodyPr>
          <a:lstStyle/>
          <a:p>
            <a:pPr marL="0" indent="0" algn="l">
              <a:lnSpc>
                <a:spcPct val="145000"/>
              </a:lnSpc>
              <a:buNone/>
            </a:pPr>
            <a:r>
              <a:rPr lang="en-US" sz="2400" kern="0" spc="360" dirty="0">
                <a:solidFill>
                  <a:srgbClr val="0E3145">
                    <a:alpha val="40000"/>
                  </a:srgbClr>
                </a:solidFill>
                <a:latin typeface="Euclid Circular A" panose="020B0504000000000000" pitchFamily="34" charset="0"/>
                <a:ea typeface="Euclid Circular A" panose="020B0504000000000000" pitchFamily="34" charset="0"/>
                <a:cs typeface="Arial" pitchFamily="34" charset="-120"/>
              </a:rPr>
              <a:t>SURTITRE</a:t>
            </a:r>
            <a:endParaRPr lang="en-US" sz="2400" dirty="0"/>
          </a:p>
        </p:txBody>
      </p:sp>
      <p:sp>
        <p:nvSpPr>
          <p:cNvPr id="63" name="Text 5">
            <a:extLst>
              <a:ext uri="{FF2B5EF4-FFF2-40B4-BE49-F238E27FC236}">
                <a16:creationId xmlns:a16="http://schemas.microsoft.com/office/drawing/2014/main" id="{4E1DEE1B-6015-492C-8DC2-1737B4FB8AB7}"/>
              </a:ext>
            </a:extLst>
          </p:cNvPr>
          <p:cNvSpPr/>
          <p:nvPr/>
        </p:nvSpPr>
        <p:spPr>
          <a:xfrm>
            <a:off x="12536019" y="3296792"/>
            <a:ext cx="4624082" cy="398115"/>
          </a:xfrm>
          <a:prstGeom prst="rect">
            <a:avLst/>
          </a:prstGeom>
          <a:noFill/>
          <a:ln/>
        </p:spPr>
        <p:txBody>
          <a:bodyPr wrap="square" lIns="25400" tIns="25400" rIns="25400" bIns="25400" rtlCol="0" anchor="t">
            <a:noAutofit/>
          </a:bodyPr>
          <a:lstStyle/>
          <a:p>
            <a:pPr marL="0" indent="0" algn="l">
              <a:lnSpc>
                <a:spcPct val="105000"/>
              </a:lnSpc>
              <a:buNone/>
            </a:pPr>
            <a:r>
              <a:rPr lang="en-US" sz="3000" kern="0" spc="-40" dirty="0" err="1">
                <a:solidFill>
                  <a:srgbClr val="0E3145"/>
                </a:solidFill>
                <a:latin typeface="Euclid Circular A" panose="020B0504000000000000" pitchFamily="34" charset="0"/>
                <a:ea typeface="Euclid Circular A" panose="020B0504000000000000" pitchFamily="34" charset="0"/>
                <a:cs typeface="Arial" pitchFamily="34" charset="-120"/>
              </a:rPr>
              <a:t>Titre</a:t>
            </a:r>
            <a:r>
              <a:rPr lang="en-US" sz="3000" kern="0" spc="-40" dirty="0">
                <a:solidFill>
                  <a:srgbClr val="0E3145"/>
                </a:solidFill>
                <a:latin typeface="Euclid Circular A" panose="020B0504000000000000" pitchFamily="34" charset="0"/>
                <a:ea typeface="Euclid Circular A" panose="020B0504000000000000" pitchFamily="34" charset="0"/>
                <a:cs typeface="Arial" pitchFamily="34" charset="-120"/>
              </a:rPr>
              <a:t> carte</a:t>
            </a:r>
            <a:endParaRPr lang="en-US" sz="3000" dirty="0"/>
          </a:p>
        </p:txBody>
      </p:sp>
      <p:sp>
        <p:nvSpPr>
          <p:cNvPr id="64" name="Text 6">
            <a:extLst>
              <a:ext uri="{FF2B5EF4-FFF2-40B4-BE49-F238E27FC236}">
                <a16:creationId xmlns:a16="http://schemas.microsoft.com/office/drawing/2014/main" id="{86BEFF15-033B-BF86-E8B9-ABFB6F4E98EE}"/>
              </a:ext>
            </a:extLst>
          </p:cNvPr>
          <p:cNvSpPr/>
          <p:nvPr/>
        </p:nvSpPr>
        <p:spPr>
          <a:xfrm>
            <a:off x="12536019" y="4110480"/>
            <a:ext cx="4624082" cy="1363861"/>
          </a:xfrm>
          <a:prstGeom prst="rect">
            <a:avLst/>
          </a:prstGeom>
          <a:noFill/>
          <a:ln/>
        </p:spPr>
        <p:txBody>
          <a:bodyPr wrap="square" lIns="25400" tIns="25400" rIns="25400" bIns="25400" rtlCol="0" anchor="t">
            <a:noAutofit/>
          </a:bodyPr>
          <a:lstStyle/>
          <a:p>
            <a:pPr>
              <a:lnSpc>
                <a:spcPct val="145000"/>
              </a:lnSpc>
            </a:pPr>
            <a:r>
              <a:rPr lang="fr-FR" sz="2400" dirty="0">
                <a:solidFill>
                  <a:srgbClr val="0E3145">
                    <a:alpha val="66000"/>
                  </a:srgbClr>
                </a:solidFill>
                <a:latin typeface="Euclid Circular A" panose="020B0504000000000000" pitchFamily="34" charset="0"/>
                <a:ea typeface="Euclid Circular A" panose="020B0504000000000000" pitchFamily="34" charset="0"/>
                <a:cs typeface="Arial" pitchFamily="34" charset="-120"/>
              </a:rPr>
              <a:t>Description courte de la carte, deux à trois lignes.</a:t>
            </a:r>
          </a:p>
        </p:txBody>
      </p:sp>
      <p:sp>
        <p:nvSpPr>
          <p:cNvPr id="65" name="Shape 7">
            <a:extLst>
              <a:ext uri="{FF2B5EF4-FFF2-40B4-BE49-F238E27FC236}">
                <a16:creationId xmlns:a16="http://schemas.microsoft.com/office/drawing/2014/main" id="{165DCC46-C865-4128-E959-F950D79C3751}"/>
              </a:ext>
            </a:extLst>
          </p:cNvPr>
          <p:cNvSpPr/>
          <p:nvPr/>
        </p:nvSpPr>
        <p:spPr>
          <a:xfrm>
            <a:off x="12536019" y="6572131"/>
            <a:ext cx="4489400" cy="1870323"/>
          </a:xfrm>
          <a:prstGeom prst="roundRect">
            <a:avLst>
              <a:gd name="adj" fmla="val 7209"/>
            </a:avLst>
          </a:prstGeom>
          <a:solidFill>
            <a:schemeClr val="bg1"/>
          </a:solidFill>
          <a:ln/>
        </p:spPr>
        <p:txBody>
          <a:bodyPr/>
          <a:lstStyle/>
          <a:p>
            <a:endParaRPr lang="fr-FR"/>
          </a:p>
        </p:txBody>
      </p:sp>
      <p:sp>
        <p:nvSpPr>
          <p:cNvPr id="66" name="Text 8">
            <a:extLst>
              <a:ext uri="{FF2B5EF4-FFF2-40B4-BE49-F238E27FC236}">
                <a16:creationId xmlns:a16="http://schemas.microsoft.com/office/drawing/2014/main" id="{AFD45F64-1D28-CA88-A3BD-631A0EBBACC6}"/>
              </a:ext>
            </a:extLst>
          </p:cNvPr>
          <p:cNvSpPr/>
          <p:nvPr/>
        </p:nvSpPr>
        <p:spPr>
          <a:xfrm>
            <a:off x="12726519" y="6753106"/>
            <a:ext cx="4231652" cy="369540"/>
          </a:xfrm>
          <a:prstGeom prst="rect">
            <a:avLst/>
          </a:prstGeom>
          <a:noFill/>
          <a:ln/>
        </p:spPr>
        <p:txBody>
          <a:bodyPr wrap="square" lIns="25400" tIns="25400" rIns="25400" bIns="25400" rtlCol="0" anchor="t">
            <a:normAutofit fontScale="92500" lnSpcReduction="20000"/>
          </a:bodyPr>
          <a:lstStyle/>
          <a:p>
            <a:pPr marL="0" indent="0" algn="l">
              <a:lnSpc>
                <a:spcPct val="145000"/>
              </a:lnSpc>
              <a:buNone/>
            </a:pPr>
            <a:r>
              <a:rPr lang="en-US" kern="0" spc="324" dirty="0">
                <a:solidFill>
                  <a:srgbClr val="0E3145">
                    <a:alpha val="40000"/>
                  </a:srgbClr>
                </a:solidFill>
                <a:latin typeface="Euclid Circular A" panose="020B0504000000000000" pitchFamily="34" charset="0"/>
                <a:ea typeface="Euclid Circular A" panose="020B0504000000000000" pitchFamily="34" charset="0"/>
                <a:cs typeface="Arial" pitchFamily="34" charset="-120"/>
              </a:rPr>
              <a:t>TITRE EXERGUE</a:t>
            </a:r>
            <a:endParaRPr lang="en-US" sz="1800" dirty="0"/>
          </a:p>
        </p:txBody>
      </p:sp>
      <p:sp>
        <p:nvSpPr>
          <p:cNvPr id="67" name="Text 9">
            <a:extLst>
              <a:ext uri="{FF2B5EF4-FFF2-40B4-BE49-F238E27FC236}">
                <a16:creationId xmlns:a16="http://schemas.microsoft.com/office/drawing/2014/main" id="{6B0942CB-492E-ED77-696D-6BBB3122FCA0}"/>
              </a:ext>
            </a:extLst>
          </p:cNvPr>
          <p:cNvSpPr/>
          <p:nvPr/>
        </p:nvSpPr>
        <p:spPr>
          <a:xfrm>
            <a:off x="12726519" y="7145044"/>
            <a:ext cx="4231652" cy="892225"/>
          </a:xfrm>
          <a:prstGeom prst="rect">
            <a:avLst/>
          </a:prstGeom>
          <a:noFill/>
          <a:ln/>
        </p:spPr>
        <p:txBody>
          <a:bodyPr wrap="square" lIns="25400" tIns="25400" rIns="25400" bIns="25400" rtlCol="0" anchor="t">
            <a:normAutofit/>
          </a:bodyPr>
          <a:lstStyle/>
          <a:p>
            <a:pPr marL="0" indent="0" algn="l">
              <a:lnSpc>
                <a:spcPct val="115000"/>
              </a:lnSpc>
              <a:buNone/>
            </a:pPr>
            <a:r>
              <a:rPr lang="en-US" sz="1950" kern="0" spc="-10" dirty="0">
                <a:solidFill>
                  <a:schemeClr val="tx2"/>
                </a:solidFill>
                <a:latin typeface="Euclid Circular A" panose="020B0504000000000000" pitchFamily="34" charset="0"/>
                <a:ea typeface="Euclid Circular A" panose="020B0504000000000000" pitchFamily="34" charset="0"/>
                <a:cs typeface="Arial" pitchFamily="34" charset="-120"/>
              </a:rPr>
              <a:t>2-3 phrase</a:t>
            </a:r>
            <a:endParaRPr lang="en-US" sz="1950" dirty="0">
              <a:solidFill>
                <a:schemeClr val="tx2"/>
              </a:solidFill>
            </a:endParaRPr>
          </a:p>
        </p:txBody>
      </p:sp>
    </p:spTree>
    <p:extLst>
      <p:ext uri="{BB962C8B-B14F-4D97-AF65-F5344CB8AC3E}">
        <p14:creationId xmlns:p14="http://schemas.microsoft.com/office/powerpoint/2010/main" val="3053660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fade">
                                      <p:cBhvr>
                                        <p:cTn id="7" dur="1000"/>
                                        <p:tgtEl>
                                          <p:spTgt spid="34"/>
                                        </p:tgtEl>
                                      </p:cBhvr>
                                    </p:animEffect>
                                    <p:anim calcmode="lin" valueType="num">
                                      <p:cBhvr>
                                        <p:cTn id="8" dur="1000" fill="hold"/>
                                        <p:tgtEl>
                                          <p:spTgt spid="34"/>
                                        </p:tgtEl>
                                        <p:attrNameLst>
                                          <p:attrName>ppt_x</p:attrName>
                                        </p:attrNameLst>
                                      </p:cBhvr>
                                      <p:tavLst>
                                        <p:tav tm="0">
                                          <p:val>
                                            <p:strVal val="#ppt_x"/>
                                          </p:val>
                                        </p:tav>
                                        <p:tav tm="100000">
                                          <p:val>
                                            <p:strVal val="#ppt_x"/>
                                          </p:val>
                                        </p:tav>
                                      </p:tavLst>
                                    </p:anim>
                                    <p:anim calcmode="lin" valueType="num">
                                      <p:cBhvr>
                                        <p:cTn id="9" dur="1000" fill="hold"/>
                                        <p:tgtEl>
                                          <p:spTgt spid="3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1000"/>
                                        <p:tgtEl>
                                          <p:spTgt spid="31"/>
                                        </p:tgtEl>
                                      </p:cBhvr>
                                    </p:animEffect>
                                    <p:anim calcmode="lin" valueType="num">
                                      <p:cBhvr>
                                        <p:cTn id="13" dur="1000" fill="hold"/>
                                        <p:tgtEl>
                                          <p:spTgt spid="31"/>
                                        </p:tgtEl>
                                        <p:attrNameLst>
                                          <p:attrName>ppt_x</p:attrName>
                                        </p:attrNameLst>
                                      </p:cBhvr>
                                      <p:tavLst>
                                        <p:tav tm="0">
                                          <p:val>
                                            <p:strVal val="#ppt_x"/>
                                          </p:val>
                                        </p:tav>
                                        <p:tav tm="100000">
                                          <p:val>
                                            <p:strVal val="#ppt_x"/>
                                          </p:val>
                                        </p:tav>
                                      </p:tavLst>
                                    </p:anim>
                                    <p:anim calcmode="lin" valueType="num">
                                      <p:cBhvr>
                                        <p:cTn id="14" dur="1000" fill="hold"/>
                                        <p:tgtEl>
                                          <p:spTgt spid="31"/>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fade">
                                      <p:cBhvr>
                                        <p:cTn id="17" dur="1000"/>
                                        <p:tgtEl>
                                          <p:spTgt spid="35"/>
                                        </p:tgtEl>
                                      </p:cBhvr>
                                    </p:animEffect>
                                    <p:anim calcmode="lin" valueType="num">
                                      <p:cBhvr>
                                        <p:cTn id="18" dur="1000" fill="hold"/>
                                        <p:tgtEl>
                                          <p:spTgt spid="35"/>
                                        </p:tgtEl>
                                        <p:attrNameLst>
                                          <p:attrName>ppt_x</p:attrName>
                                        </p:attrNameLst>
                                      </p:cBhvr>
                                      <p:tavLst>
                                        <p:tav tm="0">
                                          <p:val>
                                            <p:strVal val="#ppt_x"/>
                                          </p:val>
                                        </p:tav>
                                        <p:tav tm="100000">
                                          <p:val>
                                            <p:strVal val="#ppt_x"/>
                                          </p:val>
                                        </p:tav>
                                      </p:tavLst>
                                    </p:anim>
                                    <p:anim calcmode="lin" valueType="num">
                                      <p:cBhvr>
                                        <p:cTn id="19" dur="1000" fill="hold"/>
                                        <p:tgtEl>
                                          <p:spTgt spid="35"/>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animEffect transition="in" filter="fade">
                                      <p:cBhvr>
                                        <p:cTn id="27" dur="1000"/>
                                        <p:tgtEl>
                                          <p:spTgt spid="37"/>
                                        </p:tgtEl>
                                      </p:cBhvr>
                                    </p:animEffect>
                                    <p:anim calcmode="lin" valueType="num">
                                      <p:cBhvr>
                                        <p:cTn id="28" dur="1000" fill="hold"/>
                                        <p:tgtEl>
                                          <p:spTgt spid="37"/>
                                        </p:tgtEl>
                                        <p:attrNameLst>
                                          <p:attrName>ppt_x</p:attrName>
                                        </p:attrNameLst>
                                      </p:cBhvr>
                                      <p:tavLst>
                                        <p:tav tm="0">
                                          <p:val>
                                            <p:strVal val="#ppt_x"/>
                                          </p:val>
                                        </p:tav>
                                        <p:tav tm="100000">
                                          <p:val>
                                            <p:strVal val="#ppt_x"/>
                                          </p:val>
                                        </p:tav>
                                      </p:tavLst>
                                    </p:anim>
                                    <p:anim calcmode="lin" valueType="num">
                                      <p:cBhvr>
                                        <p:cTn id="29"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fade">
                                      <p:cBhvr>
                                        <p:cTn id="34" dur="1000"/>
                                        <p:tgtEl>
                                          <p:spTgt spid="56"/>
                                        </p:tgtEl>
                                      </p:cBhvr>
                                    </p:animEffect>
                                    <p:anim calcmode="lin" valueType="num">
                                      <p:cBhvr>
                                        <p:cTn id="35" dur="1000" fill="hold"/>
                                        <p:tgtEl>
                                          <p:spTgt spid="56"/>
                                        </p:tgtEl>
                                        <p:attrNameLst>
                                          <p:attrName>ppt_x</p:attrName>
                                        </p:attrNameLst>
                                      </p:cBhvr>
                                      <p:tavLst>
                                        <p:tav tm="0">
                                          <p:val>
                                            <p:strVal val="#ppt_x"/>
                                          </p:val>
                                        </p:tav>
                                        <p:tav tm="100000">
                                          <p:val>
                                            <p:strVal val="#ppt_x"/>
                                          </p:val>
                                        </p:tav>
                                      </p:tavLst>
                                    </p:anim>
                                    <p:anim calcmode="lin" valueType="num">
                                      <p:cBhvr>
                                        <p:cTn id="36" dur="1000" fill="hold"/>
                                        <p:tgtEl>
                                          <p:spTgt spid="56"/>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animEffect transition="in" filter="fade">
                                      <p:cBhvr>
                                        <p:cTn id="39" dur="1000"/>
                                        <p:tgtEl>
                                          <p:spTgt spid="53"/>
                                        </p:tgtEl>
                                      </p:cBhvr>
                                    </p:animEffect>
                                    <p:anim calcmode="lin" valueType="num">
                                      <p:cBhvr>
                                        <p:cTn id="40" dur="1000" fill="hold"/>
                                        <p:tgtEl>
                                          <p:spTgt spid="53"/>
                                        </p:tgtEl>
                                        <p:attrNameLst>
                                          <p:attrName>ppt_x</p:attrName>
                                        </p:attrNameLst>
                                      </p:cBhvr>
                                      <p:tavLst>
                                        <p:tav tm="0">
                                          <p:val>
                                            <p:strVal val="#ppt_x"/>
                                          </p:val>
                                        </p:tav>
                                        <p:tav tm="100000">
                                          <p:val>
                                            <p:strVal val="#ppt_x"/>
                                          </p:val>
                                        </p:tav>
                                      </p:tavLst>
                                    </p:anim>
                                    <p:anim calcmode="lin" valueType="num">
                                      <p:cBhvr>
                                        <p:cTn id="41" dur="1000" fill="hold"/>
                                        <p:tgtEl>
                                          <p:spTgt spid="53"/>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57"/>
                                        </p:tgtEl>
                                        <p:attrNameLst>
                                          <p:attrName>style.visibility</p:attrName>
                                        </p:attrNameLst>
                                      </p:cBhvr>
                                      <p:to>
                                        <p:strVal val="visible"/>
                                      </p:to>
                                    </p:set>
                                    <p:animEffect transition="in" filter="fade">
                                      <p:cBhvr>
                                        <p:cTn id="44" dur="1000"/>
                                        <p:tgtEl>
                                          <p:spTgt spid="57"/>
                                        </p:tgtEl>
                                      </p:cBhvr>
                                    </p:animEffect>
                                    <p:anim calcmode="lin" valueType="num">
                                      <p:cBhvr>
                                        <p:cTn id="45" dur="1000" fill="hold"/>
                                        <p:tgtEl>
                                          <p:spTgt spid="57"/>
                                        </p:tgtEl>
                                        <p:attrNameLst>
                                          <p:attrName>ppt_x</p:attrName>
                                        </p:attrNameLst>
                                      </p:cBhvr>
                                      <p:tavLst>
                                        <p:tav tm="0">
                                          <p:val>
                                            <p:strVal val="#ppt_x"/>
                                          </p:val>
                                        </p:tav>
                                        <p:tav tm="100000">
                                          <p:val>
                                            <p:strVal val="#ppt_x"/>
                                          </p:val>
                                        </p:tav>
                                      </p:tavLst>
                                    </p:anim>
                                    <p:anim calcmode="lin" valueType="num">
                                      <p:cBhvr>
                                        <p:cTn id="46" dur="1000" fill="hold"/>
                                        <p:tgtEl>
                                          <p:spTgt spid="57"/>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58"/>
                                        </p:tgtEl>
                                        <p:attrNameLst>
                                          <p:attrName>style.visibility</p:attrName>
                                        </p:attrNameLst>
                                      </p:cBhvr>
                                      <p:to>
                                        <p:strVal val="visible"/>
                                      </p:to>
                                    </p:set>
                                    <p:animEffect transition="in" filter="fade">
                                      <p:cBhvr>
                                        <p:cTn id="49" dur="1000"/>
                                        <p:tgtEl>
                                          <p:spTgt spid="58"/>
                                        </p:tgtEl>
                                      </p:cBhvr>
                                    </p:animEffect>
                                    <p:anim calcmode="lin" valueType="num">
                                      <p:cBhvr>
                                        <p:cTn id="50" dur="1000" fill="hold"/>
                                        <p:tgtEl>
                                          <p:spTgt spid="58"/>
                                        </p:tgtEl>
                                        <p:attrNameLst>
                                          <p:attrName>ppt_x</p:attrName>
                                        </p:attrNameLst>
                                      </p:cBhvr>
                                      <p:tavLst>
                                        <p:tav tm="0">
                                          <p:val>
                                            <p:strVal val="#ppt_x"/>
                                          </p:val>
                                        </p:tav>
                                        <p:tav tm="100000">
                                          <p:val>
                                            <p:strVal val="#ppt_x"/>
                                          </p:val>
                                        </p:tav>
                                      </p:tavLst>
                                    </p:anim>
                                    <p:anim calcmode="lin" valueType="num">
                                      <p:cBhvr>
                                        <p:cTn id="51" dur="1000" fill="hold"/>
                                        <p:tgtEl>
                                          <p:spTgt spid="58"/>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59"/>
                                        </p:tgtEl>
                                        <p:attrNameLst>
                                          <p:attrName>style.visibility</p:attrName>
                                        </p:attrNameLst>
                                      </p:cBhvr>
                                      <p:to>
                                        <p:strVal val="visible"/>
                                      </p:to>
                                    </p:set>
                                    <p:animEffect transition="in" filter="fade">
                                      <p:cBhvr>
                                        <p:cTn id="54" dur="1000"/>
                                        <p:tgtEl>
                                          <p:spTgt spid="59"/>
                                        </p:tgtEl>
                                      </p:cBhvr>
                                    </p:animEffect>
                                    <p:anim calcmode="lin" valueType="num">
                                      <p:cBhvr>
                                        <p:cTn id="55" dur="1000" fill="hold"/>
                                        <p:tgtEl>
                                          <p:spTgt spid="59"/>
                                        </p:tgtEl>
                                        <p:attrNameLst>
                                          <p:attrName>ppt_x</p:attrName>
                                        </p:attrNameLst>
                                      </p:cBhvr>
                                      <p:tavLst>
                                        <p:tav tm="0">
                                          <p:val>
                                            <p:strVal val="#ppt_x"/>
                                          </p:val>
                                        </p:tav>
                                        <p:tav tm="100000">
                                          <p:val>
                                            <p:strVal val="#ppt_x"/>
                                          </p:val>
                                        </p:tav>
                                      </p:tavLst>
                                    </p:anim>
                                    <p:anim calcmode="lin" valueType="num">
                                      <p:cBhvr>
                                        <p:cTn id="56" dur="1000" fill="hold"/>
                                        <p:tgtEl>
                                          <p:spTgt spid="59"/>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64"/>
                                        </p:tgtEl>
                                        <p:attrNameLst>
                                          <p:attrName>style.visibility</p:attrName>
                                        </p:attrNameLst>
                                      </p:cBhvr>
                                      <p:to>
                                        <p:strVal val="visible"/>
                                      </p:to>
                                    </p:set>
                                    <p:animEffect transition="in" filter="fade">
                                      <p:cBhvr>
                                        <p:cTn id="61" dur="1000"/>
                                        <p:tgtEl>
                                          <p:spTgt spid="64"/>
                                        </p:tgtEl>
                                      </p:cBhvr>
                                    </p:animEffect>
                                    <p:anim calcmode="lin" valueType="num">
                                      <p:cBhvr>
                                        <p:cTn id="62" dur="1000" fill="hold"/>
                                        <p:tgtEl>
                                          <p:spTgt spid="64"/>
                                        </p:tgtEl>
                                        <p:attrNameLst>
                                          <p:attrName>ppt_x</p:attrName>
                                        </p:attrNameLst>
                                      </p:cBhvr>
                                      <p:tavLst>
                                        <p:tav tm="0">
                                          <p:val>
                                            <p:strVal val="#ppt_x"/>
                                          </p:val>
                                        </p:tav>
                                        <p:tav tm="100000">
                                          <p:val>
                                            <p:strVal val="#ppt_x"/>
                                          </p:val>
                                        </p:tav>
                                      </p:tavLst>
                                    </p:anim>
                                    <p:anim calcmode="lin" valueType="num">
                                      <p:cBhvr>
                                        <p:cTn id="63" dur="1000" fill="hold"/>
                                        <p:tgtEl>
                                          <p:spTgt spid="64"/>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61"/>
                                        </p:tgtEl>
                                        <p:attrNameLst>
                                          <p:attrName>style.visibility</p:attrName>
                                        </p:attrNameLst>
                                      </p:cBhvr>
                                      <p:to>
                                        <p:strVal val="visible"/>
                                      </p:to>
                                    </p:set>
                                    <p:animEffect transition="in" filter="fade">
                                      <p:cBhvr>
                                        <p:cTn id="66" dur="1000"/>
                                        <p:tgtEl>
                                          <p:spTgt spid="61"/>
                                        </p:tgtEl>
                                      </p:cBhvr>
                                    </p:animEffect>
                                    <p:anim calcmode="lin" valueType="num">
                                      <p:cBhvr>
                                        <p:cTn id="67" dur="1000" fill="hold"/>
                                        <p:tgtEl>
                                          <p:spTgt spid="61"/>
                                        </p:tgtEl>
                                        <p:attrNameLst>
                                          <p:attrName>ppt_x</p:attrName>
                                        </p:attrNameLst>
                                      </p:cBhvr>
                                      <p:tavLst>
                                        <p:tav tm="0">
                                          <p:val>
                                            <p:strVal val="#ppt_x"/>
                                          </p:val>
                                        </p:tav>
                                        <p:tav tm="100000">
                                          <p:val>
                                            <p:strVal val="#ppt_x"/>
                                          </p:val>
                                        </p:tav>
                                      </p:tavLst>
                                    </p:anim>
                                    <p:anim calcmode="lin" valueType="num">
                                      <p:cBhvr>
                                        <p:cTn id="68" dur="1000" fill="hold"/>
                                        <p:tgtEl>
                                          <p:spTgt spid="61"/>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65"/>
                                        </p:tgtEl>
                                        <p:attrNameLst>
                                          <p:attrName>style.visibility</p:attrName>
                                        </p:attrNameLst>
                                      </p:cBhvr>
                                      <p:to>
                                        <p:strVal val="visible"/>
                                      </p:to>
                                    </p:set>
                                    <p:animEffect transition="in" filter="fade">
                                      <p:cBhvr>
                                        <p:cTn id="71" dur="1000"/>
                                        <p:tgtEl>
                                          <p:spTgt spid="65"/>
                                        </p:tgtEl>
                                      </p:cBhvr>
                                    </p:animEffect>
                                    <p:anim calcmode="lin" valueType="num">
                                      <p:cBhvr>
                                        <p:cTn id="72" dur="1000" fill="hold"/>
                                        <p:tgtEl>
                                          <p:spTgt spid="65"/>
                                        </p:tgtEl>
                                        <p:attrNameLst>
                                          <p:attrName>ppt_x</p:attrName>
                                        </p:attrNameLst>
                                      </p:cBhvr>
                                      <p:tavLst>
                                        <p:tav tm="0">
                                          <p:val>
                                            <p:strVal val="#ppt_x"/>
                                          </p:val>
                                        </p:tav>
                                        <p:tav tm="100000">
                                          <p:val>
                                            <p:strVal val="#ppt_x"/>
                                          </p:val>
                                        </p:tav>
                                      </p:tavLst>
                                    </p:anim>
                                    <p:anim calcmode="lin" valueType="num">
                                      <p:cBhvr>
                                        <p:cTn id="73" dur="1000" fill="hold"/>
                                        <p:tgtEl>
                                          <p:spTgt spid="65"/>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fade">
                                      <p:cBhvr>
                                        <p:cTn id="76" dur="1000"/>
                                        <p:tgtEl>
                                          <p:spTgt spid="66"/>
                                        </p:tgtEl>
                                      </p:cBhvr>
                                    </p:animEffect>
                                    <p:anim calcmode="lin" valueType="num">
                                      <p:cBhvr>
                                        <p:cTn id="77" dur="1000" fill="hold"/>
                                        <p:tgtEl>
                                          <p:spTgt spid="66"/>
                                        </p:tgtEl>
                                        <p:attrNameLst>
                                          <p:attrName>ppt_x</p:attrName>
                                        </p:attrNameLst>
                                      </p:cBhvr>
                                      <p:tavLst>
                                        <p:tav tm="0">
                                          <p:val>
                                            <p:strVal val="#ppt_x"/>
                                          </p:val>
                                        </p:tav>
                                        <p:tav tm="100000">
                                          <p:val>
                                            <p:strVal val="#ppt_x"/>
                                          </p:val>
                                        </p:tav>
                                      </p:tavLst>
                                    </p:anim>
                                    <p:anim calcmode="lin" valueType="num">
                                      <p:cBhvr>
                                        <p:cTn id="78" dur="1000" fill="hold"/>
                                        <p:tgtEl>
                                          <p:spTgt spid="66"/>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67"/>
                                        </p:tgtEl>
                                        <p:attrNameLst>
                                          <p:attrName>style.visibility</p:attrName>
                                        </p:attrNameLst>
                                      </p:cBhvr>
                                      <p:to>
                                        <p:strVal val="visible"/>
                                      </p:to>
                                    </p:set>
                                    <p:animEffect transition="in" filter="fade">
                                      <p:cBhvr>
                                        <p:cTn id="81" dur="1000"/>
                                        <p:tgtEl>
                                          <p:spTgt spid="67"/>
                                        </p:tgtEl>
                                      </p:cBhvr>
                                    </p:animEffect>
                                    <p:anim calcmode="lin" valueType="num">
                                      <p:cBhvr>
                                        <p:cTn id="82" dur="1000" fill="hold"/>
                                        <p:tgtEl>
                                          <p:spTgt spid="67"/>
                                        </p:tgtEl>
                                        <p:attrNameLst>
                                          <p:attrName>ppt_x</p:attrName>
                                        </p:attrNameLst>
                                      </p:cBhvr>
                                      <p:tavLst>
                                        <p:tav tm="0">
                                          <p:val>
                                            <p:strVal val="#ppt_x"/>
                                          </p:val>
                                        </p:tav>
                                        <p:tav tm="100000">
                                          <p:val>
                                            <p:strVal val="#ppt_x"/>
                                          </p:val>
                                        </p:tav>
                                      </p:tavLst>
                                    </p:anim>
                                    <p:anim calcmode="lin" valueType="num">
                                      <p:cBhvr>
                                        <p:cTn id="83" dur="1000" fill="hold"/>
                                        <p:tgtEl>
                                          <p:spTgt spid="6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35" grpId="0" animBg="1"/>
      <p:bldP spid="36" grpId="0" animBg="1"/>
      <p:bldP spid="37" grpId="0" animBg="1"/>
      <p:bldP spid="53" grpId="0" animBg="1"/>
      <p:bldP spid="56" grpId="0" animBg="1"/>
      <p:bldP spid="57" grpId="0" animBg="1"/>
      <p:bldP spid="58" grpId="0" animBg="1"/>
      <p:bldP spid="59" grpId="0" animBg="1"/>
      <p:bldP spid="61" grpId="0" animBg="1"/>
      <p:bldP spid="64" grpId="0" animBg="1"/>
      <p:bldP spid="65" grpId="0" animBg="1"/>
      <p:bldP spid="66" grpId="0" animBg="1"/>
      <p:bldP spid="6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Quatre </a:t>
            </a:r>
            <a:r>
              <a:rPr lang="en-US" sz="6150" kern="0" spc="-184" dirty="0">
                <a:solidFill>
                  <a:srgbClr val="DC216E"/>
                </a:solidFill>
                <a:latin typeface="Euclid Circular A" pitchFamily="34" charset="0"/>
                <a:ea typeface="Euclid Circular A" pitchFamily="34" charset="-122"/>
                <a:cs typeface="Euclid Circular A" pitchFamily="34" charset="-120"/>
              </a:rPr>
              <a:t>points </a:t>
            </a:r>
            <a:r>
              <a:rPr lang="en-US" sz="6150" kern="0" spc="-184" dirty="0">
                <a:solidFill>
                  <a:srgbClr val="0E3145"/>
                </a:solidFill>
                <a:latin typeface="Euclid Circular A" pitchFamily="34" charset="0"/>
                <a:ea typeface="Euclid Circular A" pitchFamily="34" charset="-122"/>
                <a:cs typeface="Euclid Circular A" pitchFamily="34" charset="-120"/>
              </a:rPr>
              <a:t>clés</a:t>
            </a:r>
            <a:endParaRPr lang="en-US" sz="6150" dirty="0"/>
          </a:p>
        </p:txBody>
      </p:sp>
      <p:sp>
        <p:nvSpPr>
          <p:cNvPr id="5" name="Shape 3"/>
          <p:cNvSpPr/>
          <p:nvPr/>
        </p:nvSpPr>
        <p:spPr>
          <a:xfrm>
            <a:off x="1066800" y="2419419"/>
            <a:ext cx="3852863" cy="6334125"/>
          </a:xfrm>
          <a:prstGeom prst="roundRect">
            <a:avLst>
              <a:gd name="adj" fmla="val 4450"/>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6" name="Shape 4"/>
          <p:cNvSpPr/>
          <p:nvPr/>
        </p:nvSpPr>
        <p:spPr>
          <a:xfrm>
            <a:off x="1400175" y="2752794"/>
            <a:ext cx="685800" cy="685800"/>
          </a:xfrm>
          <a:prstGeom prst="roundRect">
            <a:avLst>
              <a:gd name="adj" fmla="val 22222"/>
            </a:avLst>
          </a:prstGeom>
          <a:solidFill>
            <a:srgbClr val="DC216E">
              <a:alpha val="8000"/>
            </a:srgbClr>
          </a:solidFill>
          <a:ln w="9525">
            <a:solidFill>
              <a:srgbClr val="DC216E">
                <a:alpha val="22000"/>
              </a:srgbClr>
            </a:solidFill>
            <a:prstDash val="solid"/>
          </a:ln>
        </p:spPr>
        <p:txBody>
          <a:bodyPr/>
          <a:lstStyle/>
          <a:p>
            <a:endParaRPr lang="fr-FR"/>
          </a:p>
        </p:txBody>
      </p:sp>
      <p:pic>
        <p:nvPicPr>
          <p:cNvPr id="7" name="Image 0" descr="preencoded.png"/>
          <p:cNvPicPr>
            <a:picLocks noChangeAspect="1"/>
          </p:cNvPicPr>
          <p:nvPr/>
        </p:nvPicPr>
        <p:blipFill>
          <a:blip r:embed="rId3"/>
          <a:srcRect/>
          <a:stretch/>
        </p:blipFill>
        <p:spPr>
          <a:xfrm>
            <a:off x="1543050" y="2895669"/>
            <a:ext cx="400050" cy="400050"/>
          </a:xfrm>
          <a:prstGeom prst="rect">
            <a:avLst/>
          </a:prstGeom>
        </p:spPr>
      </p:pic>
      <p:sp>
        <p:nvSpPr>
          <p:cNvPr id="8" name="Text 5"/>
          <p:cNvSpPr/>
          <p:nvPr/>
        </p:nvSpPr>
        <p:spPr>
          <a:xfrm>
            <a:off x="1400175" y="3667194"/>
            <a:ext cx="3504724" cy="390525"/>
          </a:xfrm>
          <a:prstGeom prst="rect">
            <a:avLst/>
          </a:prstGeom>
          <a:noFill/>
          <a:ln/>
        </p:spPr>
        <p:txBody>
          <a:bodyPr wrap="square" lIns="25400" tIns="25400" rIns="25400" bIns="25400" rtlCol="0" anchor="t">
            <a:normAutofit/>
          </a:bodyPr>
          <a:lstStyle/>
          <a:p>
            <a:pPr marL="0" indent="0" algn="l">
              <a:buNone/>
            </a:pPr>
            <a:r>
              <a:rPr lang="en-US" sz="2175" kern="0" spc="-22" dirty="0">
                <a:solidFill>
                  <a:srgbClr val="0E3145"/>
                </a:solidFill>
                <a:latin typeface="Euclid Circular A" pitchFamily="34" charset="0"/>
                <a:ea typeface="Euclid Circular A" pitchFamily="34" charset="-122"/>
                <a:cs typeface="Euclid Circular A" pitchFamily="34" charset="-120"/>
              </a:rPr>
              <a:t>Titre</a:t>
            </a:r>
            <a:endParaRPr lang="en-US" sz="2175" dirty="0"/>
          </a:p>
        </p:txBody>
      </p:sp>
      <p:sp>
        <p:nvSpPr>
          <p:cNvPr id="9" name="Text 6"/>
          <p:cNvSpPr/>
          <p:nvPr/>
        </p:nvSpPr>
        <p:spPr>
          <a:xfrm>
            <a:off x="1400175" y="4133919"/>
            <a:ext cx="3281696"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courte en deux lignes.</a:t>
            </a:r>
            <a:endParaRPr lang="en-US" sz="1800" dirty="0"/>
          </a:p>
        </p:txBody>
      </p:sp>
      <p:sp>
        <p:nvSpPr>
          <p:cNvPr id="10" name="Shape 7"/>
          <p:cNvSpPr/>
          <p:nvPr/>
        </p:nvSpPr>
        <p:spPr>
          <a:xfrm>
            <a:off x="5167313" y="2419419"/>
            <a:ext cx="3852863" cy="6334125"/>
          </a:xfrm>
          <a:prstGeom prst="roundRect">
            <a:avLst>
              <a:gd name="adj" fmla="val 4450"/>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11" name="Shape 8"/>
          <p:cNvSpPr/>
          <p:nvPr/>
        </p:nvSpPr>
        <p:spPr>
          <a:xfrm>
            <a:off x="5500688" y="2752794"/>
            <a:ext cx="685800" cy="685800"/>
          </a:xfrm>
          <a:prstGeom prst="roundRect">
            <a:avLst>
              <a:gd name="adj" fmla="val 22222"/>
            </a:avLst>
          </a:prstGeom>
          <a:solidFill>
            <a:srgbClr val="DC216E">
              <a:alpha val="8000"/>
            </a:srgbClr>
          </a:solidFill>
          <a:ln w="9525">
            <a:solidFill>
              <a:srgbClr val="DC216E">
                <a:alpha val="22000"/>
              </a:srgbClr>
            </a:solidFill>
            <a:prstDash val="solid"/>
          </a:ln>
        </p:spPr>
        <p:txBody>
          <a:bodyPr/>
          <a:lstStyle/>
          <a:p>
            <a:endParaRPr lang="fr-FR"/>
          </a:p>
        </p:txBody>
      </p:sp>
      <p:pic>
        <p:nvPicPr>
          <p:cNvPr id="12" name="Image 1" descr="preencoded.png"/>
          <p:cNvPicPr>
            <a:picLocks noChangeAspect="1"/>
          </p:cNvPicPr>
          <p:nvPr/>
        </p:nvPicPr>
        <p:blipFill>
          <a:blip r:embed="rId4"/>
          <a:srcRect/>
          <a:stretch/>
        </p:blipFill>
        <p:spPr>
          <a:xfrm>
            <a:off x="5643563" y="2895669"/>
            <a:ext cx="400050" cy="400050"/>
          </a:xfrm>
          <a:prstGeom prst="rect">
            <a:avLst/>
          </a:prstGeom>
        </p:spPr>
      </p:pic>
      <p:sp>
        <p:nvSpPr>
          <p:cNvPr id="13" name="Text 9"/>
          <p:cNvSpPr/>
          <p:nvPr/>
        </p:nvSpPr>
        <p:spPr>
          <a:xfrm>
            <a:off x="5500688" y="3667194"/>
            <a:ext cx="3504724" cy="390525"/>
          </a:xfrm>
          <a:prstGeom prst="rect">
            <a:avLst/>
          </a:prstGeom>
          <a:noFill/>
          <a:ln/>
        </p:spPr>
        <p:txBody>
          <a:bodyPr wrap="square" lIns="25400" tIns="25400" rIns="25400" bIns="25400" rtlCol="0" anchor="t">
            <a:normAutofit/>
          </a:bodyPr>
          <a:lstStyle/>
          <a:p>
            <a:pPr marL="0" indent="0" algn="l">
              <a:buNone/>
            </a:pPr>
            <a:r>
              <a:rPr lang="en-US" sz="2175" kern="0" spc="-22" dirty="0">
                <a:solidFill>
                  <a:srgbClr val="0E3145"/>
                </a:solidFill>
                <a:latin typeface="Euclid Circular A" pitchFamily="34" charset="0"/>
                <a:ea typeface="Euclid Circular A" pitchFamily="34" charset="-122"/>
                <a:cs typeface="Euclid Circular A" pitchFamily="34" charset="-120"/>
              </a:rPr>
              <a:t>Titre</a:t>
            </a:r>
            <a:endParaRPr lang="en-US" sz="2175" dirty="0"/>
          </a:p>
        </p:txBody>
      </p:sp>
      <p:sp>
        <p:nvSpPr>
          <p:cNvPr id="14" name="Text 10"/>
          <p:cNvSpPr/>
          <p:nvPr/>
        </p:nvSpPr>
        <p:spPr>
          <a:xfrm>
            <a:off x="5500688" y="4133919"/>
            <a:ext cx="3281696"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courte en deux lignes.</a:t>
            </a:r>
            <a:endParaRPr lang="en-US" sz="1800" dirty="0"/>
          </a:p>
        </p:txBody>
      </p:sp>
      <p:sp>
        <p:nvSpPr>
          <p:cNvPr id="15" name="Shape 11"/>
          <p:cNvSpPr/>
          <p:nvPr/>
        </p:nvSpPr>
        <p:spPr>
          <a:xfrm>
            <a:off x="9267825" y="2419419"/>
            <a:ext cx="3852863" cy="6334125"/>
          </a:xfrm>
          <a:prstGeom prst="roundRect">
            <a:avLst>
              <a:gd name="adj" fmla="val 4450"/>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16" name="Shape 12"/>
          <p:cNvSpPr/>
          <p:nvPr/>
        </p:nvSpPr>
        <p:spPr>
          <a:xfrm>
            <a:off x="9601200" y="2752794"/>
            <a:ext cx="685800" cy="685800"/>
          </a:xfrm>
          <a:prstGeom prst="roundRect">
            <a:avLst>
              <a:gd name="adj" fmla="val 22222"/>
            </a:avLst>
          </a:prstGeom>
          <a:solidFill>
            <a:srgbClr val="DC216E">
              <a:alpha val="8000"/>
            </a:srgbClr>
          </a:solidFill>
          <a:ln w="9525">
            <a:solidFill>
              <a:srgbClr val="DC216E">
                <a:alpha val="22000"/>
              </a:srgbClr>
            </a:solidFill>
            <a:prstDash val="solid"/>
          </a:ln>
        </p:spPr>
        <p:txBody>
          <a:bodyPr/>
          <a:lstStyle/>
          <a:p>
            <a:endParaRPr lang="fr-FR"/>
          </a:p>
        </p:txBody>
      </p:sp>
      <p:pic>
        <p:nvPicPr>
          <p:cNvPr id="17" name="Image 2" descr="preencoded.png"/>
          <p:cNvPicPr>
            <a:picLocks noChangeAspect="1"/>
          </p:cNvPicPr>
          <p:nvPr/>
        </p:nvPicPr>
        <p:blipFill>
          <a:blip r:embed="rId5"/>
          <a:srcRect/>
          <a:stretch/>
        </p:blipFill>
        <p:spPr>
          <a:xfrm>
            <a:off x="9744075" y="2895669"/>
            <a:ext cx="400050" cy="400050"/>
          </a:xfrm>
          <a:prstGeom prst="rect">
            <a:avLst/>
          </a:prstGeom>
        </p:spPr>
      </p:pic>
      <p:sp>
        <p:nvSpPr>
          <p:cNvPr id="18" name="Text 13"/>
          <p:cNvSpPr/>
          <p:nvPr/>
        </p:nvSpPr>
        <p:spPr>
          <a:xfrm>
            <a:off x="9601200" y="3667194"/>
            <a:ext cx="3504724" cy="390525"/>
          </a:xfrm>
          <a:prstGeom prst="rect">
            <a:avLst/>
          </a:prstGeom>
          <a:noFill/>
          <a:ln/>
        </p:spPr>
        <p:txBody>
          <a:bodyPr wrap="square" lIns="25400" tIns="25400" rIns="25400" bIns="25400" rtlCol="0" anchor="t">
            <a:normAutofit/>
          </a:bodyPr>
          <a:lstStyle/>
          <a:p>
            <a:pPr marL="0" indent="0" algn="l">
              <a:buNone/>
            </a:pPr>
            <a:r>
              <a:rPr lang="en-US" sz="2175" kern="0" spc="-22" dirty="0">
                <a:solidFill>
                  <a:srgbClr val="0E3145"/>
                </a:solidFill>
                <a:latin typeface="Euclid Circular A" pitchFamily="34" charset="0"/>
                <a:ea typeface="Euclid Circular A" pitchFamily="34" charset="-122"/>
                <a:cs typeface="Euclid Circular A" pitchFamily="34" charset="-120"/>
              </a:rPr>
              <a:t>Titre</a:t>
            </a:r>
            <a:endParaRPr lang="en-US" sz="2175" dirty="0"/>
          </a:p>
        </p:txBody>
      </p:sp>
      <p:sp>
        <p:nvSpPr>
          <p:cNvPr id="19" name="Text 14"/>
          <p:cNvSpPr/>
          <p:nvPr/>
        </p:nvSpPr>
        <p:spPr>
          <a:xfrm>
            <a:off x="9601200" y="4133919"/>
            <a:ext cx="3281696"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courte en deux lignes.</a:t>
            </a:r>
            <a:endParaRPr lang="en-US" sz="1800" dirty="0"/>
          </a:p>
        </p:txBody>
      </p:sp>
      <p:sp>
        <p:nvSpPr>
          <p:cNvPr id="20" name="Shape 15"/>
          <p:cNvSpPr/>
          <p:nvPr/>
        </p:nvSpPr>
        <p:spPr>
          <a:xfrm>
            <a:off x="13368338" y="2419419"/>
            <a:ext cx="3852863" cy="6334125"/>
          </a:xfrm>
          <a:prstGeom prst="roundRect">
            <a:avLst>
              <a:gd name="adj" fmla="val 4450"/>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21" name="Shape 16"/>
          <p:cNvSpPr/>
          <p:nvPr/>
        </p:nvSpPr>
        <p:spPr>
          <a:xfrm>
            <a:off x="13701713" y="2752794"/>
            <a:ext cx="685800" cy="685800"/>
          </a:xfrm>
          <a:prstGeom prst="roundRect">
            <a:avLst>
              <a:gd name="adj" fmla="val 22222"/>
            </a:avLst>
          </a:prstGeom>
          <a:solidFill>
            <a:srgbClr val="DC216E">
              <a:alpha val="8000"/>
            </a:srgbClr>
          </a:solidFill>
          <a:ln w="9525">
            <a:solidFill>
              <a:srgbClr val="DC216E">
                <a:alpha val="22000"/>
              </a:srgbClr>
            </a:solidFill>
            <a:prstDash val="solid"/>
          </a:ln>
        </p:spPr>
        <p:txBody>
          <a:bodyPr/>
          <a:lstStyle/>
          <a:p>
            <a:endParaRPr lang="fr-FR"/>
          </a:p>
        </p:txBody>
      </p:sp>
      <p:pic>
        <p:nvPicPr>
          <p:cNvPr id="22" name="Image 3" descr="preencoded.png"/>
          <p:cNvPicPr>
            <a:picLocks noChangeAspect="1"/>
          </p:cNvPicPr>
          <p:nvPr/>
        </p:nvPicPr>
        <p:blipFill>
          <a:blip r:embed="rId6"/>
          <a:srcRect/>
          <a:stretch/>
        </p:blipFill>
        <p:spPr>
          <a:xfrm>
            <a:off x="13844588" y="2895669"/>
            <a:ext cx="400050" cy="400050"/>
          </a:xfrm>
          <a:prstGeom prst="rect">
            <a:avLst/>
          </a:prstGeom>
        </p:spPr>
      </p:pic>
      <p:sp>
        <p:nvSpPr>
          <p:cNvPr id="23" name="Text 17"/>
          <p:cNvSpPr/>
          <p:nvPr/>
        </p:nvSpPr>
        <p:spPr>
          <a:xfrm>
            <a:off x="13701713" y="3667194"/>
            <a:ext cx="3504724" cy="390525"/>
          </a:xfrm>
          <a:prstGeom prst="rect">
            <a:avLst/>
          </a:prstGeom>
          <a:noFill/>
          <a:ln/>
        </p:spPr>
        <p:txBody>
          <a:bodyPr wrap="square" lIns="25400" tIns="25400" rIns="25400" bIns="25400" rtlCol="0" anchor="t">
            <a:normAutofit/>
          </a:bodyPr>
          <a:lstStyle/>
          <a:p>
            <a:pPr marL="0" indent="0" algn="l">
              <a:buNone/>
            </a:pPr>
            <a:r>
              <a:rPr lang="en-US" sz="2175" kern="0" spc="-22" dirty="0">
                <a:solidFill>
                  <a:srgbClr val="0E3145"/>
                </a:solidFill>
                <a:latin typeface="Euclid Circular A" pitchFamily="34" charset="0"/>
                <a:ea typeface="Euclid Circular A" pitchFamily="34" charset="-122"/>
                <a:cs typeface="Euclid Circular A" pitchFamily="34" charset="-120"/>
              </a:rPr>
              <a:t>Titre</a:t>
            </a:r>
            <a:endParaRPr lang="en-US" sz="2175" dirty="0"/>
          </a:p>
        </p:txBody>
      </p:sp>
      <p:sp>
        <p:nvSpPr>
          <p:cNvPr id="24" name="Text 18"/>
          <p:cNvSpPr/>
          <p:nvPr/>
        </p:nvSpPr>
        <p:spPr>
          <a:xfrm>
            <a:off x="13701713" y="4133919"/>
            <a:ext cx="3281696"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courte en deux lignes.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BF8F3"/>
        </a:solidFill>
        <a:effectLst/>
      </p:bgPr>
    </p:bg>
    <p:spTree>
      <p:nvGrpSpPr>
        <p:cNvPr id="1" name=""/>
        <p:cNvGrpSpPr/>
        <p:nvPr/>
      </p:nvGrpSpPr>
      <p:grpSpPr>
        <a:xfrm>
          <a:off x="0" y="0"/>
          <a:ext cx="0" cy="0"/>
          <a:chOff x="0" y="0"/>
          <a:chExt cx="0" cy="0"/>
        </a:xfrm>
      </p:grpSpPr>
      <p:sp>
        <p:nvSpPr>
          <p:cNvPr id="3" name="Shape 1"/>
          <p:cNvSpPr/>
          <p:nvPr/>
        </p:nvSpPr>
        <p:spPr>
          <a:xfrm>
            <a:off x="1066800" y="914400"/>
            <a:ext cx="323850" cy="19050"/>
          </a:xfrm>
          <a:prstGeom prst="rect">
            <a:avLst/>
          </a:prstGeom>
          <a:solidFill>
            <a:srgbClr val="DC216E"/>
          </a:solidFill>
          <a:ln/>
        </p:spPr>
        <p:txBody>
          <a:bodyPr/>
          <a:lstStyle/>
          <a:p>
            <a:endParaRPr lang="fr-FR"/>
          </a:p>
        </p:txBody>
      </p:sp>
      <p:sp>
        <p:nvSpPr>
          <p:cNvPr id="4" name="Text 2"/>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5" name="Text 3"/>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Le chiffre </a:t>
            </a:r>
            <a:r>
              <a:rPr lang="en-US" sz="6150" kern="0" spc="-184" dirty="0">
                <a:solidFill>
                  <a:srgbClr val="DC216E"/>
                </a:solidFill>
                <a:latin typeface="Euclid Circular A" pitchFamily="34" charset="0"/>
                <a:ea typeface="Euclid Circular A" pitchFamily="34" charset="-122"/>
                <a:cs typeface="Euclid Circular A" pitchFamily="34" charset="-120"/>
              </a:rPr>
              <a:t>clé</a:t>
            </a:r>
            <a:endParaRPr lang="en-US" sz="6150" dirty="0"/>
          </a:p>
        </p:txBody>
      </p:sp>
      <p:sp>
        <p:nvSpPr>
          <p:cNvPr id="6" name="Text 4"/>
          <p:cNvSpPr/>
          <p:nvPr/>
        </p:nvSpPr>
        <p:spPr>
          <a:xfrm>
            <a:off x="1066800" y="4345700"/>
            <a:ext cx="8889013" cy="1862286"/>
          </a:xfrm>
          <a:prstGeom prst="rect">
            <a:avLst/>
          </a:prstGeom>
          <a:noFill/>
          <a:ln/>
        </p:spPr>
        <p:txBody>
          <a:bodyPr wrap="square" lIns="25400" tIns="25400" rIns="25400" bIns="25400" rtlCol="0" anchor="t">
            <a:normAutofit fontScale="92500" lnSpcReduction="20000"/>
          </a:bodyPr>
          <a:lstStyle/>
          <a:p>
            <a:pPr marL="0" indent="0" algn="l">
              <a:lnSpc>
                <a:spcPct val="84000"/>
              </a:lnSpc>
              <a:buNone/>
            </a:pPr>
            <a:r>
              <a:rPr lang="en-US" sz="17100" kern="0" spc="-684" dirty="0">
                <a:solidFill>
                  <a:srgbClr val="DC216E"/>
                </a:solidFill>
                <a:latin typeface="Euclid Circular A" pitchFamily="34" charset="0"/>
                <a:ea typeface="Euclid Circular A" pitchFamily="34" charset="-122"/>
                <a:cs typeface="Euclid Circular A" pitchFamily="34" charset="-120"/>
              </a:rPr>
              <a:t>00 </a:t>
            </a:r>
            <a:r>
              <a:rPr lang="en-US" sz="7200" kern="0" spc="-684" dirty="0">
                <a:solidFill>
                  <a:srgbClr val="DC216E"/>
                </a:solidFill>
                <a:latin typeface="Euclid Circular A" pitchFamily="34" charset="0"/>
                <a:ea typeface="Euclid Circular A" pitchFamily="34" charset="-122"/>
                <a:cs typeface="Euclid Circular A" pitchFamily="34" charset="-120"/>
              </a:rPr>
              <a:t>%</a:t>
            </a:r>
            <a:endParaRPr lang="en-US" sz="17100" dirty="0"/>
          </a:p>
        </p:txBody>
      </p:sp>
      <p:sp>
        <p:nvSpPr>
          <p:cNvPr id="7" name="Text 5"/>
          <p:cNvSpPr/>
          <p:nvPr/>
        </p:nvSpPr>
        <p:spPr>
          <a:xfrm>
            <a:off x="1066800" y="6322287"/>
            <a:ext cx="8889013" cy="447675"/>
          </a:xfrm>
          <a:prstGeom prst="rect">
            <a:avLst/>
          </a:prstGeom>
          <a:noFill/>
          <a:ln/>
        </p:spPr>
        <p:txBody>
          <a:bodyPr wrap="square" lIns="25400" tIns="25400" rIns="25400" bIns="25400" rtlCol="0" anchor="t">
            <a:normAutofit/>
          </a:bodyPr>
          <a:lstStyle/>
          <a:p>
            <a:pPr marL="0" indent="0" algn="l">
              <a:buNone/>
            </a:pPr>
            <a:r>
              <a:rPr lang="en-US" sz="2550" dirty="0">
                <a:solidFill>
                  <a:srgbClr val="0E3145"/>
                </a:solidFill>
                <a:latin typeface="Euclid Circular A" pitchFamily="34" charset="0"/>
                <a:ea typeface="Euclid Circular A" pitchFamily="34" charset="-122"/>
                <a:cs typeface="Euclid Circular A" pitchFamily="34" charset="-120"/>
              </a:rPr>
              <a:t>Légende du chiffre</a:t>
            </a:r>
            <a:endParaRPr lang="en-US" sz="2550" dirty="0"/>
          </a:p>
        </p:txBody>
      </p:sp>
      <p:sp>
        <p:nvSpPr>
          <p:cNvPr id="8" name="Shape 6"/>
          <p:cNvSpPr/>
          <p:nvPr/>
        </p:nvSpPr>
        <p:spPr>
          <a:xfrm>
            <a:off x="9909721" y="4462026"/>
            <a:ext cx="19050" cy="2160091"/>
          </a:xfrm>
          <a:prstGeom prst="rect">
            <a:avLst/>
          </a:prstGeom>
          <a:solidFill>
            <a:srgbClr val="DC216E">
              <a:alpha val="98000"/>
            </a:srgbClr>
          </a:solidFill>
          <a:ln/>
        </p:spPr>
        <p:txBody>
          <a:bodyPr/>
          <a:lstStyle/>
          <a:p>
            <a:endParaRPr lang="fr-FR"/>
          </a:p>
        </p:txBody>
      </p:sp>
      <p:sp>
        <p:nvSpPr>
          <p:cNvPr id="9" name="Text 7"/>
          <p:cNvSpPr/>
          <p:nvPr/>
        </p:nvSpPr>
        <p:spPr>
          <a:xfrm>
            <a:off x="10385971" y="4462026"/>
            <a:ext cx="7040133" cy="921841"/>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dirty="0">
                <a:solidFill>
                  <a:srgbClr val="0E3145"/>
                </a:solidFill>
                <a:latin typeface="Euclid Circular A" pitchFamily="34" charset="0"/>
                <a:ea typeface="Euclid Circular A" pitchFamily="34" charset="-122"/>
                <a:cs typeface="Euclid Circular A" pitchFamily="34" charset="-120"/>
              </a:rPr>
              <a:t>Une phrase qui explique ce que représente ce chiffre et pourquoi il est </a:t>
            </a:r>
            <a:r>
              <a:rPr lang="en-US" sz="2400" dirty="0">
                <a:solidFill>
                  <a:srgbClr val="DC216E"/>
                </a:solidFill>
                <a:latin typeface="Euclid Circular A" pitchFamily="34" charset="0"/>
                <a:ea typeface="Euclid Circular A" pitchFamily="34" charset="-122"/>
                <a:cs typeface="Euclid Circular A" pitchFamily="34" charset="-120"/>
              </a:rPr>
              <a:t>important</a:t>
            </a:r>
            <a:r>
              <a:rPr lang="en-US" sz="2400" dirty="0">
                <a:solidFill>
                  <a:srgbClr val="0E3145"/>
                </a:solidFill>
                <a:latin typeface="Euclid Circular A" pitchFamily="34" charset="0"/>
                <a:ea typeface="Euclid Circular A" pitchFamily="34" charset="-122"/>
                <a:cs typeface="Euclid Circular A" pitchFamily="34" charset="-120"/>
              </a:rPr>
              <a:t>.</a:t>
            </a:r>
            <a:endParaRPr lang="en-US" sz="2400" dirty="0"/>
          </a:p>
        </p:txBody>
      </p:sp>
      <p:sp>
        <p:nvSpPr>
          <p:cNvPr id="10" name="Text 8"/>
          <p:cNvSpPr/>
          <p:nvPr/>
        </p:nvSpPr>
        <p:spPr>
          <a:xfrm>
            <a:off x="10385971" y="5631518"/>
            <a:ext cx="1544613" cy="685800"/>
          </a:xfrm>
          <a:prstGeom prst="rect">
            <a:avLst/>
          </a:prstGeom>
          <a:noFill/>
          <a:ln/>
        </p:spPr>
        <p:txBody>
          <a:bodyPr wrap="square" lIns="25400" tIns="25400" rIns="25400" bIns="25400" rtlCol="0" anchor="t">
            <a:normAutofit/>
          </a:bodyPr>
          <a:lstStyle/>
          <a:p>
            <a:pPr marL="0" indent="0" algn="l">
              <a:buNone/>
            </a:pPr>
            <a:r>
              <a:rPr lang="en-US" sz="4050" kern="0" spc="-81" dirty="0">
                <a:solidFill>
                  <a:srgbClr val="0E3145"/>
                </a:solidFill>
                <a:latin typeface="Euclid Circular A" pitchFamily="34" charset="0"/>
                <a:ea typeface="Euclid Circular A" pitchFamily="34" charset="-122"/>
                <a:cs typeface="Euclid Circular A" pitchFamily="34" charset="-120"/>
              </a:rPr>
              <a:t>00</a:t>
            </a:r>
            <a:endParaRPr lang="en-US" sz="4050" dirty="0"/>
          </a:p>
        </p:txBody>
      </p:sp>
      <p:sp>
        <p:nvSpPr>
          <p:cNvPr id="11" name="Text 9"/>
          <p:cNvSpPr/>
          <p:nvPr/>
        </p:nvSpPr>
        <p:spPr>
          <a:xfrm>
            <a:off x="10385971" y="6336368"/>
            <a:ext cx="1544613"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Sous-donnée</a:t>
            </a:r>
            <a:endParaRPr lang="en-US" sz="1800" dirty="0"/>
          </a:p>
        </p:txBody>
      </p:sp>
      <p:sp>
        <p:nvSpPr>
          <p:cNvPr id="12" name="Text 10"/>
          <p:cNvSpPr/>
          <p:nvPr/>
        </p:nvSpPr>
        <p:spPr>
          <a:xfrm>
            <a:off x="12247364" y="5631518"/>
            <a:ext cx="1544613" cy="685800"/>
          </a:xfrm>
          <a:prstGeom prst="rect">
            <a:avLst/>
          </a:prstGeom>
          <a:noFill/>
          <a:ln/>
        </p:spPr>
        <p:txBody>
          <a:bodyPr wrap="square" lIns="25400" tIns="25400" rIns="25400" bIns="25400" rtlCol="0" anchor="t">
            <a:normAutofit/>
          </a:bodyPr>
          <a:lstStyle/>
          <a:p>
            <a:pPr marL="0" indent="0" algn="l">
              <a:buNone/>
            </a:pPr>
            <a:r>
              <a:rPr lang="en-US" sz="4050" kern="0" spc="-81" dirty="0">
                <a:solidFill>
                  <a:srgbClr val="0E3145"/>
                </a:solidFill>
                <a:latin typeface="Euclid Circular A" pitchFamily="34" charset="0"/>
                <a:ea typeface="Euclid Circular A" pitchFamily="34" charset="-122"/>
                <a:cs typeface="Euclid Circular A" pitchFamily="34" charset="-120"/>
              </a:rPr>
              <a:t>00</a:t>
            </a:r>
            <a:endParaRPr lang="en-US" sz="4050" dirty="0"/>
          </a:p>
        </p:txBody>
      </p:sp>
      <p:sp>
        <p:nvSpPr>
          <p:cNvPr id="13" name="Text 11"/>
          <p:cNvSpPr/>
          <p:nvPr/>
        </p:nvSpPr>
        <p:spPr>
          <a:xfrm>
            <a:off x="12247364" y="6336368"/>
            <a:ext cx="1544613"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Sous-donnée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80418"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SYNTHÈSE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Synthèse </a:t>
            </a:r>
            <a:r>
              <a:rPr lang="en-US" sz="6150" kern="0" spc="-184" dirty="0">
                <a:solidFill>
                  <a:srgbClr val="DC216E"/>
                </a:solidFill>
                <a:latin typeface="Euclid Circular A" pitchFamily="34" charset="0"/>
                <a:ea typeface="Euclid Circular A" pitchFamily="34" charset="-122"/>
                <a:cs typeface="Euclid Circular A" pitchFamily="34" charset="-120"/>
              </a:rPr>
              <a:t>chiffrée</a:t>
            </a:r>
            <a:endParaRPr lang="en-US" sz="6150" dirty="0"/>
          </a:p>
        </p:txBody>
      </p:sp>
      <p:sp>
        <p:nvSpPr>
          <p:cNvPr id="5" name="Shape 3"/>
          <p:cNvSpPr/>
          <p:nvPr/>
        </p:nvSpPr>
        <p:spPr>
          <a:xfrm>
            <a:off x="1066800" y="2400368"/>
            <a:ext cx="5168801" cy="2343150"/>
          </a:xfrm>
          <a:prstGeom prst="roundRect">
            <a:avLst>
              <a:gd name="adj" fmla="val 7317"/>
            </a:avLst>
          </a:prstGeom>
          <a:solidFill>
            <a:srgbClr val="FFFFFF"/>
          </a:solidFill>
          <a:ln w="9525">
            <a:solidFill>
              <a:srgbClr val="0E3145">
                <a:alpha val="12000"/>
              </a:srgbClr>
            </a:solidFill>
            <a:prstDash val="solid"/>
          </a:ln>
          <a:effectLst>
            <a:outerShdw blurRad="50800" dist="38100" dir="2700000" algn="tl" rotWithShape="0">
              <a:prstClr val="black">
                <a:alpha val="40000"/>
              </a:prstClr>
            </a:outerShdw>
          </a:effectLst>
        </p:spPr>
        <p:txBody>
          <a:bodyPr/>
          <a:lstStyle/>
          <a:p>
            <a:endParaRPr lang="fr-FR"/>
          </a:p>
        </p:txBody>
      </p:sp>
      <p:sp>
        <p:nvSpPr>
          <p:cNvPr id="6" name="Text 4"/>
          <p:cNvSpPr/>
          <p:nvPr/>
        </p:nvSpPr>
        <p:spPr>
          <a:xfrm>
            <a:off x="1457325" y="2771843"/>
            <a:ext cx="4826526"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kern="0" spc="-189" dirty="0">
                <a:solidFill>
                  <a:srgbClr val="DC216E"/>
                </a:solidFill>
                <a:latin typeface="Euclid Circular A" pitchFamily="34" charset="0"/>
                <a:ea typeface="Euclid Circular A" pitchFamily="34" charset="-122"/>
                <a:cs typeface="Euclid Circular A" pitchFamily="34" charset="-120"/>
              </a:rPr>
              <a:t>00</a:t>
            </a:r>
            <a:endParaRPr lang="en-US" sz="6300" dirty="0"/>
          </a:p>
        </p:txBody>
      </p:sp>
      <p:sp>
        <p:nvSpPr>
          <p:cNvPr id="7" name="Text 5"/>
          <p:cNvSpPr/>
          <p:nvPr/>
        </p:nvSpPr>
        <p:spPr>
          <a:xfrm>
            <a:off x="1457325" y="3705293"/>
            <a:ext cx="4826526" cy="361950"/>
          </a:xfrm>
          <a:prstGeom prst="rect">
            <a:avLst/>
          </a:prstGeom>
          <a:noFill/>
          <a:ln/>
        </p:spPr>
        <p:txBody>
          <a:bodyPr wrap="square" lIns="25400" tIns="25400" rIns="25400" bIns="25400" rtlCol="0" anchor="t">
            <a:normAutofit/>
          </a:bodyPr>
          <a:lstStyle/>
          <a:p>
            <a:pPr marL="0" indent="0" algn="l">
              <a:buNone/>
            </a:pPr>
            <a:r>
              <a:rPr lang="en-US" sz="2025" dirty="0">
                <a:solidFill>
                  <a:srgbClr val="0E3145"/>
                </a:solidFill>
                <a:latin typeface="Euclid Circular A" pitchFamily="34" charset="0"/>
                <a:ea typeface="Euclid Circular A" pitchFamily="34" charset="-122"/>
                <a:cs typeface="Euclid Circular A" pitchFamily="34" charset="-120"/>
              </a:rPr>
              <a:t>Intitulé de l'indicateur</a:t>
            </a:r>
            <a:endParaRPr lang="en-US" sz="2025" dirty="0"/>
          </a:p>
        </p:txBody>
      </p:sp>
      <p:sp>
        <p:nvSpPr>
          <p:cNvPr id="8" name="Text 6"/>
          <p:cNvSpPr/>
          <p:nvPr/>
        </p:nvSpPr>
        <p:spPr>
          <a:xfrm>
            <a:off x="1457325" y="4086293"/>
            <a:ext cx="4826526"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Précision facultative.</a:t>
            </a:r>
            <a:endParaRPr lang="en-US" sz="1800" dirty="0"/>
          </a:p>
        </p:txBody>
      </p:sp>
      <p:sp>
        <p:nvSpPr>
          <p:cNvPr id="9" name="Shape 7"/>
          <p:cNvSpPr/>
          <p:nvPr/>
        </p:nvSpPr>
        <p:spPr>
          <a:xfrm>
            <a:off x="6559451" y="2400368"/>
            <a:ext cx="5168950" cy="2343150"/>
          </a:xfrm>
          <a:prstGeom prst="roundRect">
            <a:avLst>
              <a:gd name="adj" fmla="val 7317"/>
            </a:avLst>
          </a:prstGeom>
          <a:solidFill>
            <a:srgbClr val="FFFFFF"/>
          </a:solidFill>
          <a:ln w="9525">
            <a:solidFill>
              <a:srgbClr val="0E3145">
                <a:alpha val="12000"/>
              </a:srgbClr>
            </a:solidFill>
            <a:prstDash val="solid"/>
          </a:ln>
          <a:effectLst>
            <a:outerShdw blurRad="50800" dist="38100" dir="2700000" algn="tl" rotWithShape="0">
              <a:prstClr val="black">
                <a:alpha val="40000"/>
              </a:prstClr>
            </a:outerShdw>
          </a:effectLst>
        </p:spPr>
        <p:txBody>
          <a:bodyPr/>
          <a:lstStyle/>
          <a:p>
            <a:endParaRPr lang="fr-FR"/>
          </a:p>
        </p:txBody>
      </p:sp>
      <p:sp>
        <p:nvSpPr>
          <p:cNvPr id="10" name="Text 8"/>
          <p:cNvSpPr/>
          <p:nvPr/>
        </p:nvSpPr>
        <p:spPr>
          <a:xfrm>
            <a:off x="6949976" y="2771843"/>
            <a:ext cx="482669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kern="0" spc="-189" dirty="0">
                <a:solidFill>
                  <a:srgbClr val="DC216E"/>
                </a:solidFill>
                <a:latin typeface="Euclid Circular A" pitchFamily="34" charset="0"/>
                <a:ea typeface="Euclid Circular A" pitchFamily="34" charset="-122"/>
                <a:cs typeface="Euclid Circular A" pitchFamily="34" charset="-120"/>
              </a:rPr>
              <a:t>00</a:t>
            </a:r>
            <a:endParaRPr lang="en-US" sz="6300" dirty="0"/>
          </a:p>
        </p:txBody>
      </p:sp>
      <p:sp>
        <p:nvSpPr>
          <p:cNvPr id="11" name="Text 9"/>
          <p:cNvSpPr/>
          <p:nvPr/>
        </p:nvSpPr>
        <p:spPr>
          <a:xfrm>
            <a:off x="6949976" y="3705293"/>
            <a:ext cx="4826690" cy="361950"/>
          </a:xfrm>
          <a:prstGeom prst="rect">
            <a:avLst/>
          </a:prstGeom>
          <a:noFill/>
          <a:ln/>
        </p:spPr>
        <p:txBody>
          <a:bodyPr wrap="square" lIns="25400" tIns="25400" rIns="25400" bIns="25400" rtlCol="0" anchor="t">
            <a:normAutofit/>
          </a:bodyPr>
          <a:lstStyle/>
          <a:p>
            <a:pPr marL="0" indent="0" algn="l">
              <a:buNone/>
            </a:pPr>
            <a:r>
              <a:rPr lang="en-US" sz="2025" dirty="0">
                <a:solidFill>
                  <a:srgbClr val="0E3145"/>
                </a:solidFill>
                <a:latin typeface="Euclid Circular A" pitchFamily="34" charset="0"/>
                <a:ea typeface="Euclid Circular A" pitchFamily="34" charset="-122"/>
                <a:cs typeface="Euclid Circular A" pitchFamily="34" charset="-120"/>
              </a:rPr>
              <a:t>Intitulé de l'indicateur</a:t>
            </a:r>
            <a:endParaRPr lang="en-US" sz="2025" dirty="0"/>
          </a:p>
        </p:txBody>
      </p:sp>
      <p:sp>
        <p:nvSpPr>
          <p:cNvPr id="12" name="Text 10"/>
          <p:cNvSpPr/>
          <p:nvPr/>
        </p:nvSpPr>
        <p:spPr>
          <a:xfrm>
            <a:off x="6949976" y="4086293"/>
            <a:ext cx="4826690"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Précision facultative.</a:t>
            </a:r>
            <a:endParaRPr lang="en-US" sz="1800" dirty="0"/>
          </a:p>
        </p:txBody>
      </p:sp>
      <p:sp>
        <p:nvSpPr>
          <p:cNvPr id="13" name="Shape 11"/>
          <p:cNvSpPr/>
          <p:nvPr/>
        </p:nvSpPr>
        <p:spPr>
          <a:xfrm>
            <a:off x="12052250" y="2400368"/>
            <a:ext cx="5168950" cy="2343150"/>
          </a:xfrm>
          <a:prstGeom prst="roundRect">
            <a:avLst>
              <a:gd name="adj" fmla="val 7317"/>
            </a:avLst>
          </a:prstGeom>
          <a:solidFill>
            <a:srgbClr val="FFFFFF"/>
          </a:solidFill>
          <a:ln w="9525">
            <a:solidFill>
              <a:srgbClr val="0E3145">
                <a:alpha val="12000"/>
              </a:srgbClr>
            </a:solidFill>
            <a:prstDash val="solid"/>
          </a:ln>
          <a:effectLst>
            <a:outerShdw blurRad="50800" dist="38100" dir="2700000" algn="tl" rotWithShape="0">
              <a:prstClr val="black">
                <a:alpha val="40000"/>
              </a:prstClr>
            </a:outerShdw>
          </a:effectLst>
        </p:spPr>
        <p:txBody>
          <a:bodyPr/>
          <a:lstStyle/>
          <a:p>
            <a:endParaRPr lang="fr-FR"/>
          </a:p>
        </p:txBody>
      </p:sp>
      <p:sp>
        <p:nvSpPr>
          <p:cNvPr id="14" name="Text 12"/>
          <p:cNvSpPr/>
          <p:nvPr/>
        </p:nvSpPr>
        <p:spPr>
          <a:xfrm>
            <a:off x="12442775" y="2771843"/>
            <a:ext cx="4826690" cy="8382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300" kern="0" spc="-189" dirty="0">
                <a:solidFill>
                  <a:srgbClr val="DC216E"/>
                </a:solidFill>
                <a:latin typeface="Euclid Circular A" pitchFamily="34" charset="0"/>
                <a:ea typeface="Euclid Circular A" pitchFamily="34" charset="-122"/>
                <a:cs typeface="Euclid Circular A" pitchFamily="34" charset="-120"/>
              </a:rPr>
              <a:t>00</a:t>
            </a:r>
            <a:endParaRPr lang="en-US" sz="6300" dirty="0"/>
          </a:p>
        </p:txBody>
      </p:sp>
      <p:sp>
        <p:nvSpPr>
          <p:cNvPr id="15" name="Text 13"/>
          <p:cNvSpPr/>
          <p:nvPr/>
        </p:nvSpPr>
        <p:spPr>
          <a:xfrm>
            <a:off x="12442775" y="3705293"/>
            <a:ext cx="4826690" cy="361950"/>
          </a:xfrm>
          <a:prstGeom prst="rect">
            <a:avLst/>
          </a:prstGeom>
          <a:noFill/>
          <a:ln/>
        </p:spPr>
        <p:txBody>
          <a:bodyPr wrap="square" lIns="25400" tIns="25400" rIns="25400" bIns="25400" rtlCol="0" anchor="t">
            <a:normAutofit/>
          </a:bodyPr>
          <a:lstStyle/>
          <a:p>
            <a:pPr marL="0" indent="0" algn="l">
              <a:buNone/>
            </a:pPr>
            <a:r>
              <a:rPr lang="en-US" sz="2025" dirty="0">
                <a:solidFill>
                  <a:srgbClr val="0E3145"/>
                </a:solidFill>
                <a:latin typeface="Euclid Circular A" pitchFamily="34" charset="0"/>
                <a:ea typeface="Euclid Circular A" pitchFamily="34" charset="-122"/>
                <a:cs typeface="Euclid Circular A" pitchFamily="34" charset="-120"/>
              </a:rPr>
              <a:t>Intitulé de l'indicateur</a:t>
            </a:r>
            <a:endParaRPr lang="en-US" sz="2025" dirty="0"/>
          </a:p>
        </p:txBody>
      </p:sp>
      <p:sp>
        <p:nvSpPr>
          <p:cNvPr id="16" name="Text 14"/>
          <p:cNvSpPr/>
          <p:nvPr/>
        </p:nvSpPr>
        <p:spPr>
          <a:xfrm>
            <a:off x="12442775" y="4086293"/>
            <a:ext cx="4826690"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Précision facultative.</a:t>
            </a:r>
            <a:endParaRPr lang="en-US" sz="1800" dirty="0"/>
          </a:p>
        </p:txBody>
      </p:sp>
      <p:pic>
        <p:nvPicPr>
          <p:cNvPr id="17" name="Image 0" descr="preencoded.png"/>
          <p:cNvPicPr>
            <a:picLocks noChangeAspect="1"/>
          </p:cNvPicPr>
          <p:nvPr/>
        </p:nvPicPr>
        <p:blipFill>
          <a:blip r:embed="rId3"/>
          <a:srcRect/>
          <a:stretch/>
        </p:blipFill>
        <p:spPr>
          <a:xfrm>
            <a:off x="1066800" y="6908905"/>
            <a:ext cx="381000" cy="381000"/>
          </a:xfrm>
          <a:prstGeom prst="rect">
            <a:avLst/>
          </a:prstGeom>
        </p:spPr>
      </p:pic>
      <p:sp>
        <p:nvSpPr>
          <p:cNvPr id="18" name="Text 15"/>
          <p:cNvSpPr/>
          <p:nvPr/>
        </p:nvSpPr>
        <p:spPr>
          <a:xfrm>
            <a:off x="1638300" y="6889855"/>
            <a:ext cx="7259107" cy="4238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Premier enseignement à retenir, formulé en une phrase.</a:t>
            </a:r>
            <a:endParaRPr lang="en-US" sz="2025" dirty="0"/>
          </a:p>
        </p:txBody>
      </p:sp>
      <p:pic>
        <p:nvPicPr>
          <p:cNvPr id="19" name="Image 1" descr="preencoded.png"/>
          <p:cNvPicPr>
            <a:picLocks noChangeAspect="1"/>
          </p:cNvPicPr>
          <p:nvPr/>
        </p:nvPicPr>
        <p:blipFill>
          <a:blip r:embed="rId4"/>
          <a:srcRect/>
          <a:stretch/>
        </p:blipFill>
        <p:spPr>
          <a:xfrm>
            <a:off x="9448800" y="6908905"/>
            <a:ext cx="381000" cy="381000"/>
          </a:xfrm>
          <a:prstGeom prst="rect">
            <a:avLst/>
          </a:prstGeom>
        </p:spPr>
      </p:pic>
      <p:sp>
        <p:nvSpPr>
          <p:cNvPr id="20" name="Text 16"/>
          <p:cNvSpPr/>
          <p:nvPr/>
        </p:nvSpPr>
        <p:spPr>
          <a:xfrm>
            <a:off x="10020300" y="6889855"/>
            <a:ext cx="7582763" cy="4238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Deuxième enseignement à retenir, formulé en une phrase.</a:t>
            </a:r>
            <a:endParaRPr lang="en-US" sz="2025" dirty="0"/>
          </a:p>
        </p:txBody>
      </p:sp>
      <p:pic>
        <p:nvPicPr>
          <p:cNvPr id="21" name="Image 2" descr="preencoded.png"/>
          <p:cNvPicPr>
            <a:picLocks noChangeAspect="1"/>
          </p:cNvPicPr>
          <p:nvPr/>
        </p:nvPicPr>
        <p:blipFill>
          <a:blip r:embed="rId5"/>
          <a:srcRect/>
          <a:stretch/>
        </p:blipFill>
        <p:spPr>
          <a:xfrm>
            <a:off x="1066800" y="7480405"/>
            <a:ext cx="381000" cy="381000"/>
          </a:xfrm>
          <a:prstGeom prst="rect">
            <a:avLst/>
          </a:prstGeom>
        </p:spPr>
      </p:pic>
      <p:sp>
        <p:nvSpPr>
          <p:cNvPr id="22" name="Text 17"/>
          <p:cNvSpPr/>
          <p:nvPr/>
        </p:nvSpPr>
        <p:spPr>
          <a:xfrm>
            <a:off x="1638300" y="7461355"/>
            <a:ext cx="7505983" cy="4238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Troisième enseignement à retenir, formulé en une phrase.</a:t>
            </a:r>
            <a:endParaRPr lang="en-US" sz="2025" dirty="0"/>
          </a:p>
        </p:txBody>
      </p:sp>
      <p:pic>
        <p:nvPicPr>
          <p:cNvPr id="23" name="Image 3" descr="preencoded.png"/>
          <p:cNvPicPr>
            <a:picLocks noChangeAspect="1"/>
          </p:cNvPicPr>
          <p:nvPr/>
        </p:nvPicPr>
        <p:blipFill>
          <a:blip r:embed="rId6"/>
          <a:srcRect/>
          <a:stretch/>
        </p:blipFill>
        <p:spPr>
          <a:xfrm>
            <a:off x="9448800" y="7480405"/>
            <a:ext cx="381000" cy="381000"/>
          </a:xfrm>
          <a:prstGeom prst="rect">
            <a:avLst/>
          </a:prstGeom>
        </p:spPr>
      </p:pic>
      <p:sp>
        <p:nvSpPr>
          <p:cNvPr id="24" name="Text 18"/>
          <p:cNvSpPr/>
          <p:nvPr/>
        </p:nvSpPr>
        <p:spPr>
          <a:xfrm>
            <a:off x="10020300" y="7461355"/>
            <a:ext cx="7690485" cy="4238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Quatrième enseignement à retenir, formulé en une phrase.</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Comparer par </a:t>
            </a:r>
            <a:r>
              <a:rPr lang="en-US" sz="6150" kern="0" spc="-184" dirty="0">
                <a:solidFill>
                  <a:srgbClr val="DC216E"/>
                </a:solidFill>
                <a:latin typeface="Euclid Circular A" pitchFamily="34" charset="0"/>
                <a:ea typeface="Euclid Circular A" pitchFamily="34" charset="-122"/>
                <a:cs typeface="Euclid Circular A" pitchFamily="34" charset="-120"/>
              </a:rPr>
              <a:t>catégorie</a:t>
            </a:r>
            <a:endParaRPr lang="en-US" sz="6150" dirty="0"/>
          </a:p>
        </p:txBody>
      </p:sp>
      <p:sp>
        <p:nvSpPr>
          <p:cNvPr id="5" name="Text 3"/>
          <p:cNvSpPr/>
          <p:nvPr/>
        </p:nvSpPr>
        <p:spPr>
          <a:xfrm>
            <a:off x="904875" y="3976756"/>
            <a:ext cx="1781175"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solidFill>
                <a:latin typeface="Euclid Circular A" pitchFamily="34" charset="0"/>
                <a:ea typeface="Euclid Circular A" pitchFamily="34" charset="-122"/>
                <a:cs typeface="Euclid Circular A" pitchFamily="34" charset="-120"/>
              </a:rPr>
              <a:t>Catégorie A</a:t>
            </a:r>
            <a:endParaRPr lang="en-US" sz="1800" dirty="0"/>
          </a:p>
        </p:txBody>
      </p:sp>
      <p:sp>
        <p:nvSpPr>
          <p:cNvPr id="6" name="Shape 4"/>
          <p:cNvSpPr/>
          <p:nvPr/>
        </p:nvSpPr>
        <p:spPr>
          <a:xfrm>
            <a:off x="2933700" y="3938656"/>
            <a:ext cx="6881961" cy="361950"/>
          </a:xfrm>
          <a:prstGeom prst="roundRect">
            <a:avLst>
              <a:gd name="adj" fmla="val 23684"/>
            </a:avLst>
          </a:prstGeom>
          <a:solidFill>
            <a:srgbClr val="F1ECE3"/>
          </a:solidFill>
          <a:ln/>
        </p:spPr>
        <p:txBody>
          <a:bodyPr/>
          <a:lstStyle/>
          <a:p>
            <a:endParaRPr lang="fr-FR"/>
          </a:p>
        </p:txBody>
      </p:sp>
      <p:sp>
        <p:nvSpPr>
          <p:cNvPr id="7" name="Shape 5"/>
          <p:cNvSpPr/>
          <p:nvPr/>
        </p:nvSpPr>
        <p:spPr>
          <a:xfrm>
            <a:off x="2933701" y="3938656"/>
            <a:ext cx="6210300" cy="361950"/>
          </a:xfrm>
          <a:prstGeom prst="roundRect">
            <a:avLst>
              <a:gd name="adj" fmla="val 23684"/>
            </a:avLst>
          </a:prstGeom>
          <a:solidFill>
            <a:srgbClr val="DC216E"/>
          </a:solidFill>
          <a:ln/>
        </p:spPr>
        <p:txBody>
          <a:bodyPr/>
          <a:lstStyle/>
          <a:p>
            <a:endParaRPr lang="fr-FR"/>
          </a:p>
        </p:txBody>
      </p:sp>
      <p:sp>
        <p:nvSpPr>
          <p:cNvPr id="8" name="Text 6"/>
          <p:cNvSpPr/>
          <p:nvPr/>
        </p:nvSpPr>
        <p:spPr>
          <a:xfrm>
            <a:off x="10063311" y="3938656"/>
            <a:ext cx="1181100"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000</a:t>
            </a:r>
            <a:endParaRPr lang="en-US" sz="2250" dirty="0"/>
          </a:p>
        </p:txBody>
      </p:sp>
      <p:sp>
        <p:nvSpPr>
          <p:cNvPr id="9" name="Text 7"/>
          <p:cNvSpPr/>
          <p:nvPr/>
        </p:nvSpPr>
        <p:spPr>
          <a:xfrm>
            <a:off x="904875" y="4567306"/>
            <a:ext cx="1781175"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Catégorie B</a:t>
            </a:r>
            <a:endParaRPr lang="en-US" sz="1800" dirty="0"/>
          </a:p>
        </p:txBody>
      </p:sp>
      <p:sp>
        <p:nvSpPr>
          <p:cNvPr id="10" name="Shape 8"/>
          <p:cNvSpPr/>
          <p:nvPr/>
        </p:nvSpPr>
        <p:spPr>
          <a:xfrm>
            <a:off x="2933700" y="4529206"/>
            <a:ext cx="6881961" cy="361950"/>
          </a:xfrm>
          <a:prstGeom prst="roundRect">
            <a:avLst>
              <a:gd name="adj" fmla="val 23684"/>
            </a:avLst>
          </a:prstGeom>
          <a:solidFill>
            <a:srgbClr val="F1ECE3"/>
          </a:solidFill>
          <a:ln/>
        </p:spPr>
        <p:txBody>
          <a:bodyPr/>
          <a:lstStyle/>
          <a:p>
            <a:endParaRPr lang="fr-FR"/>
          </a:p>
        </p:txBody>
      </p:sp>
      <p:sp>
        <p:nvSpPr>
          <p:cNvPr id="11" name="Shape 9"/>
          <p:cNvSpPr/>
          <p:nvPr/>
        </p:nvSpPr>
        <p:spPr>
          <a:xfrm>
            <a:off x="2933700" y="4529206"/>
            <a:ext cx="5092601" cy="361950"/>
          </a:xfrm>
          <a:prstGeom prst="roundRect">
            <a:avLst>
              <a:gd name="adj" fmla="val 23684"/>
            </a:avLst>
          </a:prstGeom>
          <a:solidFill>
            <a:srgbClr val="F4A6C4"/>
          </a:solidFill>
          <a:ln/>
        </p:spPr>
        <p:txBody>
          <a:bodyPr/>
          <a:lstStyle/>
          <a:p>
            <a:endParaRPr lang="fr-FR"/>
          </a:p>
        </p:txBody>
      </p:sp>
      <p:sp>
        <p:nvSpPr>
          <p:cNvPr id="12" name="Text 10"/>
          <p:cNvSpPr/>
          <p:nvPr/>
        </p:nvSpPr>
        <p:spPr>
          <a:xfrm>
            <a:off x="10063311" y="4529206"/>
            <a:ext cx="1181100"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alpha val="66000"/>
                  </a:srgbClr>
                </a:solidFill>
                <a:latin typeface="Euclid Circular A" pitchFamily="34" charset="0"/>
                <a:ea typeface="Euclid Circular A" pitchFamily="34" charset="-122"/>
                <a:cs typeface="Euclid Circular A" pitchFamily="34" charset="-120"/>
              </a:rPr>
              <a:t>000</a:t>
            </a:r>
            <a:endParaRPr lang="en-US" sz="2250" dirty="0"/>
          </a:p>
        </p:txBody>
      </p:sp>
      <p:sp>
        <p:nvSpPr>
          <p:cNvPr id="13" name="Text 11"/>
          <p:cNvSpPr/>
          <p:nvPr/>
        </p:nvSpPr>
        <p:spPr>
          <a:xfrm>
            <a:off x="904875" y="5157856"/>
            <a:ext cx="1781175"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Catégorie C</a:t>
            </a:r>
            <a:endParaRPr lang="en-US" sz="1800" dirty="0"/>
          </a:p>
        </p:txBody>
      </p:sp>
      <p:sp>
        <p:nvSpPr>
          <p:cNvPr id="14" name="Shape 12"/>
          <p:cNvSpPr/>
          <p:nvPr/>
        </p:nvSpPr>
        <p:spPr>
          <a:xfrm>
            <a:off x="2933700" y="5119756"/>
            <a:ext cx="6881961" cy="361950"/>
          </a:xfrm>
          <a:prstGeom prst="roundRect">
            <a:avLst>
              <a:gd name="adj" fmla="val 23684"/>
            </a:avLst>
          </a:prstGeom>
          <a:solidFill>
            <a:srgbClr val="F1ECE3"/>
          </a:solidFill>
          <a:ln/>
        </p:spPr>
        <p:txBody>
          <a:bodyPr/>
          <a:lstStyle/>
          <a:p>
            <a:endParaRPr lang="fr-FR"/>
          </a:p>
        </p:txBody>
      </p:sp>
      <p:sp>
        <p:nvSpPr>
          <p:cNvPr id="15" name="Shape 13"/>
          <p:cNvSpPr/>
          <p:nvPr/>
        </p:nvSpPr>
        <p:spPr>
          <a:xfrm>
            <a:off x="2933700" y="5119756"/>
            <a:ext cx="4197995" cy="361950"/>
          </a:xfrm>
          <a:prstGeom prst="roundRect">
            <a:avLst>
              <a:gd name="adj" fmla="val 23684"/>
            </a:avLst>
          </a:prstGeom>
          <a:solidFill>
            <a:srgbClr val="F4A6C4"/>
          </a:solidFill>
          <a:ln/>
        </p:spPr>
        <p:txBody>
          <a:bodyPr/>
          <a:lstStyle/>
          <a:p>
            <a:endParaRPr lang="fr-FR"/>
          </a:p>
        </p:txBody>
      </p:sp>
      <p:sp>
        <p:nvSpPr>
          <p:cNvPr id="16" name="Text 14"/>
          <p:cNvSpPr/>
          <p:nvPr/>
        </p:nvSpPr>
        <p:spPr>
          <a:xfrm>
            <a:off x="10063311" y="5119756"/>
            <a:ext cx="1181100"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alpha val="66000"/>
                  </a:srgbClr>
                </a:solidFill>
                <a:latin typeface="Euclid Circular A" pitchFamily="34" charset="0"/>
                <a:ea typeface="Euclid Circular A" pitchFamily="34" charset="-122"/>
                <a:cs typeface="Euclid Circular A" pitchFamily="34" charset="-120"/>
              </a:rPr>
              <a:t>000</a:t>
            </a:r>
            <a:endParaRPr lang="en-US" sz="2250" dirty="0"/>
          </a:p>
        </p:txBody>
      </p:sp>
      <p:sp>
        <p:nvSpPr>
          <p:cNvPr id="17" name="Text 15"/>
          <p:cNvSpPr/>
          <p:nvPr/>
        </p:nvSpPr>
        <p:spPr>
          <a:xfrm>
            <a:off x="904875" y="5748406"/>
            <a:ext cx="1781175"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Catégorie D</a:t>
            </a:r>
            <a:endParaRPr lang="en-US" sz="1800" dirty="0"/>
          </a:p>
        </p:txBody>
      </p:sp>
      <p:sp>
        <p:nvSpPr>
          <p:cNvPr id="18" name="Shape 16"/>
          <p:cNvSpPr/>
          <p:nvPr/>
        </p:nvSpPr>
        <p:spPr>
          <a:xfrm>
            <a:off x="2933700" y="5710306"/>
            <a:ext cx="6881961" cy="361950"/>
          </a:xfrm>
          <a:prstGeom prst="roundRect">
            <a:avLst>
              <a:gd name="adj" fmla="val 23684"/>
            </a:avLst>
          </a:prstGeom>
          <a:solidFill>
            <a:srgbClr val="F1ECE3"/>
          </a:solidFill>
          <a:ln/>
        </p:spPr>
        <p:txBody>
          <a:bodyPr/>
          <a:lstStyle/>
          <a:p>
            <a:endParaRPr lang="fr-FR"/>
          </a:p>
        </p:txBody>
      </p:sp>
      <p:sp>
        <p:nvSpPr>
          <p:cNvPr id="19" name="Shape 17"/>
          <p:cNvSpPr/>
          <p:nvPr/>
        </p:nvSpPr>
        <p:spPr>
          <a:xfrm>
            <a:off x="2933700" y="5710306"/>
            <a:ext cx="3234482" cy="361950"/>
          </a:xfrm>
          <a:prstGeom prst="roundRect">
            <a:avLst>
              <a:gd name="adj" fmla="val 23684"/>
            </a:avLst>
          </a:prstGeom>
          <a:solidFill>
            <a:srgbClr val="F4A6C4"/>
          </a:solidFill>
          <a:ln/>
        </p:spPr>
        <p:txBody>
          <a:bodyPr/>
          <a:lstStyle/>
          <a:p>
            <a:endParaRPr lang="fr-FR"/>
          </a:p>
        </p:txBody>
      </p:sp>
      <p:sp>
        <p:nvSpPr>
          <p:cNvPr id="20" name="Text 18"/>
          <p:cNvSpPr/>
          <p:nvPr/>
        </p:nvSpPr>
        <p:spPr>
          <a:xfrm>
            <a:off x="10063311" y="5710306"/>
            <a:ext cx="1181100"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alpha val="66000"/>
                  </a:srgbClr>
                </a:solidFill>
                <a:latin typeface="Euclid Circular A" pitchFamily="34" charset="0"/>
                <a:ea typeface="Euclid Circular A" pitchFamily="34" charset="-122"/>
                <a:cs typeface="Euclid Circular A" pitchFamily="34" charset="-120"/>
              </a:rPr>
              <a:t>000</a:t>
            </a:r>
            <a:endParaRPr lang="en-US" sz="2250" dirty="0"/>
          </a:p>
        </p:txBody>
      </p:sp>
      <p:sp>
        <p:nvSpPr>
          <p:cNvPr id="21" name="Text 19"/>
          <p:cNvSpPr/>
          <p:nvPr/>
        </p:nvSpPr>
        <p:spPr>
          <a:xfrm>
            <a:off x="904875" y="6338956"/>
            <a:ext cx="1781175"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Catégorie E</a:t>
            </a:r>
            <a:endParaRPr lang="en-US" sz="1800" dirty="0"/>
          </a:p>
        </p:txBody>
      </p:sp>
      <p:sp>
        <p:nvSpPr>
          <p:cNvPr id="22" name="Shape 20"/>
          <p:cNvSpPr/>
          <p:nvPr/>
        </p:nvSpPr>
        <p:spPr>
          <a:xfrm>
            <a:off x="2933700" y="6300856"/>
            <a:ext cx="6881961" cy="361950"/>
          </a:xfrm>
          <a:prstGeom prst="roundRect">
            <a:avLst>
              <a:gd name="adj" fmla="val 23684"/>
            </a:avLst>
          </a:prstGeom>
          <a:solidFill>
            <a:srgbClr val="F1ECE3"/>
          </a:solidFill>
          <a:ln/>
        </p:spPr>
        <p:txBody>
          <a:bodyPr/>
          <a:lstStyle/>
          <a:p>
            <a:endParaRPr lang="fr-FR"/>
          </a:p>
        </p:txBody>
      </p:sp>
      <p:sp>
        <p:nvSpPr>
          <p:cNvPr id="23" name="Shape 21"/>
          <p:cNvSpPr/>
          <p:nvPr/>
        </p:nvSpPr>
        <p:spPr>
          <a:xfrm>
            <a:off x="2933700" y="6300856"/>
            <a:ext cx="2270968" cy="361950"/>
          </a:xfrm>
          <a:prstGeom prst="roundRect">
            <a:avLst>
              <a:gd name="adj" fmla="val 23684"/>
            </a:avLst>
          </a:prstGeom>
          <a:solidFill>
            <a:srgbClr val="F4A6C4"/>
          </a:solidFill>
          <a:ln/>
        </p:spPr>
        <p:txBody>
          <a:bodyPr/>
          <a:lstStyle/>
          <a:p>
            <a:endParaRPr lang="fr-FR"/>
          </a:p>
        </p:txBody>
      </p:sp>
      <p:sp>
        <p:nvSpPr>
          <p:cNvPr id="24" name="Text 22"/>
          <p:cNvSpPr/>
          <p:nvPr/>
        </p:nvSpPr>
        <p:spPr>
          <a:xfrm>
            <a:off x="10063311" y="6300856"/>
            <a:ext cx="1181100"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alpha val="66000"/>
                  </a:srgbClr>
                </a:solidFill>
                <a:latin typeface="Euclid Circular A" pitchFamily="34" charset="0"/>
                <a:ea typeface="Euclid Circular A" pitchFamily="34" charset="-122"/>
                <a:cs typeface="Euclid Circular A" pitchFamily="34" charset="-120"/>
              </a:rPr>
              <a:t>000</a:t>
            </a:r>
            <a:endParaRPr lang="en-US" sz="2250" dirty="0"/>
          </a:p>
        </p:txBody>
      </p:sp>
      <p:sp>
        <p:nvSpPr>
          <p:cNvPr id="25" name="Text 23"/>
          <p:cNvSpPr/>
          <p:nvPr/>
        </p:nvSpPr>
        <p:spPr>
          <a:xfrm>
            <a:off x="904875" y="6929506"/>
            <a:ext cx="1781175"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Catégorie F</a:t>
            </a:r>
            <a:endParaRPr lang="en-US" sz="1800" dirty="0"/>
          </a:p>
        </p:txBody>
      </p:sp>
      <p:sp>
        <p:nvSpPr>
          <p:cNvPr id="26" name="Shape 24"/>
          <p:cNvSpPr/>
          <p:nvPr/>
        </p:nvSpPr>
        <p:spPr>
          <a:xfrm>
            <a:off x="2933700" y="6891406"/>
            <a:ext cx="6881961" cy="361950"/>
          </a:xfrm>
          <a:prstGeom prst="roundRect">
            <a:avLst>
              <a:gd name="adj" fmla="val 23684"/>
            </a:avLst>
          </a:prstGeom>
          <a:solidFill>
            <a:srgbClr val="F1ECE3"/>
          </a:solidFill>
          <a:ln/>
        </p:spPr>
        <p:txBody>
          <a:bodyPr/>
          <a:lstStyle/>
          <a:p>
            <a:endParaRPr lang="fr-FR"/>
          </a:p>
        </p:txBody>
      </p:sp>
      <p:sp>
        <p:nvSpPr>
          <p:cNvPr id="27" name="Shape 25"/>
          <p:cNvSpPr/>
          <p:nvPr/>
        </p:nvSpPr>
        <p:spPr>
          <a:xfrm>
            <a:off x="2933700" y="6891406"/>
            <a:ext cx="1376363" cy="361950"/>
          </a:xfrm>
          <a:prstGeom prst="roundRect">
            <a:avLst>
              <a:gd name="adj" fmla="val 23684"/>
            </a:avLst>
          </a:prstGeom>
          <a:solidFill>
            <a:srgbClr val="F4A6C4"/>
          </a:solidFill>
          <a:ln/>
        </p:spPr>
        <p:txBody>
          <a:bodyPr/>
          <a:lstStyle/>
          <a:p>
            <a:endParaRPr lang="fr-FR"/>
          </a:p>
        </p:txBody>
      </p:sp>
      <p:sp>
        <p:nvSpPr>
          <p:cNvPr id="28" name="Text 26"/>
          <p:cNvSpPr/>
          <p:nvPr/>
        </p:nvSpPr>
        <p:spPr>
          <a:xfrm>
            <a:off x="10063311" y="6891406"/>
            <a:ext cx="1181100"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alpha val="66000"/>
                  </a:srgbClr>
                </a:solidFill>
                <a:latin typeface="Euclid Circular A" pitchFamily="34" charset="0"/>
                <a:ea typeface="Euclid Circular A" pitchFamily="34" charset="-122"/>
                <a:cs typeface="Euclid Circular A" pitchFamily="34" charset="-120"/>
              </a:rPr>
              <a:t>000</a:t>
            </a:r>
            <a:endParaRPr lang="en-US" sz="2250" dirty="0"/>
          </a:p>
        </p:txBody>
      </p:sp>
      <p:sp>
        <p:nvSpPr>
          <p:cNvPr id="29" name="Shape 27"/>
          <p:cNvSpPr/>
          <p:nvPr/>
        </p:nvSpPr>
        <p:spPr>
          <a:xfrm>
            <a:off x="11968311" y="4335227"/>
            <a:ext cx="19050" cy="2527846"/>
          </a:xfrm>
          <a:prstGeom prst="rect">
            <a:avLst/>
          </a:prstGeom>
          <a:solidFill>
            <a:srgbClr val="DC216E">
              <a:alpha val="98000"/>
            </a:srgbClr>
          </a:solidFill>
          <a:ln/>
        </p:spPr>
        <p:txBody>
          <a:bodyPr/>
          <a:lstStyle/>
          <a:p>
            <a:endParaRPr lang="fr-FR"/>
          </a:p>
        </p:txBody>
      </p:sp>
      <p:sp>
        <p:nvSpPr>
          <p:cNvPr id="30" name="Text 28"/>
          <p:cNvSpPr/>
          <p:nvPr/>
        </p:nvSpPr>
        <p:spPr>
          <a:xfrm>
            <a:off x="12425511" y="4335227"/>
            <a:ext cx="5275258" cy="1127671"/>
          </a:xfrm>
          <a:prstGeom prst="rect">
            <a:avLst/>
          </a:prstGeom>
          <a:noFill/>
          <a:ln/>
        </p:spPr>
        <p:txBody>
          <a:bodyPr wrap="square" lIns="25400" tIns="25400" rIns="25400" bIns="25400" rtlCol="0" anchor="t">
            <a:normAutofit fontScale="92500" lnSpcReduction="20000"/>
          </a:bodyPr>
          <a:lstStyle/>
          <a:p>
            <a:pPr marL="0" indent="0" algn="l">
              <a:lnSpc>
                <a:spcPct val="88000"/>
              </a:lnSpc>
              <a:buNone/>
            </a:pPr>
            <a:r>
              <a:rPr lang="en-US" sz="9750" kern="0" spc="-341" dirty="0">
                <a:solidFill>
                  <a:srgbClr val="DC216E"/>
                </a:solidFill>
                <a:latin typeface="Euclid Circular A" pitchFamily="34" charset="0"/>
                <a:ea typeface="Euclid Circular A" pitchFamily="34" charset="-122"/>
                <a:cs typeface="Euclid Circular A" pitchFamily="34" charset="-120"/>
              </a:rPr>
              <a:t>00 </a:t>
            </a:r>
            <a:r>
              <a:rPr lang="en-US" sz="4350" kern="0" spc="-341" dirty="0">
                <a:solidFill>
                  <a:srgbClr val="DC216E"/>
                </a:solidFill>
                <a:latin typeface="Euclid Circular A" pitchFamily="34" charset="0"/>
                <a:ea typeface="Euclid Circular A" pitchFamily="34" charset="-122"/>
                <a:cs typeface="Euclid Circular A" pitchFamily="34" charset="-120"/>
              </a:rPr>
              <a:t>%</a:t>
            </a:r>
            <a:endParaRPr lang="en-US" sz="9750" dirty="0"/>
          </a:p>
        </p:txBody>
      </p:sp>
      <p:sp>
        <p:nvSpPr>
          <p:cNvPr id="31" name="Text 29"/>
          <p:cNvSpPr/>
          <p:nvPr/>
        </p:nvSpPr>
        <p:spPr>
          <a:xfrm>
            <a:off x="12425511" y="5558148"/>
            <a:ext cx="5275258"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Chiffre saillant</a:t>
            </a:r>
            <a:endParaRPr lang="en-US" sz="2250" dirty="0"/>
          </a:p>
        </p:txBody>
      </p:sp>
      <p:sp>
        <p:nvSpPr>
          <p:cNvPr id="32" name="Text 30"/>
          <p:cNvSpPr/>
          <p:nvPr/>
        </p:nvSpPr>
        <p:spPr>
          <a:xfrm>
            <a:off x="12425511" y="6091548"/>
            <a:ext cx="3941469" cy="80962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Légende : ce que ce chiffre du graphique met en évidence.</a:t>
            </a:r>
            <a:endParaRPr lang="en-US" sz="20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Répartition </a:t>
            </a:r>
            <a:r>
              <a:rPr lang="en-US" sz="6150" kern="0" spc="-184" dirty="0">
                <a:solidFill>
                  <a:srgbClr val="DC216E"/>
                </a:solidFill>
                <a:latin typeface="Euclid Circular A" pitchFamily="34" charset="0"/>
                <a:ea typeface="Euclid Circular A" pitchFamily="34" charset="-122"/>
                <a:cs typeface="Euclid Circular A" pitchFamily="34" charset="-120"/>
              </a:rPr>
              <a:t>croisée</a:t>
            </a:r>
            <a:endParaRPr lang="en-US" sz="6150" dirty="0"/>
          </a:p>
        </p:txBody>
      </p:sp>
      <p:sp>
        <p:nvSpPr>
          <p:cNvPr id="5" name="Shape 3"/>
          <p:cNvSpPr/>
          <p:nvPr/>
        </p:nvSpPr>
        <p:spPr>
          <a:xfrm>
            <a:off x="1066800" y="2343215"/>
            <a:ext cx="171450" cy="171450"/>
          </a:xfrm>
          <a:prstGeom prst="roundRect">
            <a:avLst>
              <a:gd name="adj" fmla="val 27778"/>
            </a:avLst>
          </a:prstGeom>
          <a:solidFill>
            <a:srgbClr val="DC216E"/>
          </a:solidFill>
          <a:ln/>
        </p:spPr>
        <p:txBody>
          <a:bodyPr/>
          <a:lstStyle/>
          <a:p>
            <a:endParaRPr lang="fr-FR"/>
          </a:p>
        </p:txBody>
      </p:sp>
      <p:sp>
        <p:nvSpPr>
          <p:cNvPr id="6" name="Text 4"/>
          <p:cNvSpPr/>
          <p:nvPr/>
        </p:nvSpPr>
        <p:spPr>
          <a:xfrm>
            <a:off x="1352550" y="2286065"/>
            <a:ext cx="741759"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Part A</a:t>
            </a:r>
            <a:endParaRPr lang="en-US" sz="1800" dirty="0"/>
          </a:p>
        </p:txBody>
      </p:sp>
      <p:sp>
        <p:nvSpPr>
          <p:cNvPr id="7" name="Shape 5"/>
          <p:cNvSpPr/>
          <p:nvPr/>
        </p:nvSpPr>
        <p:spPr>
          <a:xfrm>
            <a:off x="2399109" y="2343215"/>
            <a:ext cx="171450" cy="171450"/>
          </a:xfrm>
          <a:prstGeom prst="roundRect">
            <a:avLst>
              <a:gd name="adj" fmla="val 27778"/>
            </a:avLst>
          </a:prstGeom>
          <a:solidFill>
            <a:srgbClr val="0E3145"/>
          </a:solidFill>
          <a:ln/>
        </p:spPr>
        <p:txBody>
          <a:bodyPr/>
          <a:lstStyle/>
          <a:p>
            <a:endParaRPr lang="fr-FR"/>
          </a:p>
        </p:txBody>
      </p:sp>
      <p:sp>
        <p:nvSpPr>
          <p:cNvPr id="8" name="Text 6"/>
          <p:cNvSpPr/>
          <p:nvPr/>
        </p:nvSpPr>
        <p:spPr>
          <a:xfrm>
            <a:off x="2684859" y="2286065"/>
            <a:ext cx="726430"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Part B</a:t>
            </a:r>
            <a:endParaRPr lang="en-US" sz="1800" dirty="0"/>
          </a:p>
        </p:txBody>
      </p:sp>
      <p:sp>
        <p:nvSpPr>
          <p:cNvPr id="9" name="Text 7"/>
          <p:cNvSpPr/>
          <p:nvPr/>
        </p:nvSpPr>
        <p:spPr>
          <a:xfrm>
            <a:off x="933450" y="4510152"/>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solidFill>
                <a:latin typeface="Euclid Circular A" pitchFamily="34" charset="0"/>
                <a:ea typeface="Euclid Circular A" pitchFamily="34" charset="-122"/>
                <a:cs typeface="Euclid Circular A" pitchFamily="34" charset="-120"/>
              </a:rPr>
              <a:t>Tranche 1</a:t>
            </a:r>
            <a:endParaRPr lang="en-US" sz="1800" dirty="0"/>
          </a:p>
        </p:txBody>
      </p:sp>
      <p:sp>
        <p:nvSpPr>
          <p:cNvPr id="10" name="Shape 8"/>
          <p:cNvSpPr/>
          <p:nvPr/>
        </p:nvSpPr>
        <p:spPr>
          <a:xfrm>
            <a:off x="2667000" y="4462527"/>
            <a:ext cx="13098661" cy="381000"/>
          </a:xfrm>
          <a:prstGeom prst="rect">
            <a:avLst/>
          </a:prstGeom>
          <a:solidFill>
            <a:srgbClr val="DC216E"/>
          </a:solidFill>
          <a:ln/>
        </p:spPr>
        <p:txBody>
          <a:bodyPr/>
          <a:lstStyle/>
          <a:p>
            <a:endParaRPr lang="fr-FR"/>
          </a:p>
        </p:txBody>
      </p:sp>
      <p:sp>
        <p:nvSpPr>
          <p:cNvPr id="11" name="Text 9"/>
          <p:cNvSpPr/>
          <p:nvPr/>
        </p:nvSpPr>
        <p:spPr>
          <a:xfrm>
            <a:off x="2838450" y="4462527"/>
            <a:ext cx="13320171" cy="419100"/>
          </a:xfrm>
          <a:prstGeom prst="rect">
            <a:avLst/>
          </a:prstGeom>
          <a:noFill/>
          <a:ln/>
        </p:spPr>
        <p:txBody>
          <a:bodyPr wrap="square" lIns="25400" tIns="25400" rIns="25400" bIns="25400" rtlCol="0" anchor="ctr">
            <a:normAutofit/>
          </a:bodyPr>
          <a:lstStyle/>
          <a:p>
            <a:pPr marL="0" indent="0" algn="l">
              <a:buNone/>
            </a:pPr>
            <a:r>
              <a:rPr lang="en-US" sz="1800" dirty="0">
                <a:solidFill>
                  <a:srgbClr val="FFFFFF"/>
                </a:solidFill>
                <a:latin typeface="Euclid Circular A" pitchFamily="34" charset="0"/>
                <a:ea typeface="Euclid Circular A" pitchFamily="34" charset="-122"/>
                <a:cs typeface="Euclid Circular A" pitchFamily="34" charset="-120"/>
              </a:rPr>
              <a:t>90 %</a:t>
            </a:r>
            <a:endParaRPr lang="en-US" sz="1800" dirty="0"/>
          </a:p>
        </p:txBody>
      </p:sp>
      <p:sp>
        <p:nvSpPr>
          <p:cNvPr id="12" name="Shape 10"/>
          <p:cNvSpPr/>
          <p:nvPr/>
        </p:nvSpPr>
        <p:spPr>
          <a:xfrm>
            <a:off x="15765661" y="4462527"/>
            <a:ext cx="1455539" cy="381000"/>
          </a:xfrm>
          <a:prstGeom prst="rect">
            <a:avLst/>
          </a:prstGeom>
          <a:solidFill>
            <a:srgbClr val="0E3145"/>
          </a:solidFill>
          <a:ln/>
        </p:spPr>
        <p:txBody>
          <a:bodyPr/>
          <a:lstStyle/>
          <a:p>
            <a:endParaRPr lang="fr-FR"/>
          </a:p>
        </p:txBody>
      </p:sp>
      <p:sp>
        <p:nvSpPr>
          <p:cNvPr id="13" name="Text 11"/>
          <p:cNvSpPr/>
          <p:nvPr/>
        </p:nvSpPr>
        <p:spPr>
          <a:xfrm>
            <a:off x="15689461" y="4462527"/>
            <a:ext cx="1379339" cy="419100"/>
          </a:xfrm>
          <a:prstGeom prst="rect">
            <a:avLst/>
          </a:prstGeom>
          <a:noFill/>
          <a:ln/>
        </p:spPr>
        <p:txBody>
          <a:bodyPr wrap="square" lIns="25400" tIns="25400" rIns="25400" bIns="25400" rtlCol="0" anchor="ctr">
            <a:normAutofit/>
          </a:bodyPr>
          <a:lstStyle/>
          <a:p>
            <a:pPr marL="0" indent="0" algn="r">
              <a:buNone/>
            </a:pPr>
            <a:r>
              <a:rPr lang="en-US" sz="1800" dirty="0">
                <a:solidFill>
                  <a:srgbClr val="FFFFFF"/>
                </a:solidFill>
                <a:latin typeface="Euclid Circular A" pitchFamily="34" charset="0"/>
                <a:ea typeface="Euclid Circular A" pitchFamily="34" charset="-122"/>
                <a:cs typeface="Euclid Circular A" pitchFamily="34" charset="-120"/>
              </a:rPr>
              <a:t>10 %</a:t>
            </a:r>
            <a:endParaRPr lang="en-US" sz="1800" dirty="0"/>
          </a:p>
        </p:txBody>
      </p:sp>
      <p:sp>
        <p:nvSpPr>
          <p:cNvPr id="14" name="Text 12"/>
          <p:cNvSpPr/>
          <p:nvPr/>
        </p:nvSpPr>
        <p:spPr>
          <a:xfrm>
            <a:off x="933450" y="5100702"/>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solidFill>
                <a:latin typeface="Euclid Circular A" pitchFamily="34" charset="0"/>
                <a:ea typeface="Euclid Circular A" pitchFamily="34" charset="-122"/>
                <a:cs typeface="Euclid Circular A" pitchFamily="34" charset="-120"/>
              </a:rPr>
              <a:t>Tranche 2</a:t>
            </a:r>
            <a:endParaRPr lang="en-US" sz="1800" dirty="0"/>
          </a:p>
        </p:txBody>
      </p:sp>
      <p:sp>
        <p:nvSpPr>
          <p:cNvPr id="15" name="Shape 13"/>
          <p:cNvSpPr/>
          <p:nvPr/>
        </p:nvSpPr>
        <p:spPr>
          <a:xfrm>
            <a:off x="2667000" y="5053077"/>
            <a:ext cx="10915650" cy="381000"/>
          </a:xfrm>
          <a:prstGeom prst="rect">
            <a:avLst/>
          </a:prstGeom>
          <a:solidFill>
            <a:srgbClr val="DC216E"/>
          </a:solidFill>
          <a:ln/>
        </p:spPr>
        <p:txBody>
          <a:bodyPr/>
          <a:lstStyle/>
          <a:p>
            <a:endParaRPr lang="fr-FR"/>
          </a:p>
        </p:txBody>
      </p:sp>
      <p:sp>
        <p:nvSpPr>
          <p:cNvPr id="16" name="Text 14"/>
          <p:cNvSpPr/>
          <p:nvPr/>
        </p:nvSpPr>
        <p:spPr>
          <a:xfrm>
            <a:off x="2838450" y="5053077"/>
            <a:ext cx="11071670" cy="419100"/>
          </a:xfrm>
          <a:prstGeom prst="rect">
            <a:avLst/>
          </a:prstGeom>
          <a:noFill/>
          <a:ln/>
        </p:spPr>
        <p:txBody>
          <a:bodyPr wrap="square" lIns="25400" tIns="25400" rIns="25400" bIns="25400" rtlCol="0" anchor="ctr">
            <a:normAutofit/>
          </a:bodyPr>
          <a:lstStyle/>
          <a:p>
            <a:pPr marL="0" indent="0" algn="l">
              <a:buNone/>
            </a:pPr>
            <a:r>
              <a:rPr lang="en-US" sz="1800" dirty="0">
                <a:solidFill>
                  <a:srgbClr val="FFFFFF"/>
                </a:solidFill>
                <a:latin typeface="Euclid Circular A" pitchFamily="34" charset="0"/>
                <a:ea typeface="Euclid Circular A" pitchFamily="34" charset="-122"/>
                <a:cs typeface="Euclid Circular A" pitchFamily="34" charset="-120"/>
              </a:rPr>
              <a:t>75 %</a:t>
            </a:r>
            <a:endParaRPr lang="en-US" sz="1800" dirty="0"/>
          </a:p>
        </p:txBody>
      </p:sp>
      <p:sp>
        <p:nvSpPr>
          <p:cNvPr id="17" name="Shape 15"/>
          <p:cNvSpPr/>
          <p:nvPr/>
        </p:nvSpPr>
        <p:spPr>
          <a:xfrm>
            <a:off x="13582650" y="5053077"/>
            <a:ext cx="3638550" cy="381000"/>
          </a:xfrm>
          <a:prstGeom prst="rect">
            <a:avLst/>
          </a:prstGeom>
          <a:solidFill>
            <a:srgbClr val="0E3145"/>
          </a:solidFill>
          <a:ln/>
        </p:spPr>
        <p:txBody>
          <a:bodyPr/>
          <a:lstStyle/>
          <a:p>
            <a:endParaRPr lang="fr-FR"/>
          </a:p>
        </p:txBody>
      </p:sp>
      <p:sp>
        <p:nvSpPr>
          <p:cNvPr id="18" name="Text 16"/>
          <p:cNvSpPr/>
          <p:nvPr/>
        </p:nvSpPr>
        <p:spPr>
          <a:xfrm>
            <a:off x="13473494" y="5053077"/>
            <a:ext cx="3595307" cy="419100"/>
          </a:xfrm>
          <a:prstGeom prst="rect">
            <a:avLst/>
          </a:prstGeom>
          <a:noFill/>
          <a:ln/>
        </p:spPr>
        <p:txBody>
          <a:bodyPr wrap="square" lIns="25400" tIns="25400" rIns="25400" bIns="25400" rtlCol="0" anchor="ctr">
            <a:normAutofit/>
          </a:bodyPr>
          <a:lstStyle/>
          <a:p>
            <a:pPr marL="0" indent="0" algn="r">
              <a:buNone/>
            </a:pPr>
            <a:r>
              <a:rPr lang="en-US" sz="1800" dirty="0">
                <a:solidFill>
                  <a:srgbClr val="FFFFFF"/>
                </a:solidFill>
                <a:latin typeface="Euclid Circular A" pitchFamily="34" charset="0"/>
                <a:ea typeface="Euclid Circular A" pitchFamily="34" charset="-122"/>
                <a:cs typeface="Euclid Circular A" pitchFamily="34" charset="-120"/>
              </a:rPr>
              <a:t>25 %</a:t>
            </a:r>
            <a:endParaRPr lang="en-US" sz="1800" dirty="0"/>
          </a:p>
        </p:txBody>
      </p:sp>
      <p:sp>
        <p:nvSpPr>
          <p:cNvPr id="19" name="Text 17"/>
          <p:cNvSpPr/>
          <p:nvPr/>
        </p:nvSpPr>
        <p:spPr>
          <a:xfrm>
            <a:off x="933450" y="5691252"/>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solidFill>
                <a:latin typeface="Euclid Circular A" pitchFamily="34" charset="0"/>
                <a:ea typeface="Euclid Circular A" pitchFamily="34" charset="-122"/>
                <a:cs typeface="Euclid Circular A" pitchFamily="34" charset="-120"/>
              </a:rPr>
              <a:t>Tranche 3</a:t>
            </a:r>
            <a:endParaRPr lang="en-US" sz="1800" dirty="0"/>
          </a:p>
        </p:txBody>
      </p:sp>
      <p:sp>
        <p:nvSpPr>
          <p:cNvPr id="20" name="Shape 18"/>
          <p:cNvSpPr/>
          <p:nvPr/>
        </p:nvSpPr>
        <p:spPr>
          <a:xfrm>
            <a:off x="2667000" y="5643627"/>
            <a:ext cx="8732490" cy="381000"/>
          </a:xfrm>
          <a:prstGeom prst="rect">
            <a:avLst/>
          </a:prstGeom>
          <a:solidFill>
            <a:srgbClr val="DC216E"/>
          </a:solidFill>
          <a:ln/>
        </p:spPr>
        <p:txBody>
          <a:bodyPr/>
          <a:lstStyle/>
          <a:p>
            <a:endParaRPr lang="fr-FR"/>
          </a:p>
        </p:txBody>
      </p:sp>
      <p:sp>
        <p:nvSpPr>
          <p:cNvPr id="21" name="Text 19"/>
          <p:cNvSpPr/>
          <p:nvPr/>
        </p:nvSpPr>
        <p:spPr>
          <a:xfrm>
            <a:off x="2838450" y="5643627"/>
            <a:ext cx="8823015" cy="419100"/>
          </a:xfrm>
          <a:prstGeom prst="rect">
            <a:avLst/>
          </a:prstGeom>
          <a:noFill/>
          <a:ln/>
        </p:spPr>
        <p:txBody>
          <a:bodyPr wrap="square" lIns="25400" tIns="25400" rIns="25400" bIns="25400" rtlCol="0" anchor="ctr">
            <a:normAutofit/>
          </a:bodyPr>
          <a:lstStyle/>
          <a:p>
            <a:pPr marL="0" indent="0" algn="l">
              <a:buNone/>
            </a:pPr>
            <a:r>
              <a:rPr lang="en-US" sz="1800" dirty="0">
                <a:solidFill>
                  <a:srgbClr val="FFFFFF"/>
                </a:solidFill>
                <a:latin typeface="Euclid Circular A" pitchFamily="34" charset="0"/>
                <a:ea typeface="Euclid Circular A" pitchFamily="34" charset="-122"/>
                <a:cs typeface="Euclid Circular A" pitchFamily="34" charset="-120"/>
              </a:rPr>
              <a:t>60 %</a:t>
            </a:r>
            <a:endParaRPr lang="en-US" sz="1800" dirty="0"/>
          </a:p>
        </p:txBody>
      </p:sp>
      <p:sp>
        <p:nvSpPr>
          <p:cNvPr id="22" name="Shape 20"/>
          <p:cNvSpPr/>
          <p:nvPr/>
        </p:nvSpPr>
        <p:spPr>
          <a:xfrm>
            <a:off x="11399490" y="5643627"/>
            <a:ext cx="5821710" cy="381000"/>
          </a:xfrm>
          <a:prstGeom prst="rect">
            <a:avLst/>
          </a:prstGeom>
          <a:solidFill>
            <a:srgbClr val="0E3145"/>
          </a:solidFill>
          <a:ln/>
        </p:spPr>
        <p:txBody>
          <a:bodyPr/>
          <a:lstStyle/>
          <a:p>
            <a:endParaRPr lang="fr-FR"/>
          </a:p>
        </p:txBody>
      </p:sp>
      <p:sp>
        <p:nvSpPr>
          <p:cNvPr id="23" name="Text 21"/>
          <p:cNvSpPr/>
          <p:nvPr/>
        </p:nvSpPr>
        <p:spPr>
          <a:xfrm>
            <a:off x="11224839" y="5643627"/>
            <a:ext cx="5843961" cy="419100"/>
          </a:xfrm>
          <a:prstGeom prst="rect">
            <a:avLst/>
          </a:prstGeom>
          <a:noFill/>
          <a:ln/>
        </p:spPr>
        <p:txBody>
          <a:bodyPr wrap="square" lIns="25400" tIns="25400" rIns="25400" bIns="25400" rtlCol="0" anchor="ctr">
            <a:normAutofit/>
          </a:bodyPr>
          <a:lstStyle/>
          <a:p>
            <a:pPr marL="0" indent="0" algn="r">
              <a:buNone/>
            </a:pPr>
            <a:r>
              <a:rPr lang="en-US" sz="1800" dirty="0">
                <a:solidFill>
                  <a:srgbClr val="FFFFFF"/>
                </a:solidFill>
                <a:latin typeface="Euclid Circular A" pitchFamily="34" charset="0"/>
                <a:ea typeface="Euclid Circular A" pitchFamily="34" charset="-122"/>
                <a:cs typeface="Euclid Circular A" pitchFamily="34" charset="-120"/>
              </a:rPr>
              <a:t>40 %</a:t>
            </a:r>
            <a:endParaRPr lang="en-US" sz="1800" dirty="0"/>
          </a:p>
        </p:txBody>
      </p:sp>
      <p:sp>
        <p:nvSpPr>
          <p:cNvPr id="24" name="Text 22"/>
          <p:cNvSpPr/>
          <p:nvPr/>
        </p:nvSpPr>
        <p:spPr>
          <a:xfrm>
            <a:off x="933450" y="6281802"/>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solidFill>
                <a:latin typeface="Euclid Circular A" pitchFamily="34" charset="0"/>
                <a:ea typeface="Euclid Circular A" pitchFamily="34" charset="-122"/>
                <a:cs typeface="Euclid Circular A" pitchFamily="34" charset="-120"/>
              </a:rPr>
              <a:t>Tranche 4</a:t>
            </a:r>
            <a:endParaRPr lang="en-US" sz="1800" dirty="0"/>
          </a:p>
        </p:txBody>
      </p:sp>
      <p:sp>
        <p:nvSpPr>
          <p:cNvPr id="25" name="Shape 23"/>
          <p:cNvSpPr/>
          <p:nvPr/>
        </p:nvSpPr>
        <p:spPr>
          <a:xfrm>
            <a:off x="2667000" y="6234177"/>
            <a:ext cx="6549330" cy="381000"/>
          </a:xfrm>
          <a:prstGeom prst="rect">
            <a:avLst/>
          </a:prstGeom>
          <a:solidFill>
            <a:srgbClr val="DC216E"/>
          </a:solidFill>
          <a:ln/>
        </p:spPr>
        <p:txBody>
          <a:bodyPr/>
          <a:lstStyle/>
          <a:p>
            <a:endParaRPr lang="fr-FR"/>
          </a:p>
        </p:txBody>
      </p:sp>
      <p:sp>
        <p:nvSpPr>
          <p:cNvPr id="26" name="Text 24"/>
          <p:cNvSpPr/>
          <p:nvPr/>
        </p:nvSpPr>
        <p:spPr>
          <a:xfrm>
            <a:off x="2838450" y="6234177"/>
            <a:ext cx="6574360" cy="419100"/>
          </a:xfrm>
          <a:prstGeom prst="rect">
            <a:avLst/>
          </a:prstGeom>
          <a:noFill/>
          <a:ln/>
        </p:spPr>
        <p:txBody>
          <a:bodyPr wrap="square" lIns="25400" tIns="25400" rIns="25400" bIns="25400" rtlCol="0" anchor="ctr">
            <a:normAutofit/>
          </a:bodyPr>
          <a:lstStyle/>
          <a:p>
            <a:pPr marL="0" indent="0" algn="l">
              <a:buNone/>
            </a:pPr>
            <a:r>
              <a:rPr lang="en-US" sz="1800" dirty="0">
                <a:solidFill>
                  <a:srgbClr val="FFFFFF"/>
                </a:solidFill>
                <a:latin typeface="Euclid Circular A" pitchFamily="34" charset="0"/>
                <a:ea typeface="Euclid Circular A" pitchFamily="34" charset="-122"/>
                <a:cs typeface="Euclid Circular A" pitchFamily="34" charset="-120"/>
              </a:rPr>
              <a:t>45 %</a:t>
            </a:r>
            <a:endParaRPr lang="en-US" sz="1800" dirty="0"/>
          </a:p>
        </p:txBody>
      </p:sp>
      <p:sp>
        <p:nvSpPr>
          <p:cNvPr id="27" name="Shape 25"/>
          <p:cNvSpPr/>
          <p:nvPr/>
        </p:nvSpPr>
        <p:spPr>
          <a:xfrm>
            <a:off x="9216330" y="6234177"/>
            <a:ext cx="8004870" cy="381000"/>
          </a:xfrm>
          <a:prstGeom prst="rect">
            <a:avLst/>
          </a:prstGeom>
          <a:solidFill>
            <a:srgbClr val="0E3145"/>
          </a:solidFill>
          <a:ln/>
        </p:spPr>
        <p:txBody>
          <a:bodyPr/>
          <a:lstStyle/>
          <a:p>
            <a:endParaRPr lang="fr-FR"/>
          </a:p>
        </p:txBody>
      </p:sp>
      <p:sp>
        <p:nvSpPr>
          <p:cNvPr id="28" name="Text 26"/>
          <p:cNvSpPr/>
          <p:nvPr/>
        </p:nvSpPr>
        <p:spPr>
          <a:xfrm>
            <a:off x="8976184" y="6234177"/>
            <a:ext cx="8092616" cy="419100"/>
          </a:xfrm>
          <a:prstGeom prst="rect">
            <a:avLst/>
          </a:prstGeom>
          <a:noFill/>
          <a:ln/>
        </p:spPr>
        <p:txBody>
          <a:bodyPr wrap="square" lIns="25400" tIns="25400" rIns="25400" bIns="25400" rtlCol="0" anchor="ctr">
            <a:normAutofit/>
          </a:bodyPr>
          <a:lstStyle/>
          <a:p>
            <a:pPr marL="0" indent="0" algn="r">
              <a:buNone/>
            </a:pPr>
            <a:r>
              <a:rPr lang="en-US" sz="1800" dirty="0">
                <a:solidFill>
                  <a:srgbClr val="FFFFFF"/>
                </a:solidFill>
                <a:latin typeface="Euclid Circular A" pitchFamily="34" charset="0"/>
                <a:ea typeface="Euclid Circular A" pitchFamily="34" charset="-122"/>
                <a:cs typeface="Euclid Circular A" pitchFamily="34" charset="-120"/>
              </a:rPr>
              <a:t>55 %</a:t>
            </a:r>
            <a:endParaRPr lang="en-US" sz="1800" dirty="0"/>
          </a:p>
        </p:txBody>
      </p:sp>
      <p:sp>
        <p:nvSpPr>
          <p:cNvPr id="29" name="Text 27"/>
          <p:cNvSpPr/>
          <p:nvPr/>
        </p:nvSpPr>
        <p:spPr>
          <a:xfrm>
            <a:off x="933450" y="6872352"/>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solidFill>
                <a:latin typeface="Euclid Circular A" pitchFamily="34" charset="0"/>
                <a:ea typeface="Euclid Circular A" pitchFamily="34" charset="-122"/>
                <a:cs typeface="Euclid Circular A" pitchFamily="34" charset="-120"/>
              </a:rPr>
              <a:t>Tranche 5</a:t>
            </a:r>
            <a:endParaRPr lang="en-US" sz="1800" dirty="0"/>
          </a:p>
        </p:txBody>
      </p:sp>
      <p:sp>
        <p:nvSpPr>
          <p:cNvPr id="30" name="Shape 28"/>
          <p:cNvSpPr/>
          <p:nvPr/>
        </p:nvSpPr>
        <p:spPr>
          <a:xfrm>
            <a:off x="2667000" y="6824727"/>
            <a:ext cx="4366171" cy="381000"/>
          </a:xfrm>
          <a:prstGeom prst="rect">
            <a:avLst/>
          </a:prstGeom>
          <a:solidFill>
            <a:srgbClr val="DC216E"/>
          </a:solidFill>
          <a:ln/>
        </p:spPr>
        <p:txBody>
          <a:bodyPr/>
          <a:lstStyle/>
          <a:p>
            <a:endParaRPr lang="fr-FR"/>
          </a:p>
        </p:txBody>
      </p:sp>
      <p:sp>
        <p:nvSpPr>
          <p:cNvPr id="31" name="Text 29"/>
          <p:cNvSpPr/>
          <p:nvPr/>
        </p:nvSpPr>
        <p:spPr>
          <a:xfrm>
            <a:off x="2838450" y="6824727"/>
            <a:ext cx="4325706" cy="419100"/>
          </a:xfrm>
          <a:prstGeom prst="rect">
            <a:avLst/>
          </a:prstGeom>
          <a:noFill/>
          <a:ln/>
        </p:spPr>
        <p:txBody>
          <a:bodyPr wrap="square" lIns="25400" tIns="25400" rIns="25400" bIns="25400" rtlCol="0" anchor="ctr">
            <a:normAutofit/>
          </a:bodyPr>
          <a:lstStyle/>
          <a:p>
            <a:pPr marL="0" indent="0" algn="l">
              <a:buNone/>
            </a:pPr>
            <a:r>
              <a:rPr lang="en-US" sz="1800" dirty="0">
                <a:solidFill>
                  <a:srgbClr val="FFFFFF"/>
                </a:solidFill>
                <a:latin typeface="Euclid Circular A" pitchFamily="34" charset="0"/>
                <a:ea typeface="Euclid Circular A" pitchFamily="34" charset="-122"/>
                <a:cs typeface="Euclid Circular A" pitchFamily="34" charset="-120"/>
              </a:rPr>
              <a:t>30 %</a:t>
            </a:r>
            <a:endParaRPr lang="en-US" sz="1800" dirty="0"/>
          </a:p>
        </p:txBody>
      </p:sp>
      <p:sp>
        <p:nvSpPr>
          <p:cNvPr id="32" name="Shape 30"/>
          <p:cNvSpPr/>
          <p:nvPr/>
        </p:nvSpPr>
        <p:spPr>
          <a:xfrm>
            <a:off x="7033171" y="6824727"/>
            <a:ext cx="10188029" cy="381000"/>
          </a:xfrm>
          <a:prstGeom prst="rect">
            <a:avLst/>
          </a:prstGeom>
          <a:solidFill>
            <a:srgbClr val="0E3145"/>
          </a:solidFill>
          <a:ln/>
        </p:spPr>
        <p:txBody>
          <a:bodyPr/>
          <a:lstStyle/>
          <a:p>
            <a:endParaRPr lang="fr-FR"/>
          </a:p>
        </p:txBody>
      </p:sp>
      <p:sp>
        <p:nvSpPr>
          <p:cNvPr id="33" name="Text 31"/>
          <p:cNvSpPr/>
          <p:nvPr/>
        </p:nvSpPr>
        <p:spPr>
          <a:xfrm>
            <a:off x="6727530" y="6824727"/>
            <a:ext cx="10341270" cy="419100"/>
          </a:xfrm>
          <a:prstGeom prst="rect">
            <a:avLst/>
          </a:prstGeom>
          <a:noFill/>
          <a:ln/>
        </p:spPr>
        <p:txBody>
          <a:bodyPr wrap="square" lIns="25400" tIns="25400" rIns="25400" bIns="25400" rtlCol="0" anchor="ctr">
            <a:normAutofit/>
          </a:bodyPr>
          <a:lstStyle/>
          <a:p>
            <a:pPr marL="0" indent="0" algn="r">
              <a:buNone/>
            </a:pPr>
            <a:r>
              <a:rPr lang="en-US" sz="1800" dirty="0">
                <a:solidFill>
                  <a:srgbClr val="FFFFFF"/>
                </a:solidFill>
                <a:latin typeface="Euclid Circular A" pitchFamily="34" charset="0"/>
                <a:ea typeface="Euclid Circular A" pitchFamily="34" charset="-122"/>
                <a:cs typeface="Euclid Circular A" pitchFamily="34" charset="-120"/>
              </a:rPr>
              <a:t>70 %</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Une </a:t>
            </a:r>
            <a:r>
              <a:rPr lang="en-US" sz="6150" kern="0" spc="-184" dirty="0">
                <a:solidFill>
                  <a:srgbClr val="DC216E"/>
                </a:solidFill>
                <a:latin typeface="Euclid Circular A" pitchFamily="34" charset="0"/>
                <a:ea typeface="Euclid Circular A" pitchFamily="34" charset="-122"/>
                <a:cs typeface="Euclid Circular A" pitchFamily="34" charset="-120"/>
              </a:rPr>
              <a:t>chronologie </a:t>
            </a:r>
            <a:r>
              <a:rPr lang="en-US" sz="6150" kern="0" spc="-184" dirty="0">
                <a:solidFill>
                  <a:srgbClr val="0E3145"/>
                </a:solidFill>
                <a:latin typeface="Euclid Circular A" pitchFamily="34" charset="0"/>
                <a:ea typeface="Euclid Circular A" pitchFamily="34" charset="-122"/>
                <a:cs typeface="Euclid Circular A" pitchFamily="34" charset="-120"/>
              </a:rPr>
              <a:t>sur l'axe du temps</a:t>
            </a:r>
            <a:endParaRPr lang="en-US" sz="6150" dirty="0"/>
          </a:p>
        </p:txBody>
      </p:sp>
      <p:sp>
        <p:nvSpPr>
          <p:cNvPr id="5" name="Shape 3"/>
          <p:cNvSpPr/>
          <p:nvPr/>
        </p:nvSpPr>
        <p:spPr>
          <a:xfrm>
            <a:off x="1066800" y="5615056"/>
            <a:ext cx="16154400" cy="19050"/>
          </a:xfrm>
          <a:prstGeom prst="rect">
            <a:avLst/>
          </a:prstGeom>
          <a:solidFill>
            <a:srgbClr val="0E3145">
              <a:alpha val="24000"/>
            </a:srgbClr>
          </a:solidFill>
          <a:ln/>
        </p:spPr>
        <p:txBody>
          <a:bodyPr/>
          <a:lstStyle/>
          <a:p>
            <a:endParaRPr lang="fr-FR"/>
          </a:p>
        </p:txBody>
      </p:sp>
      <p:sp>
        <p:nvSpPr>
          <p:cNvPr id="6" name="Text 4"/>
          <p:cNvSpPr/>
          <p:nvPr/>
        </p:nvSpPr>
        <p:spPr>
          <a:xfrm>
            <a:off x="2567434" y="4505394"/>
            <a:ext cx="1037183" cy="323850"/>
          </a:xfrm>
          <a:prstGeom prst="rect">
            <a:avLst/>
          </a:prstGeom>
          <a:noFill/>
          <a:ln/>
        </p:spPr>
        <p:txBody>
          <a:bodyPr wrap="square" lIns="25400" tIns="25400" rIns="25400" bIns="25400" rtlCol="0" anchor="t">
            <a:normAutofit lnSpcReduction="10000"/>
          </a:bodyPr>
          <a:lstStyle/>
          <a:p>
            <a:pPr marL="0" indent="0" algn="ctr">
              <a:buNone/>
            </a:pPr>
            <a:r>
              <a:rPr lang="en-US" sz="1800" b="1" kern="0" spc="252" dirty="0">
                <a:solidFill>
                  <a:srgbClr val="DC216E"/>
                </a:solidFill>
                <a:latin typeface="Euclid Circular A" pitchFamily="34" charset="0"/>
                <a:ea typeface="Euclid Circular A" pitchFamily="34" charset="-122"/>
                <a:cs typeface="Euclid Circular A" pitchFamily="34" charset="-120"/>
              </a:rPr>
              <a:t>JALON</a:t>
            </a:r>
            <a:endParaRPr lang="en-US" sz="1800" dirty="0"/>
          </a:p>
        </p:txBody>
      </p:sp>
      <p:sp>
        <p:nvSpPr>
          <p:cNvPr id="7" name="Text 5"/>
          <p:cNvSpPr/>
          <p:nvPr/>
        </p:nvSpPr>
        <p:spPr>
          <a:xfrm>
            <a:off x="2567434" y="4886394"/>
            <a:ext cx="1037183" cy="400050"/>
          </a:xfrm>
          <a:prstGeom prst="rect">
            <a:avLst/>
          </a:prstGeom>
          <a:noFill/>
          <a:ln/>
        </p:spPr>
        <p:txBody>
          <a:bodyPr wrap="square" lIns="25400" tIns="25400" rIns="25400" bIns="25400" rtlCol="0" anchor="t">
            <a:normAutofit/>
          </a:bodyPr>
          <a:lstStyle/>
          <a:p>
            <a:pPr marL="0" indent="0" algn="ctr">
              <a:buNone/>
            </a:pPr>
            <a:r>
              <a:rPr lang="en-US" sz="2250" dirty="0">
                <a:solidFill>
                  <a:srgbClr val="0E3145"/>
                </a:solidFill>
                <a:latin typeface="Euclid Circular A" pitchFamily="34" charset="0"/>
                <a:ea typeface="Euclid Circular A" pitchFamily="34" charset="-122"/>
                <a:cs typeface="Euclid Circular A" pitchFamily="34" charset="-120"/>
              </a:rPr>
              <a:t>Intitulé</a:t>
            </a:r>
            <a:endParaRPr lang="en-US" sz="2250" dirty="0"/>
          </a:p>
        </p:txBody>
      </p:sp>
      <p:sp>
        <p:nvSpPr>
          <p:cNvPr id="8" name="Shape 6"/>
          <p:cNvSpPr/>
          <p:nvPr/>
        </p:nvSpPr>
        <p:spPr>
          <a:xfrm>
            <a:off x="2943225" y="5534094"/>
            <a:ext cx="285750" cy="285750"/>
          </a:xfrm>
          <a:prstGeom prst="ellipse">
            <a:avLst/>
          </a:prstGeom>
          <a:solidFill>
            <a:srgbClr val="DC216E"/>
          </a:solidFill>
          <a:ln w="47625">
            <a:solidFill>
              <a:srgbClr val="FBF8F3"/>
            </a:solidFill>
            <a:prstDash val="solid"/>
          </a:ln>
          <a:effectLst>
            <a:outerShdw blurRad="101600" dist="50800" dir="16200000" algn="bl" rotWithShape="0">
              <a:srgbClr val="DC216E">
                <a:alpha val="100000"/>
              </a:srgbClr>
            </a:outerShdw>
          </a:effectLst>
        </p:spPr>
        <p:txBody>
          <a:bodyPr/>
          <a:lstStyle/>
          <a:p>
            <a:endParaRPr lang="fr-FR"/>
          </a:p>
        </p:txBody>
      </p:sp>
      <p:sp>
        <p:nvSpPr>
          <p:cNvPr id="9" name="Text 7"/>
          <p:cNvSpPr/>
          <p:nvPr/>
        </p:nvSpPr>
        <p:spPr>
          <a:xfrm>
            <a:off x="2173419" y="6105594"/>
            <a:ext cx="1825213" cy="619125"/>
          </a:xfrm>
          <a:prstGeom prst="rect">
            <a:avLst/>
          </a:prstGeom>
          <a:noFill/>
          <a:ln/>
        </p:spPr>
        <p:txBody>
          <a:bodyPr wrap="square" lIns="25400" tIns="25400" rIns="25400" bIns="25400" rtlCol="0" anchor="t">
            <a:normAutofit/>
          </a:bodyPr>
          <a:lstStyle/>
          <a:p>
            <a:pPr marL="0" indent="0" algn="ctr">
              <a:buNone/>
            </a:pPr>
            <a:r>
              <a:rPr lang="en-US" sz="3600" kern="0" spc="-72" dirty="0">
                <a:solidFill>
                  <a:srgbClr val="0E3145"/>
                </a:solidFill>
                <a:latin typeface="Euclid Circular A" pitchFamily="34" charset="0"/>
                <a:ea typeface="Euclid Circular A" pitchFamily="34" charset="-122"/>
                <a:cs typeface="Euclid Circular A" pitchFamily="34" charset="-120"/>
              </a:rPr>
              <a:t>00</a:t>
            </a:r>
            <a:endParaRPr lang="en-US" sz="3600" dirty="0"/>
          </a:p>
        </p:txBody>
      </p:sp>
      <p:sp>
        <p:nvSpPr>
          <p:cNvPr id="10" name="Text 8"/>
          <p:cNvSpPr/>
          <p:nvPr/>
        </p:nvSpPr>
        <p:spPr>
          <a:xfrm>
            <a:off x="2173419" y="6724719"/>
            <a:ext cx="1825213"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 cumulée</a:t>
            </a:r>
            <a:endParaRPr lang="en-US" sz="1800" dirty="0"/>
          </a:p>
        </p:txBody>
      </p:sp>
      <p:sp>
        <p:nvSpPr>
          <p:cNvPr id="11" name="Text 9"/>
          <p:cNvSpPr/>
          <p:nvPr/>
        </p:nvSpPr>
        <p:spPr>
          <a:xfrm>
            <a:off x="6606034" y="4505394"/>
            <a:ext cx="1037183" cy="323850"/>
          </a:xfrm>
          <a:prstGeom prst="rect">
            <a:avLst/>
          </a:prstGeom>
          <a:noFill/>
          <a:ln/>
        </p:spPr>
        <p:txBody>
          <a:bodyPr wrap="square" lIns="25400" tIns="25400" rIns="25400" bIns="25400" rtlCol="0" anchor="t">
            <a:normAutofit lnSpcReduction="10000"/>
          </a:bodyPr>
          <a:lstStyle/>
          <a:p>
            <a:pPr marL="0" indent="0" algn="ctr">
              <a:buNone/>
            </a:pPr>
            <a:r>
              <a:rPr lang="en-US" sz="1800" b="1" kern="0" spc="252" dirty="0">
                <a:solidFill>
                  <a:srgbClr val="DC216E"/>
                </a:solidFill>
                <a:latin typeface="Euclid Circular A" pitchFamily="34" charset="0"/>
                <a:ea typeface="Euclid Circular A" pitchFamily="34" charset="-122"/>
                <a:cs typeface="Euclid Circular A" pitchFamily="34" charset="-120"/>
              </a:rPr>
              <a:t>JALON</a:t>
            </a:r>
            <a:endParaRPr lang="en-US" sz="1800" dirty="0"/>
          </a:p>
        </p:txBody>
      </p:sp>
      <p:sp>
        <p:nvSpPr>
          <p:cNvPr id="12" name="Text 10"/>
          <p:cNvSpPr/>
          <p:nvPr/>
        </p:nvSpPr>
        <p:spPr>
          <a:xfrm>
            <a:off x="6606034" y="4886394"/>
            <a:ext cx="1037183" cy="400050"/>
          </a:xfrm>
          <a:prstGeom prst="rect">
            <a:avLst/>
          </a:prstGeom>
          <a:noFill/>
          <a:ln/>
        </p:spPr>
        <p:txBody>
          <a:bodyPr wrap="square" lIns="25400" tIns="25400" rIns="25400" bIns="25400" rtlCol="0" anchor="t">
            <a:normAutofit/>
          </a:bodyPr>
          <a:lstStyle/>
          <a:p>
            <a:pPr marL="0" indent="0" algn="ctr">
              <a:buNone/>
            </a:pPr>
            <a:r>
              <a:rPr lang="en-US" sz="2250" dirty="0">
                <a:solidFill>
                  <a:srgbClr val="0E3145"/>
                </a:solidFill>
                <a:latin typeface="Euclid Circular A" pitchFamily="34" charset="0"/>
                <a:ea typeface="Euclid Circular A" pitchFamily="34" charset="-122"/>
                <a:cs typeface="Euclid Circular A" pitchFamily="34" charset="-120"/>
              </a:rPr>
              <a:t>Intitulé</a:t>
            </a:r>
            <a:endParaRPr lang="en-US" sz="2250" dirty="0"/>
          </a:p>
        </p:txBody>
      </p:sp>
      <p:sp>
        <p:nvSpPr>
          <p:cNvPr id="13" name="Shape 11"/>
          <p:cNvSpPr/>
          <p:nvPr/>
        </p:nvSpPr>
        <p:spPr>
          <a:xfrm>
            <a:off x="6981825" y="5534094"/>
            <a:ext cx="285750" cy="285750"/>
          </a:xfrm>
          <a:prstGeom prst="ellipse">
            <a:avLst/>
          </a:prstGeom>
          <a:solidFill>
            <a:srgbClr val="DC216E"/>
          </a:solidFill>
          <a:ln w="47625">
            <a:solidFill>
              <a:srgbClr val="FBF8F3"/>
            </a:solidFill>
            <a:prstDash val="solid"/>
          </a:ln>
          <a:effectLst>
            <a:outerShdw blurRad="101600" dist="50800" dir="16200000" algn="bl" rotWithShape="0">
              <a:srgbClr val="DC216E">
                <a:alpha val="100000"/>
              </a:srgbClr>
            </a:outerShdw>
          </a:effectLst>
        </p:spPr>
        <p:txBody>
          <a:bodyPr/>
          <a:lstStyle/>
          <a:p>
            <a:endParaRPr lang="fr-FR"/>
          </a:p>
        </p:txBody>
      </p:sp>
      <p:sp>
        <p:nvSpPr>
          <p:cNvPr id="14" name="Text 12"/>
          <p:cNvSpPr/>
          <p:nvPr/>
        </p:nvSpPr>
        <p:spPr>
          <a:xfrm>
            <a:off x="6212019" y="6105594"/>
            <a:ext cx="1825213" cy="619125"/>
          </a:xfrm>
          <a:prstGeom prst="rect">
            <a:avLst/>
          </a:prstGeom>
          <a:noFill/>
          <a:ln/>
        </p:spPr>
        <p:txBody>
          <a:bodyPr wrap="square" lIns="25400" tIns="25400" rIns="25400" bIns="25400" rtlCol="0" anchor="t">
            <a:normAutofit/>
          </a:bodyPr>
          <a:lstStyle/>
          <a:p>
            <a:pPr marL="0" indent="0" algn="ctr">
              <a:buNone/>
            </a:pPr>
            <a:r>
              <a:rPr lang="en-US" sz="3600" kern="0" spc="-72" dirty="0">
                <a:solidFill>
                  <a:srgbClr val="0E3145"/>
                </a:solidFill>
                <a:latin typeface="Euclid Circular A" pitchFamily="34" charset="0"/>
                <a:ea typeface="Euclid Circular A" pitchFamily="34" charset="-122"/>
                <a:cs typeface="Euclid Circular A" pitchFamily="34" charset="-120"/>
              </a:rPr>
              <a:t>00</a:t>
            </a:r>
            <a:endParaRPr lang="en-US" sz="3600" dirty="0"/>
          </a:p>
        </p:txBody>
      </p:sp>
      <p:sp>
        <p:nvSpPr>
          <p:cNvPr id="15" name="Text 13"/>
          <p:cNvSpPr/>
          <p:nvPr/>
        </p:nvSpPr>
        <p:spPr>
          <a:xfrm>
            <a:off x="6212019" y="6724719"/>
            <a:ext cx="1825213"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 cumulée</a:t>
            </a:r>
            <a:endParaRPr lang="en-US" sz="1800" dirty="0"/>
          </a:p>
        </p:txBody>
      </p:sp>
      <p:sp>
        <p:nvSpPr>
          <p:cNvPr id="16" name="Text 14"/>
          <p:cNvSpPr/>
          <p:nvPr/>
        </p:nvSpPr>
        <p:spPr>
          <a:xfrm>
            <a:off x="10644634" y="4505394"/>
            <a:ext cx="1037183" cy="323850"/>
          </a:xfrm>
          <a:prstGeom prst="rect">
            <a:avLst/>
          </a:prstGeom>
          <a:noFill/>
          <a:ln/>
        </p:spPr>
        <p:txBody>
          <a:bodyPr wrap="square" lIns="25400" tIns="25400" rIns="25400" bIns="25400" rtlCol="0" anchor="t">
            <a:normAutofit lnSpcReduction="10000"/>
          </a:bodyPr>
          <a:lstStyle/>
          <a:p>
            <a:pPr marL="0" indent="0" algn="ctr">
              <a:buNone/>
            </a:pPr>
            <a:r>
              <a:rPr lang="en-US" sz="1800" b="1" kern="0" spc="252" dirty="0">
                <a:solidFill>
                  <a:srgbClr val="DC216E"/>
                </a:solidFill>
                <a:latin typeface="Euclid Circular A" pitchFamily="34" charset="0"/>
                <a:ea typeface="Euclid Circular A" pitchFamily="34" charset="-122"/>
                <a:cs typeface="Euclid Circular A" pitchFamily="34" charset="-120"/>
              </a:rPr>
              <a:t>JALON</a:t>
            </a:r>
            <a:endParaRPr lang="en-US" sz="1800" dirty="0"/>
          </a:p>
        </p:txBody>
      </p:sp>
      <p:sp>
        <p:nvSpPr>
          <p:cNvPr id="17" name="Text 15"/>
          <p:cNvSpPr/>
          <p:nvPr/>
        </p:nvSpPr>
        <p:spPr>
          <a:xfrm>
            <a:off x="10644634" y="4886394"/>
            <a:ext cx="1037183" cy="400050"/>
          </a:xfrm>
          <a:prstGeom prst="rect">
            <a:avLst/>
          </a:prstGeom>
          <a:noFill/>
          <a:ln/>
        </p:spPr>
        <p:txBody>
          <a:bodyPr wrap="square" lIns="25400" tIns="25400" rIns="25400" bIns="25400" rtlCol="0" anchor="t">
            <a:normAutofit/>
          </a:bodyPr>
          <a:lstStyle/>
          <a:p>
            <a:pPr marL="0" indent="0" algn="ctr">
              <a:buNone/>
            </a:pPr>
            <a:r>
              <a:rPr lang="en-US" sz="2250" dirty="0">
                <a:solidFill>
                  <a:srgbClr val="0E3145"/>
                </a:solidFill>
                <a:latin typeface="Euclid Circular A" pitchFamily="34" charset="0"/>
                <a:ea typeface="Euclid Circular A" pitchFamily="34" charset="-122"/>
                <a:cs typeface="Euclid Circular A" pitchFamily="34" charset="-120"/>
              </a:rPr>
              <a:t>Intitulé</a:t>
            </a:r>
            <a:endParaRPr lang="en-US" sz="2250" dirty="0"/>
          </a:p>
        </p:txBody>
      </p:sp>
      <p:sp>
        <p:nvSpPr>
          <p:cNvPr id="18" name="Shape 16"/>
          <p:cNvSpPr/>
          <p:nvPr/>
        </p:nvSpPr>
        <p:spPr>
          <a:xfrm>
            <a:off x="11020425" y="5534094"/>
            <a:ext cx="285750" cy="285750"/>
          </a:xfrm>
          <a:prstGeom prst="ellipse">
            <a:avLst/>
          </a:prstGeom>
          <a:solidFill>
            <a:srgbClr val="DC216E"/>
          </a:solidFill>
          <a:ln w="47625">
            <a:solidFill>
              <a:srgbClr val="FBF8F3"/>
            </a:solidFill>
            <a:prstDash val="solid"/>
          </a:ln>
          <a:effectLst>
            <a:outerShdw blurRad="101600" dist="50800" dir="16200000" algn="bl" rotWithShape="0">
              <a:srgbClr val="DC216E">
                <a:alpha val="100000"/>
              </a:srgbClr>
            </a:outerShdw>
          </a:effectLst>
        </p:spPr>
        <p:txBody>
          <a:bodyPr/>
          <a:lstStyle/>
          <a:p>
            <a:endParaRPr lang="fr-FR"/>
          </a:p>
        </p:txBody>
      </p:sp>
      <p:sp>
        <p:nvSpPr>
          <p:cNvPr id="19" name="Text 17"/>
          <p:cNvSpPr/>
          <p:nvPr/>
        </p:nvSpPr>
        <p:spPr>
          <a:xfrm>
            <a:off x="10250619" y="6105594"/>
            <a:ext cx="1825213" cy="619125"/>
          </a:xfrm>
          <a:prstGeom prst="rect">
            <a:avLst/>
          </a:prstGeom>
          <a:noFill/>
          <a:ln/>
        </p:spPr>
        <p:txBody>
          <a:bodyPr wrap="square" lIns="25400" tIns="25400" rIns="25400" bIns="25400" rtlCol="0" anchor="t">
            <a:normAutofit/>
          </a:bodyPr>
          <a:lstStyle/>
          <a:p>
            <a:pPr marL="0" indent="0" algn="ctr">
              <a:buNone/>
            </a:pPr>
            <a:r>
              <a:rPr lang="en-US" sz="3600" kern="0" spc="-72" dirty="0">
                <a:solidFill>
                  <a:srgbClr val="0E3145"/>
                </a:solidFill>
                <a:latin typeface="Euclid Circular A" pitchFamily="34" charset="0"/>
                <a:ea typeface="Euclid Circular A" pitchFamily="34" charset="-122"/>
                <a:cs typeface="Euclid Circular A" pitchFamily="34" charset="-120"/>
              </a:rPr>
              <a:t>00</a:t>
            </a:r>
            <a:endParaRPr lang="en-US" sz="3600" dirty="0"/>
          </a:p>
        </p:txBody>
      </p:sp>
      <p:sp>
        <p:nvSpPr>
          <p:cNvPr id="20" name="Text 18"/>
          <p:cNvSpPr/>
          <p:nvPr/>
        </p:nvSpPr>
        <p:spPr>
          <a:xfrm>
            <a:off x="10250619" y="6724719"/>
            <a:ext cx="1825213"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 cumulée</a:t>
            </a:r>
            <a:endParaRPr lang="en-US" sz="1800" dirty="0"/>
          </a:p>
        </p:txBody>
      </p:sp>
      <p:sp>
        <p:nvSpPr>
          <p:cNvPr id="21" name="Text 19"/>
          <p:cNvSpPr/>
          <p:nvPr/>
        </p:nvSpPr>
        <p:spPr>
          <a:xfrm>
            <a:off x="14683234" y="4505394"/>
            <a:ext cx="1037183" cy="323850"/>
          </a:xfrm>
          <a:prstGeom prst="rect">
            <a:avLst/>
          </a:prstGeom>
          <a:noFill/>
          <a:ln/>
        </p:spPr>
        <p:txBody>
          <a:bodyPr wrap="square" lIns="25400" tIns="25400" rIns="25400" bIns="25400" rtlCol="0" anchor="t">
            <a:normAutofit lnSpcReduction="10000"/>
          </a:bodyPr>
          <a:lstStyle/>
          <a:p>
            <a:pPr marL="0" indent="0" algn="ctr">
              <a:buNone/>
            </a:pPr>
            <a:r>
              <a:rPr lang="en-US" sz="1800" b="1" kern="0" spc="252" dirty="0">
                <a:solidFill>
                  <a:srgbClr val="DC216E"/>
                </a:solidFill>
                <a:latin typeface="Euclid Circular A" pitchFamily="34" charset="0"/>
                <a:ea typeface="Euclid Circular A" pitchFamily="34" charset="-122"/>
                <a:cs typeface="Euclid Circular A" pitchFamily="34" charset="-120"/>
              </a:rPr>
              <a:t>JALON</a:t>
            </a:r>
            <a:endParaRPr lang="en-US" sz="1800" dirty="0"/>
          </a:p>
        </p:txBody>
      </p:sp>
      <p:sp>
        <p:nvSpPr>
          <p:cNvPr id="22" name="Text 20"/>
          <p:cNvSpPr/>
          <p:nvPr/>
        </p:nvSpPr>
        <p:spPr>
          <a:xfrm>
            <a:off x="14683234" y="4886394"/>
            <a:ext cx="1037183" cy="400050"/>
          </a:xfrm>
          <a:prstGeom prst="rect">
            <a:avLst/>
          </a:prstGeom>
          <a:noFill/>
          <a:ln/>
        </p:spPr>
        <p:txBody>
          <a:bodyPr wrap="square" lIns="25400" tIns="25400" rIns="25400" bIns="25400" rtlCol="0" anchor="t">
            <a:normAutofit/>
          </a:bodyPr>
          <a:lstStyle/>
          <a:p>
            <a:pPr marL="0" indent="0" algn="ctr">
              <a:buNone/>
            </a:pPr>
            <a:r>
              <a:rPr lang="en-US" sz="2250" dirty="0">
                <a:solidFill>
                  <a:srgbClr val="0E3145"/>
                </a:solidFill>
                <a:latin typeface="Euclid Circular A" pitchFamily="34" charset="0"/>
                <a:ea typeface="Euclid Circular A" pitchFamily="34" charset="-122"/>
                <a:cs typeface="Euclid Circular A" pitchFamily="34" charset="-120"/>
              </a:rPr>
              <a:t>Intitulé</a:t>
            </a:r>
            <a:endParaRPr lang="en-US" sz="2250" dirty="0"/>
          </a:p>
        </p:txBody>
      </p:sp>
      <p:sp>
        <p:nvSpPr>
          <p:cNvPr id="23" name="Shape 21"/>
          <p:cNvSpPr/>
          <p:nvPr/>
        </p:nvSpPr>
        <p:spPr>
          <a:xfrm>
            <a:off x="15001875" y="5534094"/>
            <a:ext cx="400050" cy="400050"/>
          </a:xfrm>
          <a:prstGeom prst="ellipse">
            <a:avLst/>
          </a:prstGeom>
          <a:solidFill>
            <a:srgbClr val="DC216E"/>
          </a:solidFill>
          <a:ln w="47625">
            <a:solidFill>
              <a:srgbClr val="FBF8F3"/>
            </a:solidFill>
            <a:prstDash val="solid"/>
          </a:ln>
          <a:effectLst>
            <a:outerShdw blurRad="101600" dist="50800" dir="16200000" algn="bl" rotWithShape="0">
              <a:srgbClr val="DC216E">
                <a:alpha val="100000"/>
              </a:srgbClr>
            </a:outerShdw>
          </a:effectLst>
        </p:spPr>
        <p:txBody>
          <a:bodyPr/>
          <a:lstStyle/>
          <a:p>
            <a:endParaRPr lang="fr-FR"/>
          </a:p>
        </p:txBody>
      </p:sp>
      <p:sp>
        <p:nvSpPr>
          <p:cNvPr id="24" name="Text 22"/>
          <p:cNvSpPr/>
          <p:nvPr/>
        </p:nvSpPr>
        <p:spPr>
          <a:xfrm>
            <a:off x="15011400" y="5581719"/>
            <a:ext cx="381000" cy="342900"/>
          </a:xfrm>
          <a:prstGeom prst="rect">
            <a:avLst/>
          </a:prstGeom>
          <a:noFill/>
          <a:ln/>
        </p:spPr>
        <p:txBody>
          <a:bodyPr wrap="square" lIns="25400" tIns="25400" rIns="25400" bIns="25400" rtlCol="0" anchor="ctr">
            <a:normAutofit/>
          </a:bodyPr>
          <a:lstStyle/>
          <a:p>
            <a:pPr marL="0" indent="0" algn="ctr">
              <a:buNone/>
            </a:pPr>
            <a:r>
              <a:rPr lang="en-US" sz="1800" b="1" dirty="0">
                <a:solidFill>
                  <a:srgbClr val="FFFFFF"/>
                </a:solidFill>
                <a:latin typeface="Euclid Circular A" pitchFamily="34" charset="0"/>
                <a:ea typeface="Euclid Circular A" pitchFamily="34" charset="-122"/>
                <a:cs typeface="Euclid Circular A" pitchFamily="34" charset="-120"/>
              </a:rPr>
              <a:t>★</a:t>
            </a:r>
            <a:endParaRPr lang="en-US" sz="1800" dirty="0"/>
          </a:p>
        </p:txBody>
      </p:sp>
      <p:sp>
        <p:nvSpPr>
          <p:cNvPr id="25" name="Text 23"/>
          <p:cNvSpPr/>
          <p:nvPr/>
        </p:nvSpPr>
        <p:spPr>
          <a:xfrm>
            <a:off x="14898588" y="6219894"/>
            <a:ext cx="606623" cy="619125"/>
          </a:xfrm>
          <a:prstGeom prst="rect">
            <a:avLst/>
          </a:prstGeom>
          <a:noFill/>
          <a:ln/>
        </p:spPr>
        <p:txBody>
          <a:bodyPr wrap="square" lIns="25400" tIns="25400" rIns="25400" bIns="25400" rtlCol="0" anchor="t">
            <a:normAutofit/>
          </a:bodyPr>
          <a:lstStyle/>
          <a:p>
            <a:pPr marL="0" indent="0" algn="ctr">
              <a:buNone/>
            </a:pPr>
            <a:r>
              <a:rPr lang="en-US" sz="3600" kern="0" spc="-72" dirty="0">
                <a:solidFill>
                  <a:srgbClr val="DC216E"/>
                </a:solidFill>
                <a:latin typeface="Euclid Circular A" pitchFamily="34" charset="0"/>
                <a:ea typeface="Euclid Circular A" pitchFamily="34" charset="-122"/>
                <a:cs typeface="Euclid Circular A" pitchFamily="34" charset="-120"/>
              </a:rPr>
              <a:t>00</a:t>
            </a:r>
            <a:endParaRPr lang="en-US" sz="3600" dirty="0"/>
          </a:p>
        </p:txBody>
      </p:sp>
      <p:sp>
        <p:nvSpPr>
          <p:cNvPr id="26" name="Text 24"/>
          <p:cNvSpPr/>
          <p:nvPr/>
        </p:nvSpPr>
        <p:spPr>
          <a:xfrm>
            <a:off x="14898588" y="6839019"/>
            <a:ext cx="606623" cy="323850"/>
          </a:xfrm>
          <a:prstGeom prst="rect">
            <a:avLst/>
          </a:prstGeom>
          <a:noFill/>
          <a:ln/>
        </p:spPr>
        <p:txBody>
          <a:bodyPr wrap="square" lIns="25400" tIns="25400" rIns="25400" bIns="25400" rtlCol="0" anchor="t">
            <a:normAutofit fontScale="925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Total</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Le déroulé en </a:t>
            </a:r>
            <a:r>
              <a:rPr lang="en-US" sz="6150" kern="0" spc="-184" dirty="0">
                <a:solidFill>
                  <a:srgbClr val="DC216E"/>
                </a:solidFill>
                <a:latin typeface="Euclid Circular A" pitchFamily="34" charset="0"/>
                <a:ea typeface="Euclid Circular A" pitchFamily="34" charset="-122"/>
                <a:cs typeface="Euclid Circular A" pitchFamily="34" charset="-120"/>
              </a:rPr>
              <a:t>étapes</a:t>
            </a:r>
            <a:endParaRPr lang="en-US" sz="6150" dirty="0"/>
          </a:p>
        </p:txBody>
      </p:sp>
      <p:sp>
        <p:nvSpPr>
          <p:cNvPr id="5" name="Shape 3"/>
          <p:cNvSpPr/>
          <p:nvPr/>
        </p:nvSpPr>
        <p:spPr>
          <a:xfrm>
            <a:off x="1066800" y="4486343"/>
            <a:ext cx="914400" cy="914400"/>
          </a:xfrm>
          <a:prstGeom prst="ellipse">
            <a:avLst/>
          </a:prstGeom>
          <a:ln w="19050">
            <a:solidFill>
              <a:srgbClr val="DC216E"/>
            </a:solidFill>
            <a:prstDash val="solid"/>
          </a:ln>
        </p:spPr>
        <p:txBody>
          <a:bodyPr/>
          <a:lstStyle/>
          <a:p>
            <a:endParaRPr lang="fr-FR"/>
          </a:p>
        </p:txBody>
      </p:sp>
      <p:sp>
        <p:nvSpPr>
          <p:cNvPr id="6" name="Text 4"/>
          <p:cNvSpPr/>
          <p:nvPr/>
        </p:nvSpPr>
        <p:spPr>
          <a:xfrm>
            <a:off x="1047750" y="4505393"/>
            <a:ext cx="952500" cy="914400"/>
          </a:xfrm>
          <a:prstGeom prst="rect">
            <a:avLst/>
          </a:prstGeom>
          <a:noFill/>
          <a:ln/>
        </p:spPr>
        <p:txBody>
          <a:bodyPr wrap="square" lIns="25400" tIns="25400" rIns="25400" bIns="25400" rtlCol="0" anchor="ctr">
            <a:normAutofit/>
          </a:bodyPr>
          <a:lstStyle/>
          <a:p>
            <a:pPr marL="0" indent="0" algn="ctr">
              <a:buNone/>
            </a:pPr>
            <a:r>
              <a:rPr lang="en-US" sz="3150" dirty="0">
                <a:solidFill>
                  <a:srgbClr val="DC216E"/>
                </a:solidFill>
                <a:latin typeface="Euclid Circular A" pitchFamily="34" charset="0"/>
                <a:ea typeface="Euclid Circular A" pitchFamily="34" charset="-122"/>
                <a:cs typeface="Euclid Circular A" pitchFamily="34" charset="-120"/>
              </a:rPr>
              <a:t>01</a:t>
            </a:r>
            <a:endParaRPr lang="en-US" sz="3150" dirty="0"/>
          </a:p>
        </p:txBody>
      </p:sp>
      <p:sp>
        <p:nvSpPr>
          <p:cNvPr id="7" name="Text 5"/>
          <p:cNvSpPr/>
          <p:nvPr/>
        </p:nvSpPr>
        <p:spPr>
          <a:xfrm>
            <a:off x="1066800" y="5629344"/>
            <a:ext cx="3813810" cy="428625"/>
          </a:xfrm>
          <a:prstGeom prst="rect">
            <a:avLst/>
          </a:prstGeom>
          <a:noFill/>
          <a:ln/>
        </p:spPr>
        <p:txBody>
          <a:bodyPr wrap="square" lIns="25400" tIns="25400" rIns="25400" bIns="25400" rtlCol="0" anchor="t">
            <a:normAutofit/>
          </a:bodyPr>
          <a:lstStyle/>
          <a:p>
            <a:pPr marL="0" indent="0" algn="l">
              <a:buNone/>
            </a:pPr>
            <a:r>
              <a:rPr lang="en-US" sz="2400" kern="0" spc="-24" dirty="0">
                <a:solidFill>
                  <a:srgbClr val="0E3145"/>
                </a:solidFill>
                <a:latin typeface="Euclid Circular A" pitchFamily="34" charset="0"/>
                <a:ea typeface="Euclid Circular A" pitchFamily="34" charset="-122"/>
                <a:cs typeface="Euclid Circular A" pitchFamily="34" charset="-120"/>
              </a:rPr>
              <a:t>Intitulé de l'étape</a:t>
            </a:r>
            <a:endParaRPr lang="en-US" sz="2400" dirty="0"/>
          </a:p>
        </p:txBody>
      </p:sp>
      <p:sp>
        <p:nvSpPr>
          <p:cNvPr id="8" name="Text 6"/>
          <p:cNvSpPr/>
          <p:nvPr/>
        </p:nvSpPr>
        <p:spPr>
          <a:xfrm>
            <a:off x="1066800" y="6134169"/>
            <a:ext cx="3571113"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brève de ce qui se passe à cette étape.</a:t>
            </a:r>
            <a:endParaRPr lang="en-US" sz="1800" dirty="0"/>
          </a:p>
        </p:txBody>
      </p:sp>
      <p:sp>
        <p:nvSpPr>
          <p:cNvPr id="9" name="Shape 7"/>
          <p:cNvSpPr/>
          <p:nvPr/>
        </p:nvSpPr>
        <p:spPr>
          <a:xfrm>
            <a:off x="4610100" y="5072131"/>
            <a:ext cx="609600" cy="19050"/>
          </a:xfrm>
          <a:prstGeom prst="rect">
            <a:avLst/>
          </a:prstGeom>
          <a:solidFill>
            <a:srgbClr val="0E3145">
              <a:alpha val="24000"/>
            </a:srgbClr>
          </a:solidFill>
          <a:ln/>
        </p:spPr>
        <p:txBody>
          <a:bodyPr/>
          <a:lstStyle/>
          <a:p>
            <a:endParaRPr lang="fr-FR"/>
          </a:p>
        </p:txBody>
      </p:sp>
      <p:sp>
        <p:nvSpPr>
          <p:cNvPr id="10" name="Shape 8"/>
          <p:cNvSpPr/>
          <p:nvPr/>
        </p:nvSpPr>
        <p:spPr>
          <a:xfrm>
            <a:off x="5295900" y="4486343"/>
            <a:ext cx="914400" cy="914400"/>
          </a:xfrm>
          <a:prstGeom prst="ellipse">
            <a:avLst/>
          </a:prstGeom>
          <a:ln w="19050">
            <a:solidFill>
              <a:srgbClr val="DC216E"/>
            </a:solidFill>
            <a:prstDash val="solid"/>
          </a:ln>
        </p:spPr>
        <p:txBody>
          <a:bodyPr/>
          <a:lstStyle/>
          <a:p>
            <a:endParaRPr lang="fr-FR"/>
          </a:p>
        </p:txBody>
      </p:sp>
      <p:sp>
        <p:nvSpPr>
          <p:cNvPr id="11" name="Text 9"/>
          <p:cNvSpPr/>
          <p:nvPr/>
        </p:nvSpPr>
        <p:spPr>
          <a:xfrm>
            <a:off x="5276850" y="4505393"/>
            <a:ext cx="952500" cy="914400"/>
          </a:xfrm>
          <a:prstGeom prst="rect">
            <a:avLst/>
          </a:prstGeom>
          <a:noFill/>
          <a:ln/>
        </p:spPr>
        <p:txBody>
          <a:bodyPr wrap="square" lIns="25400" tIns="25400" rIns="25400" bIns="25400" rtlCol="0" anchor="ctr">
            <a:normAutofit/>
          </a:bodyPr>
          <a:lstStyle/>
          <a:p>
            <a:pPr marL="0" indent="0" algn="ctr">
              <a:buNone/>
            </a:pPr>
            <a:r>
              <a:rPr lang="en-US" sz="3150" dirty="0">
                <a:solidFill>
                  <a:srgbClr val="DC216E"/>
                </a:solidFill>
                <a:latin typeface="Euclid Circular A" pitchFamily="34" charset="0"/>
                <a:ea typeface="Euclid Circular A" pitchFamily="34" charset="-122"/>
                <a:cs typeface="Euclid Circular A" pitchFamily="34" charset="-120"/>
              </a:rPr>
              <a:t>02</a:t>
            </a:r>
            <a:endParaRPr lang="en-US" sz="3150" dirty="0"/>
          </a:p>
        </p:txBody>
      </p:sp>
      <p:sp>
        <p:nvSpPr>
          <p:cNvPr id="12" name="Text 10"/>
          <p:cNvSpPr/>
          <p:nvPr/>
        </p:nvSpPr>
        <p:spPr>
          <a:xfrm>
            <a:off x="5295900" y="5629344"/>
            <a:ext cx="3813810" cy="428625"/>
          </a:xfrm>
          <a:prstGeom prst="rect">
            <a:avLst/>
          </a:prstGeom>
          <a:noFill/>
          <a:ln/>
        </p:spPr>
        <p:txBody>
          <a:bodyPr wrap="square" lIns="25400" tIns="25400" rIns="25400" bIns="25400" rtlCol="0" anchor="t">
            <a:normAutofit/>
          </a:bodyPr>
          <a:lstStyle/>
          <a:p>
            <a:pPr marL="0" indent="0" algn="l">
              <a:buNone/>
            </a:pPr>
            <a:r>
              <a:rPr lang="en-US" sz="2400" kern="0" spc="-24" dirty="0">
                <a:solidFill>
                  <a:srgbClr val="0E3145"/>
                </a:solidFill>
                <a:latin typeface="Euclid Circular A" pitchFamily="34" charset="0"/>
                <a:ea typeface="Euclid Circular A" pitchFamily="34" charset="-122"/>
                <a:cs typeface="Euclid Circular A" pitchFamily="34" charset="-120"/>
              </a:rPr>
              <a:t>Intitulé de l'étape</a:t>
            </a:r>
            <a:endParaRPr lang="en-US" sz="2400" dirty="0"/>
          </a:p>
        </p:txBody>
      </p:sp>
      <p:sp>
        <p:nvSpPr>
          <p:cNvPr id="13" name="Text 11"/>
          <p:cNvSpPr/>
          <p:nvPr/>
        </p:nvSpPr>
        <p:spPr>
          <a:xfrm>
            <a:off x="5295900" y="6134169"/>
            <a:ext cx="3571113"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brève de ce qui se passe à cette étape.</a:t>
            </a:r>
            <a:endParaRPr lang="en-US" sz="1800" dirty="0"/>
          </a:p>
        </p:txBody>
      </p:sp>
      <p:sp>
        <p:nvSpPr>
          <p:cNvPr id="14" name="Shape 12"/>
          <p:cNvSpPr/>
          <p:nvPr/>
        </p:nvSpPr>
        <p:spPr>
          <a:xfrm>
            <a:off x="8839200" y="5072131"/>
            <a:ext cx="609600" cy="19050"/>
          </a:xfrm>
          <a:prstGeom prst="rect">
            <a:avLst/>
          </a:prstGeom>
          <a:solidFill>
            <a:srgbClr val="0E3145">
              <a:alpha val="24000"/>
            </a:srgbClr>
          </a:solidFill>
          <a:ln/>
        </p:spPr>
        <p:txBody>
          <a:bodyPr/>
          <a:lstStyle/>
          <a:p>
            <a:endParaRPr lang="fr-FR"/>
          </a:p>
        </p:txBody>
      </p:sp>
      <p:sp>
        <p:nvSpPr>
          <p:cNvPr id="15" name="Shape 13"/>
          <p:cNvSpPr/>
          <p:nvPr/>
        </p:nvSpPr>
        <p:spPr>
          <a:xfrm>
            <a:off x="9525000" y="4486343"/>
            <a:ext cx="914400" cy="914400"/>
          </a:xfrm>
          <a:prstGeom prst="ellipse">
            <a:avLst/>
          </a:prstGeom>
          <a:ln w="19050">
            <a:solidFill>
              <a:srgbClr val="DC216E"/>
            </a:solidFill>
            <a:prstDash val="solid"/>
          </a:ln>
        </p:spPr>
        <p:txBody>
          <a:bodyPr/>
          <a:lstStyle/>
          <a:p>
            <a:endParaRPr lang="fr-FR"/>
          </a:p>
        </p:txBody>
      </p:sp>
      <p:sp>
        <p:nvSpPr>
          <p:cNvPr id="16" name="Text 14"/>
          <p:cNvSpPr/>
          <p:nvPr/>
        </p:nvSpPr>
        <p:spPr>
          <a:xfrm>
            <a:off x="9505950" y="4505393"/>
            <a:ext cx="952500" cy="914400"/>
          </a:xfrm>
          <a:prstGeom prst="rect">
            <a:avLst/>
          </a:prstGeom>
          <a:noFill/>
          <a:ln/>
        </p:spPr>
        <p:txBody>
          <a:bodyPr wrap="square" lIns="25400" tIns="25400" rIns="25400" bIns="25400" rtlCol="0" anchor="ctr">
            <a:normAutofit/>
          </a:bodyPr>
          <a:lstStyle/>
          <a:p>
            <a:pPr marL="0" indent="0" algn="ctr">
              <a:buNone/>
            </a:pPr>
            <a:r>
              <a:rPr lang="en-US" sz="3150" dirty="0">
                <a:solidFill>
                  <a:srgbClr val="DC216E"/>
                </a:solidFill>
                <a:latin typeface="Euclid Circular A" pitchFamily="34" charset="0"/>
                <a:ea typeface="Euclid Circular A" pitchFamily="34" charset="-122"/>
                <a:cs typeface="Euclid Circular A" pitchFamily="34" charset="-120"/>
              </a:rPr>
              <a:t>03</a:t>
            </a:r>
            <a:endParaRPr lang="en-US" sz="3150" dirty="0"/>
          </a:p>
        </p:txBody>
      </p:sp>
      <p:sp>
        <p:nvSpPr>
          <p:cNvPr id="17" name="Text 15"/>
          <p:cNvSpPr/>
          <p:nvPr/>
        </p:nvSpPr>
        <p:spPr>
          <a:xfrm>
            <a:off x="9525000" y="5629344"/>
            <a:ext cx="3813810" cy="428625"/>
          </a:xfrm>
          <a:prstGeom prst="rect">
            <a:avLst/>
          </a:prstGeom>
          <a:noFill/>
          <a:ln/>
        </p:spPr>
        <p:txBody>
          <a:bodyPr wrap="square" lIns="25400" tIns="25400" rIns="25400" bIns="25400" rtlCol="0" anchor="t">
            <a:normAutofit/>
          </a:bodyPr>
          <a:lstStyle/>
          <a:p>
            <a:pPr marL="0" indent="0" algn="l">
              <a:buNone/>
            </a:pPr>
            <a:r>
              <a:rPr lang="en-US" sz="2400" kern="0" spc="-24" dirty="0">
                <a:solidFill>
                  <a:srgbClr val="0E3145"/>
                </a:solidFill>
                <a:latin typeface="Euclid Circular A" pitchFamily="34" charset="0"/>
                <a:ea typeface="Euclid Circular A" pitchFamily="34" charset="-122"/>
                <a:cs typeface="Euclid Circular A" pitchFamily="34" charset="-120"/>
              </a:rPr>
              <a:t>Intitulé de l'étape</a:t>
            </a:r>
            <a:endParaRPr lang="en-US" sz="2400" dirty="0"/>
          </a:p>
        </p:txBody>
      </p:sp>
      <p:sp>
        <p:nvSpPr>
          <p:cNvPr id="18" name="Text 16"/>
          <p:cNvSpPr/>
          <p:nvPr/>
        </p:nvSpPr>
        <p:spPr>
          <a:xfrm>
            <a:off x="9525000" y="6134169"/>
            <a:ext cx="3571113"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brève de ce qui se passe à cette étape.</a:t>
            </a:r>
            <a:endParaRPr lang="en-US" sz="1800" dirty="0"/>
          </a:p>
        </p:txBody>
      </p:sp>
      <p:sp>
        <p:nvSpPr>
          <p:cNvPr id="19" name="Shape 17"/>
          <p:cNvSpPr/>
          <p:nvPr/>
        </p:nvSpPr>
        <p:spPr>
          <a:xfrm>
            <a:off x="13068300" y="5072131"/>
            <a:ext cx="609600" cy="19050"/>
          </a:xfrm>
          <a:prstGeom prst="rect">
            <a:avLst/>
          </a:prstGeom>
          <a:solidFill>
            <a:srgbClr val="0E3145">
              <a:alpha val="24000"/>
            </a:srgbClr>
          </a:solidFill>
          <a:ln/>
        </p:spPr>
        <p:txBody>
          <a:bodyPr/>
          <a:lstStyle/>
          <a:p>
            <a:endParaRPr lang="fr-FR"/>
          </a:p>
        </p:txBody>
      </p:sp>
      <p:sp>
        <p:nvSpPr>
          <p:cNvPr id="20" name="Shape 18"/>
          <p:cNvSpPr/>
          <p:nvPr/>
        </p:nvSpPr>
        <p:spPr>
          <a:xfrm>
            <a:off x="13754100" y="4486343"/>
            <a:ext cx="914400" cy="914400"/>
          </a:xfrm>
          <a:prstGeom prst="ellipse">
            <a:avLst/>
          </a:prstGeom>
          <a:solidFill>
            <a:srgbClr val="DC216E"/>
          </a:solidFill>
          <a:ln/>
        </p:spPr>
        <p:txBody>
          <a:bodyPr/>
          <a:lstStyle/>
          <a:p>
            <a:endParaRPr lang="fr-FR"/>
          </a:p>
        </p:txBody>
      </p:sp>
      <p:sp>
        <p:nvSpPr>
          <p:cNvPr id="21" name="Text 19"/>
          <p:cNvSpPr/>
          <p:nvPr/>
        </p:nvSpPr>
        <p:spPr>
          <a:xfrm>
            <a:off x="13716000" y="4486343"/>
            <a:ext cx="990600" cy="952500"/>
          </a:xfrm>
          <a:prstGeom prst="rect">
            <a:avLst/>
          </a:prstGeom>
          <a:noFill/>
          <a:ln/>
        </p:spPr>
        <p:txBody>
          <a:bodyPr wrap="square" lIns="25400" tIns="25400" rIns="25400" bIns="25400" rtlCol="0" anchor="ctr">
            <a:normAutofit/>
          </a:bodyPr>
          <a:lstStyle/>
          <a:p>
            <a:pPr marL="0" indent="0" algn="ctr">
              <a:buNone/>
            </a:pPr>
            <a:r>
              <a:rPr lang="en-US" sz="3150" dirty="0">
                <a:solidFill>
                  <a:srgbClr val="FFFFFF"/>
                </a:solidFill>
                <a:latin typeface="Euclid Circular A" pitchFamily="34" charset="0"/>
                <a:ea typeface="Euclid Circular A" pitchFamily="34" charset="-122"/>
                <a:cs typeface="Euclid Circular A" pitchFamily="34" charset="-120"/>
              </a:rPr>
              <a:t>04</a:t>
            </a:r>
            <a:endParaRPr lang="en-US" sz="3150" dirty="0"/>
          </a:p>
        </p:txBody>
      </p:sp>
      <p:sp>
        <p:nvSpPr>
          <p:cNvPr id="22" name="Text 20"/>
          <p:cNvSpPr/>
          <p:nvPr/>
        </p:nvSpPr>
        <p:spPr>
          <a:xfrm>
            <a:off x="13754100" y="5629344"/>
            <a:ext cx="3813810" cy="428625"/>
          </a:xfrm>
          <a:prstGeom prst="rect">
            <a:avLst/>
          </a:prstGeom>
          <a:noFill/>
          <a:ln/>
        </p:spPr>
        <p:txBody>
          <a:bodyPr wrap="square" lIns="25400" tIns="25400" rIns="25400" bIns="25400" rtlCol="0" anchor="t">
            <a:normAutofit/>
          </a:bodyPr>
          <a:lstStyle/>
          <a:p>
            <a:pPr marL="0" indent="0" algn="l">
              <a:buNone/>
            </a:pPr>
            <a:r>
              <a:rPr lang="en-US" sz="2400" kern="0" spc="-24" dirty="0">
                <a:solidFill>
                  <a:srgbClr val="0E3145"/>
                </a:solidFill>
                <a:latin typeface="Euclid Circular A" pitchFamily="34" charset="0"/>
                <a:ea typeface="Euclid Circular A" pitchFamily="34" charset="-122"/>
                <a:cs typeface="Euclid Circular A" pitchFamily="34" charset="-120"/>
              </a:rPr>
              <a:t>Intitulé de l'étape</a:t>
            </a:r>
            <a:endParaRPr lang="en-US" sz="2400" dirty="0"/>
          </a:p>
        </p:txBody>
      </p:sp>
      <p:sp>
        <p:nvSpPr>
          <p:cNvPr id="23" name="Text 21"/>
          <p:cNvSpPr/>
          <p:nvPr/>
        </p:nvSpPr>
        <p:spPr>
          <a:xfrm>
            <a:off x="13754100" y="6134169"/>
            <a:ext cx="3571113"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Description brève de ce qui se passe à cette étape.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2324398"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ÉTUDE DE CAS</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Cas pratique : </a:t>
            </a:r>
            <a:r>
              <a:rPr lang="en-US" sz="6150" kern="0" spc="-184" dirty="0">
                <a:solidFill>
                  <a:srgbClr val="DC216E"/>
                </a:solidFill>
                <a:latin typeface="Euclid Circular A" pitchFamily="34" charset="0"/>
                <a:ea typeface="Euclid Circular A" pitchFamily="34" charset="-122"/>
                <a:cs typeface="Euclid Circular A" pitchFamily="34" charset="-120"/>
              </a:rPr>
              <a:t>profil</a:t>
            </a:r>
            <a:endParaRPr lang="en-US" sz="6150" dirty="0"/>
          </a:p>
        </p:txBody>
      </p:sp>
      <p:sp>
        <p:nvSpPr>
          <p:cNvPr id="5" name="Shape 3"/>
          <p:cNvSpPr/>
          <p:nvPr/>
        </p:nvSpPr>
        <p:spPr>
          <a:xfrm>
            <a:off x="1066800" y="2419417"/>
            <a:ext cx="4953000" cy="6179151"/>
          </a:xfrm>
          <a:prstGeom prst="roundRect">
            <a:avLst>
              <a:gd name="adj" fmla="val 3462"/>
            </a:avLst>
          </a:prstGeom>
          <a:solidFill>
            <a:srgbClr val="FFFFFF"/>
          </a:solidFill>
          <a:ln w="9525">
            <a:solidFill>
              <a:srgbClr val="0E3145">
                <a:alpha val="12000"/>
              </a:srgbClr>
            </a:solidFill>
            <a:prstDash val="solid"/>
          </a:ln>
          <a:effectLst>
            <a:outerShdw blurRad="285750" dist="133350" dir="5400000" algn="bl" rotWithShape="0">
              <a:srgbClr val="0E3145">
                <a:alpha val="23992"/>
              </a:srgbClr>
            </a:outerShdw>
          </a:effectLst>
        </p:spPr>
        <p:txBody>
          <a:bodyPr/>
          <a:lstStyle/>
          <a:p>
            <a:endParaRPr lang="fr-FR"/>
          </a:p>
        </p:txBody>
      </p:sp>
      <p:sp>
        <p:nvSpPr>
          <p:cNvPr id="6" name="Shape 4"/>
          <p:cNvSpPr/>
          <p:nvPr/>
        </p:nvSpPr>
        <p:spPr>
          <a:xfrm>
            <a:off x="1495425" y="2848042"/>
            <a:ext cx="1028700" cy="1028700"/>
          </a:xfrm>
          <a:prstGeom prst="ellipse">
            <a:avLst/>
          </a:prstGeom>
          <a:solidFill>
            <a:srgbClr val="DC216E">
              <a:alpha val="8000"/>
            </a:srgbClr>
          </a:solidFill>
          <a:ln w="9525">
            <a:solidFill>
              <a:srgbClr val="DC216E">
                <a:alpha val="22000"/>
              </a:srgbClr>
            </a:solidFill>
            <a:prstDash val="solid"/>
          </a:ln>
        </p:spPr>
        <p:txBody>
          <a:bodyPr/>
          <a:lstStyle/>
          <a:p>
            <a:endParaRPr lang="fr-FR"/>
          </a:p>
        </p:txBody>
      </p:sp>
      <p:pic>
        <p:nvPicPr>
          <p:cNvPr id="7" name="Image 0" descr="preencoded.png"/>
          <p:cNvPicPr>
            <a:picLocks noChangeAspect="1"/>
          </p:cNvPicPr>
          <p:nvPr/>
        </p:nvPicPr>
        <p:blipFill>
          <a:blip r:embed="rId3"/>
          <a:srcRect/>
          <a:stretch/>
        </p:blipFill>
        <p:spPr>
          <a:xfrm>
            <a:off x="1724025" y="3076642"/>
            <a:ext cx="571500" cy="571500"/>
          </a:xfrm>
          <a:prstGeom prst="rect">
            <a:avLst/>
          </a:prstGeom>
        </p:spPr>
      </p:pic>
      <p:sp>
        <p:nvSpPr>
          <p:cNvPr id="8" name="Text 5"/>
          <p:cNvSpPr/>
          <p:nvPr/>
        </p:nvSpPr>
        <p:spPr>
          <a:xfrm>
            <a:off x="2752725" y="2971867"/>
            <a:ext cx="2374300" cy="495300"/>
          </a:xfrm>
          <a:prstGeom prst="rect">
            <a:avLst/>
          </a:prstGeom>
          <a:noFill/>
          <a:ln/>
        </p:spPr>
        <p:txBody>
          <a:bodyPr wrap="square" lIns="25400" tIns="25400" rIns="25400" bIns="25400" rtlCol="0" anchor="t">
            <a:normAutofit/>
          </a:bodyPr>
          <a:lstStyle/>
          <a:p>
            <a:pPr marL="0" indent="0" algn="l">
              <a:buNone/>
            </a:pPr>
            <a:r>
              <a:rPr lang="en-US" sz="2850" kern="0" spc="-43" dirty="0">
                <a:solidFill>
                  <a:srgbClr val="0E3145"/>
                </a:solidFill>
                <a:latin typeface="Euclid Circular A" pitchFamily="34" charset="0"/>
                <a:ea typeface="Euclid Circular A" pitchFamily="34" charset="-122"/>
                <a:cs typeface="Euclid Circular A" pitchFamily="34" charset="-120"/>
              </a:rPr>
              <a:t>Prénom Nom</a:t>
            </a:r>
            <a:endParaRPr lang="en-US" sz="2850" dirty="0"/>
          </a:p>
        </p:txBody>
      </p:sp>
      <p:sp>
        <p:nvSpPr>
          <p:cNvPr id="9" name="Text 6"/>
          <p:cNvSpPr/>
          <p:nvPr/>
        </p:nvSpPr>
        <p:spPr>
          <a:xfrm>
            <a:off x="2752725" y="3467167"/>
            <a:ext cx="2374300"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DC216E"/>
                </a:solidFill>
                <a:latin typeface="Euclid Circular A" pitchFamily="34" charset="0"/>
                <a:ea typeface="Euclid Circular A" pitchFamily="34" charset="-122"/>
                <a:cs typeface="Euclid Circular A" pitchFamily="34" charset="-120"/>
              </a:rPr>
              <a:t>Statut · 00 ans</a:t>
            </a:r>
            <a:endParaRPr lang="en-US" sz="1800" dirty="0"/>
          </a:p>
        </p:txBody>
      </p:sp>
      <p:sp>
        <p:nvSpPr>
          <p:cNvPr id="10" name="Shape 7"/>
          <p:cNvSpPr/>
          <p:nvPr/>
        </p:nvSpPr>
        <p:spPr>
          <a:xfrm>
            <a:off x="1495425" y="4200592"/>
            <a:ext cx="4095750" cy="9525"/>
          </a:xfrm>
          <a:prstGeom prst="rect">
            <a:avLst/>
          </a:prstGeom>
          <a:solidFill>
            <a:srgbClr val="0E3145">
              <a:alpha val="12000"/>
            </a:srgbClr>
          </a:solidFill>
          <a:ln/>
        </p:spPr>
        <p:txBody>
          <a:bodyPr/>
          <a:lstStyle/>
          <a:p>
            <a:endParaRPr lang="fr-FR"/>
          </a:p>
        </p:txBody>
      </p:sp>
      <p:sp>
        <p:nvSpPr>
          <p:cNvPr id="11" name="Text 8"/>
          <p:cNvSpPr/>
          <p:nvPr/>
        </p:nvSpPr>
        <p:spPr>
          <a:xfrm>
            <a:off x="1495425" y="4457767"/>
            <a:ext cx="865138"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Revenu</a:t>
            </a:r>
            <a:endParaRPr lang="en-US" sz="1800" dirty="0"/>
          </a:p>
        </p:txBody>
      </p:sp>
      <p:sp>
        <p:nvSpPr>
          <p:cNvPr id="12" name="Text 9"/>
          <p:cNvSpPr/>
          <p:nvPr/>
        </p:nvSpPr>
        <p:spPr>
          <a:xfrm>
            <a:off x="4364087" y="4400617"/>
            <a:ext cx="1349797"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00 000 €</a:t>
            </a:r>
            <a:endParaRPr lang="en-US" sz="2250" dirty="0"/>
          </a:p>
        </p:txBody>
      </p:sp>
      <p:sp>
        <p:nvSpPr>
          <p:cNvPr id="13" name="Shape 10"/>
          <p:cNvSpPr/>
          <p:nvPr/>
        </p:nvSpPr>
        <p:spPr>
          <a:xfrm>
            <a:off x="1495425" y="4953067"/>
            <a:ext cx="4095750" cy="9525"/>
          </a:xfrm>
          <a:prstGeom prst="rect">
            <a:avLst/>
          </a:prstGeom>
          <a:solidFill>
            <a:srgbClr val="0E3145">
              <a:alpha val="12000"/>
            </a:srgbClr>
          </a:solidFill>
          <a:ln/>
        </p:spPr>
        <p:txBody>
          <a:bodyPr/>
          <a:lstStyle/>
          <a:p>
            <a:endParaRPr lang="fr-FR"/>
          </a:p>
        </p:txBody>
      </p:sp>
      <p:sp>
        <p:nvSpPr>
          <p:cNvPr id="14" name="Text 11"/>
          <p:cNvSpPr/>
          <p:nvPr/>
        </p:nvSpPr>
        <p:spPr>
          <a:xfrm>
            <a:off x="1495425" y="5210242"/>
            <a:ext cx="1029593"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Situation</a:t>
            </a:r>
            <a:endParaRPr lang="en-US" sz="1800" dirty="0"/>
          </a:p>
        </p:txBody>
      </p:sp>
      <p:sp>
        <p:nvSpPr>
          <p:cNvPr id="15" name="Text 12"/>
          <p:cNvSpPr/>
          <p:nvPr/>
        </p:nvSpPr>
        <p:spPr>
          <a:xfrm>
            <a:off x="4221212" y="5153092"/>
            <a:ext cx="1506959"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À préciser</a:t>
            </a:r>
            <a:endParaRPr lang="en-US" sz="2250" dirty="0"/>
          </a:p>
        </p:txBody>
      </p:sp>
      <p:sp>
        <p:nvSpPr>
          <p:cNvPr id="16" name="Shape 13"/>
          <p:cNvSpPr/>
          <p:nvPr/>
        </p:nvSpPr>
        <p:spPr>
          <a:xfrm>
            <a:off x="1495425" y="6458017"/>
            <a:ext cx="4095750" cy="9525"/>
          </a:xfrm>
          <a:prstGeom prst="rect">
            <a:avLst/>
          </a:prstGeom>
          <a:solidFill>
            <a:srgbClr val="0E3145">
              <a:alpha val="12000"/>
            </a:srgbClr>
          </a:solidFill>
          <a:ln/>
        </p:spPr>
        <p:txBody>
          <a:bodyPr/>
          <a:lstStyle/>
          <a:p>
            <a:endParaRPr lang="fr-FR"/>
          </a:p>
        </p:txBody>
      </p:sp>
      <p:sp>
        <p:nvSpPr>
          <p:cNvPr id="17" name="Shape 14"/>
          <p:cNvSpPr/>
          <p:nvPr/>
        </p:nvSpPr>
        <p:spPr>
          <a:xfrm>
            <a:off x="1495425" y="5705542"/>
            <a:ext cx="4095750" cy="9525"/>
          </a:xfrm>
          <a:prstGeom prst="rect">
            <a:avLst/>
          </a:prstGeom>
          <a:solidFill>
            <a:srgbClr val="0E3145">
              <a:alpha val="12000"/>
            </a:srgbClr>
          </a:solidFill>
          <a:ln/>
        </p:spPr>
        <p:txBody>
          <a:bodyPr/>
          <a:lstStyle/>
          <a:p>
            <a:endParaRPr lang="fr-FR"/>
          </a:p>
        </p:txBody>
      </p:sp>
      <p:sp>
        <p:nvSpPr>
          <p:cNvPr id="18" name="Text 15"/>
          <p:cNvSpPr/>
          <p:nvPr/>
        </p:nvSpPr>
        <p:spPr>
          <a:xfrm>
            <a:off x="1495425" y="5962717"/>
            <a:ext cx="1200299"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Statut pro.</a:t>
            </a:r>
            <a:endParaRPr lang="en-US" sz="1800" dirty="0"/>
          </a:p>
        </p:txBody>
      </p:sp>
      <p:sp>
        <p:nvSpPr>
          <p:cNvPr id="19" name="Text 16"/>
          <p:cNvSpPr/>
          <p:nvPr/>
        </p:nvSpPr>
        <p:spPr>
          <a:xfrm>
            <a:off x="4221212" y="5905567"/>
            <a:ext cx="1506959"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À préciser</a:t>
            </a:r>
            <a:endParaRPr lang="en-US" sz="2250" dirty="0"/>
          </a:p>
        </p:txBody>
      </p:sp>
      <p:sp>
        <p:nvSpPr>
          <p:cNvPr id="20" name="Text 17"/>
          <p:cNvSpPr/>
          <p:nvPr/>
        </p:nvSpPr>
        <p:spPr>
          <a:xfrm>
            <a:off x="6705600" y="4744941"/>
            <a:ext cx="1156716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LA QUESTION</a:t>
            </a:r>
            <a:endParaRPr lang="en-US" sz="1800" dirty="0"/>
          </a:p>
        </p:txBody>
      </p:sp>
      <p:sp>
        <p:nvSpPr>
          <p:cNvPr id="21" name="Text 18"/>
          <p:cNvSpPr/>
          <p:nvPr/>
        </p:nvSpPr>
        <p:spPr>
          <a:xfrm>
            <a:off x="6705600" y="5221191"/>
            <a:ext cx="10831068" cy="1028700"/>
          </a:xfrm>
          <a:prstGeom prst="rect">
            <a:avLst/>
          </a:prstGeom>
          <a:noFill/>
          <a:ln/>
        </p:spPr>
        <p:txBody>
          <a:bodyPr wrap="square" lIns="25400" tIns="25400" rIns="25400" bIns="25400" rtlCol="0" anchor="t">
            <a:normAutofit/>
          </a:bodyPr>
          <a:lstStyle/>
          <a:p>
            <a:pPr marL="0" indent="0" algn="l">
              <a:lnSpc>
                <a:spcPct val="130000"/>
              </a:lnSpc>
              <a:buNone/>
            </a:pPr>
            <a:r>
              <a:rPr lang="en-US" sz="3000" kern="0" spc="-45" dirty="0">
                <a:solidFill>
                  <a:srgbClr val="0E3145"/>
                </a:solidFill>
                <a:latin typeface="Euclid Circular A" pitchFamily="34" charset="0"/>
                <a:ea typeface="Euclid Circular A" pitchFamily="34" charset="-122"/>
                <a:cs typeface="Euclid Circular A" pitchFamily="34" charset="-120"/>
              </a:rPr>
              <a:t>Énoncez ici la problématique du cas, sous forme de question.</a:t>
            </a:r>
            <a:endParaRPr lang="en-US" sz="3000" dirty="0"/>
          </a:p>
        </p:txBody>
      </p:sp>
      <p:sp>
        <p:nvSpPr>
          <p:cNvPr id="22" name="Text 19"/>
          <p:cNvSpPr/>
          <p:nvPr/>
        </p:nvSpPr>
        <p:spPr>
          <a:xfrm>
            <a:off x="6705600" y="6478491"/>
            <a:ext cx="8211598" cy="860822"/>
          </a:xfrm>
          <a:prstGeom prst="rect">
            <a:avLst/>
          </a:prstGeom>
          <a:noFill/>
          <a:ln/>
        </p:spPr>
        <p:txBody>
          <a:bodyPr wrap="square" lIns="25400" tIns="25400" rIns="25400" bIns="25400" rtlCol="0" anchor="t">
            <a:normAutofit fontScale="92500" lnSpcReduction="20000"/>
          </a:bodyPr>
          <a:lstStyle/>
          <a:p>
            <a:pPr marL="0" indent="0" algn="l">
              <a:lnSpc>
                <a:spcPct val="160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Apportez les premiers éléments de réponse ou de contexte. Détaillez le raisonnement sur les slides suivantes.</a:t>
            </a:r>
            <a:endParaRPr lang="en-US" sz="2025"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BF8F3"/>
        </a:solidFill>
        <a:effectLst/>
      </p:bgPr>
    </p:bg>
    <p:spTree>
      <p:nvGrpSpPr>
        <p:cNvPr id="1" name=""/>
        <p:cNvGrpSpPr/>
        <p:nvPr/>
      </p:nvGrpSpPr>
      <p:grpSpPr>
        <a:xfrm>
          <a:off x="0" y="0"/>
          <a:ext cx="0" cy="0"/>
          <a:chOff x="0" y="0"/>
          <a:chExt cx="0" cy="0"/>
        </a:xfrm>
      </p:grpSpPr>
      <p:cxnSp>
        <p:nvCxnSpPr>
          <p:cNvPr id="30" name="Connecteur droit 29">
            <a:extLst>
              <a:ext uri="{FF2B5EF4-FFF2-40B4-BE49-F238E27FC236}">
                <a16:creationId xmlns:a16="http://schemas.microsoft.com/office/drawing/2014/main" id="{65964F13-31D7-869C-30DA-0FE83B203533}"/>
              </a:ext>
            </a:extLst>
          </p:cNvPr>
          <p:cNvCxnSpPr>
            <a:cxnSpLocks/>
          </p:cNvCxnSpPr>
          <p:nvPr/>
        </p:nvCxnSpPr>
        <p:spPr>
          <a:xfrm>
            <a:off x="9156736" y="4472680"/>
            <a:ext cx="2874481" cy="2460138"/>
          </a:xfrm>
          <a:prstGeom prst="line">
            <a:avLst/>
          </a:prstGeom>
          <a:ln w="15875">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3" name="Connecteur droit 32">
            <a:extLst>
              <a:ext uri="{FF2B5EF4-FFF2-40B4-BE49-F238E27FC236}">
                <a16:creationId xmlns:a16="http://schemas.microsoft.com/office/drawing/2014/main" id="{9CDBD707-5A32-A93B-FE62-13AE87B16275}"/>
              </a:ext>
            </a:extLst>
          </p:cNvPr>
          <p:cNvCxnSpPr>
            <a:cxnSpLocks/>
          </p:cNvCxnSpPr>
          <p:nvPr/>
        </p:nvCxnSpPr>
        <p:spPr>
          <a:xfrm flipH="1">
            <a:off x="6261136" y="4472680"/>
            <a:ext cx="2871705" cy="2460138"/>
          </a:xfrm>
          <a:prstGeom prst="line">
            <a:avLst/>
          </a:prstGeom>
          <a:ln w="15875">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35" name="Connecteur droit 34">
            <a:extLst>
              <a:ext uri="{FF2B5EF4-FFF2-40B4-BE49-F238E27FC236}">
                <a16:creationId xmlns:a16="http://schemas.microsoft.com/office/drawing/2014/main" id="{F00F5D37-644B-F6DF-171B-03FC492AA414}"/>
              </a:ext>
            </a:extLst>
          </p:cNvPr>
          <p:cNvCxnSpPr>
            <a:cxnSpLocks/>
          </p:cNvCxnSpPr>
          <p:nvPr/>
        </p:nvCxnSpPr>
        <p:spPr>
          <a:xfrm>
            <a:off x="6270307" y="6932818"/>
            <a:ext cx="5747386" cy="0"/>
          </a:xfrm>
          <a:prstGeom prst="line">
            <a:avLst/>
          </a:prstGeom>
          <a:ln w="15875">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Le </a:t>
            </a:r>
            <a:r>
              <a:rPr lang="en-US" sz="6150" kern="0" spc="-184" dirty="0">
                <a:solidFill>
                  <a:srgbClr val="DC216E"/>
                </a:solidFill>
                <a:latin typeface="Euclid Circular A" pitchFamily="34" charset="0"/>
                <a:ea typeface="Euclid Circular A" pitchFamily="34" charset="-122"/>
                <a:cs typeface="Euclid Circular A" pitchFamily="34" charset="-120"/>
              </a:rPr>
              <a:t>mécanisme </a:t>
            </a:r>
            <a:r>
              <a:rPr lang="en-US" sz="6150" kern="0" spc="-184" dirty="0">
                <a:solidFill>
                  <a:srgbClr val="0E3145"/>
                </a:solidFill>
                <a:latin typeface="Euclid Circular A" pitchFamily="34" charset="0"/>
                <a:ea typeface="Euclid Circular A" pitchFamily="34" charset="-122"/>
                <a:cs typeface="Euclid Circular A" pitchFamily="34" charset="-120"/>
              </a:rPr>
              <a:t>en schéma</a:t>
            </a:r>
            <a:endParaRPr lang="en-US" sz="6150" dirty="0"/>
          </a:p>
        </p:txBody>
      </p:sp>
      <p:sp>
        <p:nvSpPr>
          <p:cNvPr id="6" name="Shape 3"/>
          <p:cNvSpPr/>
          <p:nvPr/>
        </p:nvSpPr>
        <p:spPr>
          <a:xfrm>
            <a:off x="8048625" y="3757682"/>
            <a:ext cx="2190750" cy="1219200"/>
          </a:xfrm>
          <a:prstGeom prst="roundRect">
            <a:avLst>
              <a:gd name="adj" fmla="val 14063"/>
            </a:avLst>
          </a:prstGeom>
          <a:solidFill>
            <a:schemeClr val="accent1">
              <a:lumMod val="20000"/>
              <a:lumOff val="80000"/>
            </a:schemeClr>
          </a:solidFill>
          <a:ln w="9525">
            <a:solidFill>
              <a:schemeClr val="accent1"/>
            </a:solidFill>
            <a:prstDash val="solid"/>
          </a:ln>
          <a:effectLst>
            <a:outerShdw blurRad="285750" dist="133350" dir="5400000" algn="bl" rotWithShape="0">
              <a:srgbClr val="0E3145">
                <a:alpha val="24000"/>
              </a:srgbClr>
            </a:outerShdw>
          </a:effectLst>
        </p:spPr>
        <p:txBody>
          <a:bodyPr/>
          <a:lstStyle/>
          <a:p>
            <a:endParaRPr lang="fr-FR"/>
          </a:p>
        </p:txBody>
      </p:sp>
      <p:sp>
        <p:nvSpPr>
          <p:cNvPr id="7" name="Text 4"/>
          <p:cNvSpPr/>
          <p:nvPr/>
        </p:nvSpPr>
        <p:spPr>
          <a:xfrm>
            <a:off x="8221980" y="4014857"/>
            <a:ext cx="1844040" cy="400050"/>
          </a:xfrm>
          <a:prstGeom prst="rect">
            <a:avLst/>
          </a:prstGeom>
          <a:noFill/>
          <a:ln/>
        </p:spPr>
        <p:txBody>
          <a:bodyPr wrap="square" lIns="25400" tIns="25400" rIns="25400" bIns="25400" rtlCol="0" anchor="t">
            <a:normAutofit/>
          </a:bodyPr>
          <a:lstStyle/>
          <a:p>
            <a:pPr marL="0" indent="0" algn="ctr">
              <a:buNone/>
            </a:pPr>
            <a:r>
              <a:rPr lang="en-US" sz="2250" dirty="0">
                <a:solidFill>
                  <a:srgbClr val="0E3145"/>
                </a:solidFill>
                <a:latin typeface="Euclid Circular A" pitchFamily="34" charset="0"/>
                <a:ea typeface="Euclid Circular A" pitchFamily="34" charset="-122"/>
                <a:cs typeface="Euclid Circular A" pitchFamily="34" charset="-120"/>
              </a:rPr>
              <a:t>Élément A</a:t>
            </a:r>
            <a:endParaRPr lang="en-US" sz="2250" dirty="0"/>
          </a:p>
        </p:txBody>
      </p:sp>
      <p:sp>
        <p:nvSpPr>
          <p:cNvPr id="8" name="Text 5"/>
          <p:cNvSpPr/>
          <p:nvPr/>
        </p:nvSpPr>
        <p:spPr>
          <a:xfrm>
            <a:off x="8221980" y="4433957"/>
            <a:ext cx="1844040"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Rôle / part</a:t>
            </a:r>
            <a:endParaRPr lang="en-US" sz="1800" dirty="0"/>
          </a:p>
        </p:txBody>
      </p:sp>
      <p:sp>
        <p:nvSpPr>
          <p:cNvPr id="9" name="Shape 6"/>
          <p:cNvSpPr/>
          <p:nvPr/>
        </p:nvSpPr>
        <p:spPr>
          <a:xfrm>
            <a:off x="5191125" y="6215132"/>
            <a:ext cx="2190750" cy="1219200"/>
          </a:xfrm>
          <a:prstGeom prst="roundRect">
            <a:avLst>
              <a:gd name="adj" fmla="val 14063"/>
            </a:avLst>
          </a:prstGeom>
          <a:solidFill>
            <a:schemeClr val="accent1">
              <a:lumMod val="20000"/>
              <a:lumOff val="80000"/>
            </a:schemeClr>
          </a:solidFill>
          <a:ln w="9525">
            <a:solidFill>
              <a:schemeClr val="accent1"/>
            </a:solidFill>
            <a:prstDash val="solid"/>
          </a:ln>
          <a:effectLst>
            <a:outerShdw blurRad="285750" dist="133350" dir="5400000" algn="bl" rotWithShape="0">
              <a:srgbClr val="0E3145">
                <a:alpha val="24000"/>
              </a:srgbClr>
            </a:outerShdw>
          </a:effectLst>
        </p:spPr>
        <p:txBody>
          <a:bodyPr/>
          <a:lstStyle/>
          <a:p>
            <a:endParaRPr lang="fr-FR"/>
          </a:p>
        </p:txBody>
      </p:sp>
      <p:sp>
        <p:nvSpPr>
          <p:cNvPr id="10" name="Text 7"/>
          <p:cNvSpPr/>
          <p:nvPr/>
        </p:nvSpPr>
        <p:spPr>
          <a:xfrm>
            <a:off x="5364480" y="6472307"/>
            <a:ext cx="1844040" cy="400050"/>
          </a:xfrm>
          <a:prstGeom prst="rect">
            <a:avLst/>
          </a:prstGeom>
          <a:noFill/>
          <a:ln/>
        </p:spPr>
        <p:txBody>
          <a:bodyPr wrap="square" lIns="25400" tIns="25400" rIns="25400" bIns="25400" rtlCol="0" anchor="t">
            <a:normAutofit/>
          </a:bodyPr>
          <a:lstStyle/>
          <a:p>
            <a:pPr marL="0" indent="0" algn="ctr">
              <a:buNone/>
            </a:pPr>
            <a:r>
              <a:rPr lang="en-US" sz="2250" dirty="0">
                <a:solidFill>
                  <a:srgbClr val="0E3145"/>
                </a:solidFill>
                <a:latin typeface="Euclid Circular A" pitchFamily="34" charset="0"/>
                <a:ea typeface="Euclid Circular A" pitchFamily="34" charset="-122"/>
                <a:cs typeface="Euclid Circular A" pitchFamily="34" charset="-120"/>
              </a:rPr>
              <a:t>Élément B</a:t>
            </a:r>
            <a:endParaRPr lang="en-US" sz="2250" dirty="0"/>
          </a:p>
        </p:txBody>
      </p:sp>
      <p:sp>
        <p:nvSpPr>
          <p:cNvPr id="11" name="Text 8"/>
          <p:cNvSpPr/>
          <p:nvPr/>
        </p:nvSpPr>
        <p:spPr>
          <a:xfrm>
            <a:off x="5364480" y="6891407"/>
            <a:ext cx="1844040"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Rôle / part</a:t>
            </a:r>
            <a:endParaRPr lang="en-US" sz="1800" dirty="0"/>
          </a:p>
        </p:txBody>
      </p:sp>
      <p:sp>
        <p:nvSpPr>
          <p:cNvPr id="12" name="Shape 9"/>
          <p:cNvSpPr/>
          <p:nvPr/>
        </p:nvSpPr>
        <p:spPr>
          <a:xfrm>
            <a:off x="10906125" y="6215132"/>
            <a:ext cx="2190750" cy="1219200"/>
          </a:xfrm>
          <a:prstGeom prst="roundRect">
            <a:avLst>
              <a:gd name="adj" fmla="val 14063"/>
            </a:avLst>
          </a:prstGeom>
          <a:solidFill>
            <a:schemeClr val="accent1">
              <a:lumMod val="20000"/>
              <a:lumOff val="80000"/>
            </a:schemeClr>
          </a:solidFill>
          <a:ln w="9525">
            <a:solidFill>
              <a:schemeClr val="accent1"/>
            </a:solidFill>
            <a:prstDash val="solid"/>
          </a:ln>
          <a:effectLst>
            <a:outerShdw blurRad="285750" dist="133350" dir="5400000" algn="bl" rotWithShape="0">
              <a:srgbClr val="0E3145">
                <a:alpha val="24000"/>
              </a:srgbClr>
            </a:outerShdw>
          </a:effectLst>
        </p:spPr>
        <p:txBody>
          <a:bodyPr/>
          <a:lstStyle/>
          <a:p>
            <a:endParaRPr lang="fr-FR"/>
          </a:p>
        </p:txBody>
      </p:sp>
      <p:sp>
        <p:nvSpPr>
          <p:cNvPr id="13" name="Text 10"/>
          <p:cNvSpPr/>
          <p:nvPr/>
        </p:nvSpPr>
        <p:spPr>
          <a:xfrm>
            <a:off x="11079480" y="6472307"/>
            <a:ext cx="1844040" cy="400050"/>
          </a:xfrm>
          <a:prstGeom prst="rect">
            <a:avLst/>
          </a:prstGeom>
          <a:noFill/>
          <a:ln/>
        </p:spPr>
        <p:txBody>
          <a:bodyPr wrap="square" lIns="25400" tIns="25400" rIns="25400" bIns="25400" rtlCol="0" anchor="t">
            <a:normAutofit/>
          </a:bodyPr>
          <a:lstStyle/>
          <a:p>
            <a:pPr marL="0" indent="0" algn="ctr">
              <a:buNone/>
            </a:pPr>
            <a:r>
              <a:rPr lang="en-US" sz="2250" dirty="0">
                <a:solidFill>
                  <a:srgbClr val="0E3145"/>
                </a:solidFill>
                <a:latin typeface="Euclid Circular A" pitchFamily="34" charset="0"/>
                <a:ea typeface="Euclid Circular A" pitchFamily="34" charset="-122"/>
                <a:cs typeface="Euclid Circular A" pitchFamily="34" charset="-120"/>
              </a:rPr>
              <a:t>Élément C</a:t>
            </a:r>
            <a:endParaRPr lang="en-US" sz="2250" dirty="0"/>
          </a:p>
        </p:txBody>
      </p:sp>
      <p:sp>
        <p:nvSpPr>
          <p:cNvPr id="14" name="Text 11"/>
          <p:cNvSpPr/>
          <p:nvPr/>
        </p:nvSpPr>
        <p:spPr>
          <a:xfrm>
            <a:off x="11079480" y="6891407"/>
            <a:ext cx="1844040"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Rôle / part</a:t>
            </a:r>
            <a:endParaRPr lang="en-US" sz="1800" dirty="0"/>
          </a:p>
        </p:txBody>
      </p:sp>
      <p:sp>
        <p:nvSpPr>
          <p:cNvPr id="15" name="Shape 12"/>
          <p:cNvSpPr/>
          <p:nvPr/>
        </p:nvSpPr>
        <p:spPr>
          <a:xfrm>
            <a:off x="8128397" y="6624707"/>
            <a:ext cx="2031206" cy="400050"/>
          </a:xfrm>
          <a:prstGeom prst="rect">
            <a:avLst/>
          </a:prstGeom>
          <a:solidFill>
            <a:schemeClr val="bg2"/>
          </a:solidFill>
          <a:ln/>
        </p:spPr>
        <p:txBody>
          <a:bodyPr/>
          <a:lstStyle/>
          <a:p>
            <a:endParaRPr lang="fr-FR"/>
          </a:p>
        </p:txBody>
      </p:sp>
      <p:sp>
        <p:nvSpPr>
          <p:cNvPr id="16" name="Text 13"/>
          <p:cNvSpPr/>
          <p:nvPr/>
        </p:nvSpPr>
        <p:spPr>
          <a:xfrm>
            <a:off x="8278531" y="6770893"/>
            <a:ext cx="1764506"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DC216E"/>
                </a:solidFill>
                <a:latin typeface="Euclid Circular A" pitchFamily="34" charset="0"/>
                <a:ea typeface="Euclid Circular A" pitchFamily="34" charset="-122"/>
                <a:cs typeface="Euclid Circular A" pitchFamily="34" charset="-120"/>
              </a:rPr>
              <a:t>Lien réciproque</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3265600"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POINT D'ATTENTION</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Risques &amp; </a:t>
            </a:r>
            <a:r>
              <a:rPr lang="en-US" sz="6150" kern="0" spc="-184" dirty="0">
                <a:solidFill>
                  <a:srgbClr val="DC216E"/>
                </a:solidFill>
                <a:latin typeface="Euclid Circular A" pitchFamily="34" charset="0"/>
                <a:ea typeface="Euclid Circular A" pitchFamily="34" charset="-122"/>
                <a:cs typeface="Euclid Circular A" pitchFamily="34" charset="-120"/>
              </a:rPr>
              <a:t>solutions</a:t>
            </a:r>
            <a:endParaRPr lang="en-US" sz="6150" dirty="0"/>
          </a:p>
        </p:txBody>
      </p:sp>
      <p:sp>
        <p:nvSpPr>
          <p:cNvPr id="5" name="Text 3"/>
          <p:cNvSpPr/>
          <p:nvPr/>
        </p:nvSpPr>
        <p:spPr>
          <a:xfrm>
            <a:off x="1066800" y="3156064"/>
            <a:ext cx="854964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RISQUES IDENTIFIÉS</a:t>
            </a:r>
            <a:endParaRPr lang="en-US" sz="1800" dirty="0"/>
          </a:p>
        </p:txBody>
      </p:sp>
      <p:sp>
        <p:nvSpPr>
          <p:cNvPr id="6" name="Shape 4"/>
          <p:cNvSpPr/>
          <p:nvPr/>
        </p:nvSpPr>
        <p:spPr>
          <a:xfrm>
            <a:off x="1066800" y="3727564"/>
            <a:ext cx="438150" cy="438150"/>
          </a:xfrm>
          <a:prstGeom prst="ellipse">
            <a:avLst/>
          </a:prstGeom>
          <a:solidFill>
            <a:srgbClr val="DC216E">
              <a:alpha val="10000"/>
            </a:srgbClr>
          </a:solidFill>
          <a:ln w="9525">
            <a:solidFill>
              <a:srgbClr val="DC216E">
                <a:alpha val="28000"/>
              </a:srgbClr>
            </a:solidFill>
            <a:prstDash val="solid"/>
          </a:ln>
        </p:spPr>
        <p:txBody>
          <a:bodyPr/>
          <a:lstStyle/>
          <a:p>
            <a:endParaRPr lang="fr-FR"/>
          </a:p>
        </p:txBody>
      </p:sp>
      <p:sp>
        <p:nvSpPr>
          <p:cNvPr id="7" name="Text 5"/>
          <p:cNvSpPr/>
          <p:nvPr/>
        </p:nvSpPr>
        <p:spPr>
          <a:xfrm>
            <a:off x="1038225" y="3737089"/>
            <a:ext cx="495300" cy="457200"/>
          </a:xfrm>
          <a:prstGeom prst="rect">
            <a:avLst/>
          </a:prstGeom>
          <a:noFill/>
          <a:ln/>
        </p:spPr>
        <p:txBody>
          <a:bodyPr wrap="square" lIns="25400" tIns="25400" rIns="25400" bIns="25400" rtlCol="0" anchor="ctr">
            <a:normAutofit/>
          </a:bodyPr>
          <a:lstStyle/>
          <a:p>
            <a:pPr marL="0" indent="0" algn="ctr">
              <a:buNone/>
            </a:pPr>
            <a:r>
              <a:rPr lang="en-US" sz="1950" b="1" dirty="0">
                <a:solidFill>
                  <a:srgbClr val="DC216E"/>
                </a:solidFill>
                <a:latin typeface="Euclid Circular A" pitchFamily="34" charset="0"/>
                <a:ea typeface="Euclid Circular A" pitchFamily="34" charset="-122"/>
                <a:cs typeface="Euclid Circular A" pitchFamily="34" charset="-120"/>
              </a:rPr>
              <a:t>!</a:t>
            </a:r>
            <a:endParaRPr lang="en-US" sz="1950" dirty="0"/>
          </a:p>
        </p:txBody>
      </p:sp>
      <p:sp>
        <p:nvSpPr>
          <p:cNvPr id="8" name="Text 6"/>
          <p:cNvSpPr/>
          <p:nvPr/>
        </p:nvSpPr>
        <p:spPr>
          <a:xfrm>
            <a:off x="1714500" y="3727564"/>
            <a:ext cx="5201751" cy="400050"/>
          </a:xfrm>
          <a:prstGeom prst="rect">
            <a:avLst/>
          </a:prstGeom>
          <a:noFill/>
          <a:ln/>
        </p:spPr>
        <p:txBody>
          <a:bodyPr wrap="square" lIns="25400" tIns="25400" rIns="25400" bIns="25400" rtlCol="0" anchor="t">
            <a:normAutofit/>
          </a:bodyPr>
          <a:lstStyle/>
          <a:p>
            <a:pPr marL="0" indent="0" algn="l">
              <a:buNone/>
            </a:pPr>
            <a:r>
              <a:rPr lang="en-US" sz="2250" kern="0" spc="-22" dirty="0">
                <a:solidFill>
                  <a:srgbClr val="0E3145"/>
                </a:solidFill>
                <a:latin typeface="Euclid Circular A" pitchFamily="34" charset="0"/>
                <a:ea typeface="Euclid Circular A" pitchFamily="34" charset="-122"/>
                <a:cs typeface="Euclid Circular A" pitchFamily="34" charset="-120"/>
              </a:rPr>
              <a:t>Intitulé du risque</a:t>
            </a:r>
            <a:endParaRPr lang="en-US" sz="2250" dirty="0"/>
          </a:p>
        </p:txBody>
      </p:sp>
      <p:sp>
        <p:nvSpPr>
          <p:cNvPr id="9" name="Text 7"/>
          <p:cNvSpPr/>
          <p:nvPr/>
        </p:nvSpPr>
        <p:spPr>
          <a:xfrm>
            <a:off x="1714500" y="4146664"/>
            <a:ext cx="5201751"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Conséquence concrète si rien n'est anticipé.</a:t>
            </a:r>
            <a:endParaRPr lang="en-US" sz="1800" dirty="0"/>
          </a:p>
        </p:txBody>
      </p:sp>
      <p:sp>
        <p:nvSpPr>
          <p:cNvPr id="10" name="Shape 8"/>
          <p:cNvSpPr/>
          <p:nvPr/>
        </p:nvSpPr>
        <p:spPr>
          <a:xfrm>
            <a:off x="1066800" y="4699114"/>
            <a:ext cx="438150" cy="438150"/>
          </a:xfrm>
          <a:prstGeom prst="ellipse">
            <a:avLst/>
          </a:prstGeom>
          <a:solidFill>
            <a:srgbClr val="DC216E">
              <a:alpha val="10000"/>
            </a:srgbClr>
          </a:solidFill>
          <a:ln w="9525">
            <a:solidFill>
              <a:srgbClr val="DC216E">
                <a:alpha val="28000"/>
              </a:srgbClr>
            </a:solidFill>
            <a:prstDash val="solid"/>
          </a:ln>
        </p:spPr>
        <p:txBody>
          <a:bodyPr/>
          <a:lstStyle/>
          <a:p>
            <a:endParaRPr lang="fr-FR"/>
          </a:p>
        </p:txBody>
      </p:sp>
      <p:sp>
        <p:nvSpPr>
          <p:cNvPr id="11" name="Text 9"/>
          <p:cNvSpPr/>
          <p:nvPr/>
        </p:nvSpPr>
        <p:spPr>
          <a:xfrm>
            <a:off x="1038225" y="4708639"/>
            <a:ext cx="495300" cy="457200"/>
          </a:xfrm>
          <a:prstGeom prst="rect">
            <a:avLst/>
          </a:prstGeom>
          <a:noFill/>
          <a:ln/>
        </p:spPr>
        <p:txBody>
          <a:bodyPr wrap="square" lIns="25400" tIns="25400" rIns="25400" bIns="25400" rtlCol="0" anchor="ctr">
            <a:normAutofit/>
          </a:bodyPr>
          <a:lstStyle/>
          <a:p>
            <a:pPr marL="0" indent="0" algn="ctr">
              <a:buNone/>
            </a:pPr>
            <a:r>
              <a:rPr lang="en-US" sz="1950" b="1" dirty="0">
                <a:solidFill>
                  <a:srgbClr val="DC216E"/>
                </a:solidFill>
                <a:latin typeface="Euclid Circular A" pitchFamily="34" charset="0"/>
                <a:ea typeface="Euclid Circular A" pitchFamily="34" charset="-122"/>
                <a:cs typeface="Euclid Circular A" pitchFamily="34" charset="-120"/>
              </a:rPr>
              <a:t>!</a:t>
            </a:r>
            <a:endParaRPr lang="en-US" sz="1950" dirty="0"/>
          </a:p>
        </p:txBody>
      </p:sp>
      <p:sp>
        <p:nvSpPr>
          <p:cNvPr id="12" name="Text 10"/>
          <p:cNvSpPr/>
          <p:nvPr/>
        </p:nvSpPr>
        <p:spPr>
          <a:xfrm>
            <a:off x="1714500" y="4699114"/>
            <a:ext cx="5201751" cy="400050"/>
          </a:xfrm>
          <a:prstGeom prst="rect">
            <a:avLst/>
          </a:prstGeom>
          <a:noFill/>
          <a:ln/>
        </p:spPr>
        <p:txBody>
          <a:bodyPr wrap="square" lIns="25400" tIns="25400" rIns="25400" bIns="25400" rtlCol="0" anchor="t">
            <a:normAutofit/>
          </a:bodyPr>
          <a:lstStyle/>
          <a:p>
            <a:pPr marL="0" indent="0" algn="l">
              <a:buNone/>
            </a:pPr>
            <a:r>
              <a:rPr lang="en-US" sz="2250" kern="0" spc="-22" dirty="0">
                <a:solidFill>
                  <a:srgbClr val="0E3145"/>
                </a:solidFill>
                <a:latin typeface="Euclid Circular A" pitchFamily="34" charset="0"/>
                <a:ea typeface="Euclid Circular A" pitchFamily="34" charset="-122"/>
                <a:cs typeface="Euclid Circular A" pitchFamily="34" charset="-120"/>
              </a:rPr>
              <a:t>Intitulé du risque</a:t>
            </a:r>
            <a:endParaRPr lang="en-US" sz="2250" dirty="0"/>
          </a:p>
        </p:txBody>
      </p:sp>
      <p:sp>
        <p:nvSpPr>
          <p:cNvPr id="13" name="Text 11"/>
          <p:cNvSpPr/>
          <p:nvPr/>
        </p:nvSpPr>
        <p:spPr>
          <a:xfrm>
            <a:off x="1714500" y="5118214"/>
            <a:ext cx="5201751"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Conséquence concrète si rien n'est anticipé.</a:t>
            </a:r>
            <a:endParaRPr lang="en-US" sz="1800" dirty="0"/>
          </a:p>
        </p:txBody>
      </p:sp>
      <p:sp>
        <p:nvSpPr>
          <p:cNvPr id="14" name="Shape 12"/>
          <p:cNvSpPr/>
          <p:nvPr/>
        </p:nvSpPr>
        <p:spPr>
          <a:xfrm>
            <a:off x="1066800" y="5670664"/>
            <a:ext cx="438150" cy="438150"/>
          </a:xfrm>
          <a:prstGeom prst="ellipse">
            <a:avLst/>
          </a:prstGeom>
          <a:solidFill>
            <a:srgbClr val="DC216E">
              <a:alpha val="10000"/>
            </a:srgbClr>
          </a:solidFill>
          <a:ln w="9525">
            <a:solidFill>
              <a:srgbClr val="DC216E">
                <a:alpha val="28000"/>
              </a:srgbClr>
            </a:solidFill>
            <a:prstDash val="solid"/>
          </a:ln>
        </p:spPr>
        <p:txBody>
          <a:bodyPr/>
          <a:lstStyle/>
          <a:p>
            <a:endParaRPr lang="fr-FR"/>
          </a:p>
        </p:txBody>
      </p:sp>
      <p:sp>
        <p:nvSpPr>
          <p:cNvPr id="15" name="Text 13"/>
          <p:cNvSpPr/>
          <p:nvPr/>
        </p:nvSpPr>
        <p:spPr>
          <a:xfrm>
            <a:off x="1038225" y="5680189"/>
            <a:ext cx="495300" cy="457200"/>
          </a:xfrm>
          <a:prstGeom prst="rect">
            <a:avLst/>
          </a:prstGeom>
          <a:noFill/>
          <a:ln/>
        </p:spPr>
        <p:txBody>
          <a:bodyPr wrap="square" lIns="25400" tIns="25400" rIns="25400" bIns="25400" rtlCol="0" anchor="ctr">
            <a:normAutofit/>
          </a:bodyPr>
          <a:lstStyle/>
          <a:p>
            <a:pPr marL="0" indent="0" algn="ctr">
              <a:buNone/>
            </a:pPr>
            <a:r>
              <a:rPr lang="en-US" sz="1950" b="1" dirty="0">
                <a:solidFill>
                  <a:srgbClr val="DC216E"/>
                </a:solidFill>
                <a:latin typeface="Euclid Circular A" pitchFamily="34" charset="0"/>
                <a:ea typeface="Euclid Circular A" pitchFamily="34" charset="-122"/>
                <a:cs typeface="Euclid Circular A" pitchFamily="34" charset="-120"/>
              </a:rPr>
              <a:t>!</a:t>
            </a:r>
            <a:endParaRPr lang="en-US" sz="1950" dirty="0"/>
          </a:p>
        </p:txBody>
      </p:sp>
      <p:sp>
        <p:nvSpPr>
          <p:cNvPr id="16" name="Text 14"/>
          <p:cNvSpPr/>
          <p:nvPr/>
        </p:nvSpPr>
        <p:spPr>
          <a:xfrm>
            <a:off x="1714500" y="5670664"/>
            <a:ext cx="5201751" cy="400050"/>
          </a:xfrm>
          <a:prstGeom prst="rect">
            <a:avLst/>
          </a:prstGeom>
          <a:noFill/>
          <a:ln/>
        </p:spPr>
        <p:txBody>
          <a:bodyPr wrap="square" lIns="25400" tIns="25400" rIns="25400" bIns="25400" rtlCol="0" anchor="t">
            <a:normAutofit/>
          </a:bodyPr>
          <a:lstStyle/>
          <a:p>
            <a:pPr marL="0" indent="0" algn="l">
              <a:buNone/>
            </a:pPr>
            <a:r>
              <a:rPr lang="en-US" sz="2250" kern="0" spc="-22" dirty="0">
                <a:solidFill>
                  <a:srgbClr val="0E3145"/>
                </a:solidFill>
                <a:latin typeface="Euclid Circular A" pitchFamily="34" charset="0"/>
                <a:ea typeface="Euclid Circular A" pitchFamily="34" charset="-122"/>
                <a:cs typeface="Euclid Circular A" pitchFamily="34" charset="-120"/>
              </a:rPr>
              <a:t>Intitulé du risque</a:t>
            </a:r>
            <a:endParaRPr lang="en-US" sz="2250" dirty="0"/>
          </a:p>
        </p:txBody>
      </p:sp>
      <p:sp>
        <p:nvSpPr>
          <p:cNvPr id="17" name="Text 15"/>
          <p:cNvSpPr/>
          <p:nvPr/>
        </p:nvSpPr>
        <p:spPr>
          <a:xfrm>
            <a:off x="1714500" y="6089764"/>
            <a:ext cx="5201751"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Conséquence concrète si rien n'est anticipé.</a:t>
            </a:r>
            <a:endParaRPr lang="en-US" sz="1800" dirty="0"/>
          </a:p>
        </p:txBody>
      </p:sp>
      <p:sp>
        <p:nvSpPr>
          <p:cNvPr id="18" name="Shape 16"/>
          <p:cNvSpPr/>
          <p:nvPr/>
        </p:nvSpPr>
        <p:spPr>
          <a:xfrm>
            <a:off x="9448800" y="3159284"/>
            <a:ext cx="7772400" cy="4114800"/>
          </a:xfrm>
          <a:prstGeom prst="roundRect">
            <a:avLst>
              <a:gd name="adj" fmla="val 4167"/>
            </a:avLst>
          </a:prstGeom>
          <a:solidFill>
            <a:srgbClr val="FFFFFF">
              <a:alpha val="98000"/>
            </a:srgbClr>
          </a:solidFill>
          <a:ln w="9525">
            <a:solidFill>
              <a:srgbClr val="0E3145">
                <a:alpha val="12000"/>
              </a:srgbClr>
            </a:solidFill>
            <a:prstDash val="solid"/>
          </a:ln>
          <a:effectLst>
            <a:outerShdw blurRad="285750" dist="133350" dir="5400000" algn="bl" rotWithShape="0">
              <a:srgbClr val="0E3145">
                <a:alpha val="23623"/>
              </a:srgbClr>
            </a:outerShdw>
          </a:effectLst>
        </p:spPr>
        <p:txBody>
          <a:bodyPr/>
          <a:lstStyle/>
          <a:p>
            <a:endParaRPr lang="fr-FR"/>
          </a:p>
        </p:txBody>
      </p:sp>
      <p:sp>
        <p:nvSpPr>
          <p:cNvPr id="19" name="Text 17"/>
          <p:cNvSpPr/>
          <p:nvPr/>
        </p:nvSpPr>
        <p:spPr>
          <a:xfrm>
            <a:off x="9877425" y="3587909"/>
            <a:ext cx="7606665"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SOLUTIONS À PROPOSER</a:t>
            </a:r>
            <a:endParaRPr lang="en-US" sz="1800" dirty="0"/>
          </a:p>
        </p:txBody>
      </p:sp>
      <p:sp>
        <p:nvSpPr>
          <p:cNvPr id="20" name="Shape 18"/>
          <p:cNvSpPr/>
          <p:nvPr/>
        </p:nvSpPr>
        <p:spPr>
          <a:xfrm>
            <a:off x="9877425" y="4159409"/>
            <a:ext cx="6915150" cy="781050"/>
          </a:xfrm>
          <a:prstGeom prst="roundRect">
            <a:avLst>
              <a:gd name="adj" fmla="val 14634"/>
            </a:avLst>
          </a:prstGeom>
          <a:ln w="9525">
            <a:solidFill>
              <a:srgbClr val="0E3145">
                <a:alpha val="12000"/>
              </a:srgbClr>
            </a:solidFill>
            <a:prstDash val="solid"/>
          </a:ln>
        </p:spPr>
        <p:txBody>
          <a:bodyPr/>
          <a:lstStyle/>
          <a:p>
            <a:endParaRPr lang="fr-FR"/>
          </a:p>
        </p:txBody>
      </p:sp>
      <p:sp>
        <p:nvSpPr>
          <p:cNvPr id="21" name="Shape 19"/>
          <p:cNvSpPr/>
          <p:nvPr/>
        </p:nvSpPr>
        <p:spPr>
          <a:xfrm>
            <a:off x="10134600" y="4378484"/>
            <a:ext cx="342900" cy="342900"/>
          </a:xfrm>
          <a:prstGeom prst="ellipse">
            <a:avLst/>
          </a:prstGeom>
          <a:solidFill>
            <a:srgbClr val="DC216E"/>
          </a:solidFill>
          <a:ln/>
        </p:spPr>
        <p:txBody>
          <a:bodyPr/>
          <a:lstStyle/>
          <a:p>
            <a:endParaRPr lang="fr-FR"/>
          </a:p>
        </p:txBody>
      </p:sp>
      <p:sp>
        <p:nvSpPr>
          <p:cNvPr id="22" name="Text 20"/>
          <p:cNvSpPr/>
          <p:nvPr/>
        </p:nvSpPr>
        <p:spPr>
          <a:xfrm>
            <a:off x="10096500" y="4378484"/>
            <a:ext cx="419100" cy="381000"/>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Euclid Circular A" pitchFamily="34" charset="0"/>
                <a:ea typeface="Euclid Circular A" pitchFamily="34" charset="-122"/>
                <a:cs typeface="Euclid Circular A" pitchFamily="34" charset="-120"/>
              </a:rPr>
              <a:t>✓</a:t>
            </a:r>
            <a:endParaRPr lang="en-US" sz="1800" dirty="0"/>
          </a:p>
        </p:txBody>
      </p:sp>
      <p:sp>
        <p:nvSpPr>
          <p:cNvPr id="23" name="Text 21"/>
          <p:cNvSpPr/>
          <p:nvPr/>
        </p:nvSpPr>
        <p:spPr>
          <a:xfrm>
            <a:off x="10668000" y="4378484"/>
            <a:ext cx="3779922"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Solution à mettre en œuvre</a:t>
            </a:r>
            <a:endParaRPr lang="en-US" sz="2100" dirty="0"/>
          </a:p>
        </p:txBody>
      </p:sp>
      <p:sp>
        <p:nvSpPr>
          <p:cNvPr id="24" name="Shape 22"/>
          <p:cNvSpPr/>
          <p:nvPr/>
        </p:nvSpPr>
        <p:spPr>
          <a:xfrm>
            <a:off x="9877425" y="5111909"/>
            <a:ext cx="6915150" cy="781050"/>
          </a:xfrm>
          <a:prstGeom prst="roundRect">
            <a:avLst>
              <a:gd name="adj" fmla="val 14634"/>
            </a:avLst>
          </a:prstGeom>
          <a:ln w="9525">
            <a:solidFill>
              <a:srgbClr val="0E3145">
                <a:alpha val="12000"/>
              </a:srgbClr>
            </a:solidFill>
            <a:prstDash val="solid"/>
          </a:ln>
        </p:spPr>
        <p:txBody>
          <a:bodyPr/>
          <a:lstStyle/>
          <a:p>
            <a:endParaRPr lang="fr-FR"/>
          </a:p>
        </p:txBody>
      </p:sp>
      <p:sp>
        <p:nvSpPr>
          <p:cNvPr id="25" name="Shape 23"/>
          <p:cNvSpPr/>
          <p:nvPr/>
        </p:nvSpPr>
        <p:spPr>
          <a:xfrm>
            <a:off x="10134600" y="5330984"/>
            <a:ext cx="342900" cy="342900"/>
          </a:xfrm>
          <a:prstGeom prst="ellipse">
            <a:avLst/>
          </a:prstGeom>
          <a:solidFill>
            <a:srgbClr val="DC216E"/>
          </a:solidFill>
          <a:ln/>
        </p:spPr>
        <p:txBody>
          <a:bodyPr/>
          <a:lstStyle/>
          <a:p>
            <a:endParaRPr lang="fr-FR"/>
          </a:p>
        </p:txBody>
      </p:sp>
      <p:sp>
        <p:nvSpPr>
          <p:cNvPr id="26" name="Text 24"/>
          <p:cNvSpPr/>
          <p:nvPr/>
        </p:nvSpPr>
        <p:spPr>
          <a:xfrm>
            <a:off x="10096500" y="5330984"/>
            <a:ext cx="419100" cy="381000"/>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Euclid Circular A" pitchFamily="34" charset="0"/>
                <a:ea typeface="Euclid Circular A" pitchFamily="34" charset="-122"/>
                <a:cs typeface="Euclid Circular A" pitchFamily="34" charset="-120"/>
              </a:rPr>
              <a:t>✓</a:t>
            </a:r>
            <a:endParaRPr lang="en-US" sz="1800" dirty="0"/>
          </a:p>
        </p:txBody>
      </p:sp>
      <p:sp>
        <p:nvSpPr>
          <p:cNvPr id="27" name="Text 25"/>
          <p:cNvSpPr/>
          <p:nvPr/>
        </p:nvSpPr>
        <p:spPr>
          <a:xfrm>
            <a:off x="10668000" y="5330984"/>
            <a:ext cx="3779922"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Solution à mettre en œuvre</a:t>
            </a:r>
            <a:endParaRPr lang="en-US" sz="2100" dirty="0"/>
          </a:p>
        </p:txBody>
      </p:sp>
      <p:sp>
        <p:nvSpPr>
          <p:cNvPr id="28" name="Shape 26"/>
          <p:cNvSpPr/>
          <p:nvPr/>
        </p:nvSpPr>
        <p:spPr>
          <a:xfrm>
            <a:off x="9877425" y="6064409"/>
            <a:ext cx="6915150" cy="781050"/>
          </a:xfrm>
          <a:prstGeom prst="roundRect">
            <a:avLst>
              <a:gd name="adj" fmla="val 14634"/>
            </a:avLst>
          </a:prstGeom>
          <a:ln w="9525">
            <a:solidFill>
              <a:srgbClr val="0E3145">
                <a:alpha val="12000"/>
              </a:srgbClr>
            </a:solidFill>
            <a:prstDash val="solid"/>
          </a:ln>
        </p:spPr>
        <p:txBody>
          <a:bodyPr/>
          <a:lstStyle/>
          <a:p>
            <a:endParaRPr lang="fr-FR"/>
          </a:p>
        </p:txBody>
      </p:sp>
      <p:sp>
        <p:nvSpPr>
          <p:cNvPr id="29" name="Shape 27"/>
          <p:cNvSpPr/>
          <p:nvPr/>
        </p:nvSpPr>
        <p:spPr>
          <a:xfrm>
            <a:off x="10134600" y="6283484"/>
            <a:ext cx="342900" cy="342900"/>
          </a:xfrm>
          <a:prstGeom prst="ellipse">
            <a:avLst/>
          </a:prstGeom>
          <a:solidFill>
            <a:srgbClr val="DC216E"/>
          </a:solidFill>
          <a:ln/>
        </p:spPr>
        <p:txBody>
          <a:bodyPr/>
          <a:lstStyle/>
          <a:p>
            <a:endParaRPr lang="fr-FR"/>
          </a:p>
        </p:txBody>
      </p:sp>
      <p:sp>
        <p:nvSpPr>
          <p:cNvPr id="30" name="Text 28"/>
          <p:cNvSpPr/>
          <p:nvPr/>
        </p:nvSpPr>
        <p:spPr>
          <a:xfrm>
            <a:off x="10096500" y="6283484"/>
            <a:ext cx="419100" cy="381000"/>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Euclid Circular A" pitchFamily="34" charset="0"/>
                <a:ea typeface="Euclid Circular A" pitchFamily="34" charset="-122"/>
                <a:cs typeface="Euclid Circular A" pitchFamily="34" charset="-120"/>
              </a:rPr>
              <a:t>✓</a:t>
            </a:r>
            <a:endParaRPr lang="en-US" sz="1800" dirty="0"/>
          </a:p>
        </p:txBody>
      </p:sp>
      <p:sp>
        <p:nvSpPr>
          <p:cNvPr id="31" name="Text 29"/>
          <p:cNvSpPr/>
          <p:nvPr/>
        </p:nvSpPr>
        <p:spPr>
          <a:xfrm>
            <a:off x="10668000" y="6283484"/>
            <a:ext cx="3779922"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Solution à mettre en œuvre</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BF8F3"/>
        </a:solidFill>
        <a:effectLst/>
      </p:bgPr>
    </p:bg>
    <p:spTree>
      <p:nvGrpSpPr>
        <p:cNvPr id="1" name=""/>
        <p:cNvGrpSpPr/>
        <p:nvPr/>
      </p:nvGrpSpPr>
      <p:grpSpPr>
        <a:xfrm>
          <a:off x="0" y="0"/>
          <a:ext cx="0" cy="0"/>
          <a:chOff x="0" y="0"/>
          <a:chExt cx="0" cy="0"/>
        </a:xfrm>
      </p:grpSpPr>
      <p:sp>
        <p:nvSpPr>
          <p:cNvPr id="19" name="Shape 17"/>
          <p:cNvSpPr/>
          <p:nvPr/>
        </p:nvSpPr>
        <p:spPr>
          <a:xfrm>
            <a:off x="9315450" y="2400368"/>
            <a:ext cx="7905750" cy="6353175"/>
          </a:xfrm>
          <a:prstGeom prst="roundRect">
            <a:avLst>
              <a:gd name="adj" fmla="val 2699"/>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36" name="Shape 6">
            <a:extLst>
              <a:ext uri="{FF2B5EF4-FFF2-40B4-BE49-F238E27FC236}">
                <a16:creationId xmlns:a16="http://schemas.microsoft.com/office/drawing/2014/main" id="{EC232E83-F195-B3D7-5C16-067CFA1E5D10}"/>
              </a:ext>
            </a:extLst>
          </p:cNvPr>
          <p:cNvSpPr/>
          <p:nvPr/>
        </p:nvSpPr>
        <p:spPr>
          <a:xfrm>
            <a:off x="9315450" y="2396245"/>
            <a:ext cx="7924800" cy="1400175"/>
          </a:xfrm>
          <a:prstGeom prst="round2SameRect">
            <a:avLst>
              <a:gd name="adj1" fmla="val 11306"/>
              <a:gd name="adj2" fmla="val 0"/>
            </a:avLst>
          </a:prstGeom>
          <a:solidFill>
            <a:schemeClr val="tx2"/>
          </a:solidFill>
          <a:ln/>
        </p:spPr>
        <p:txBody>
          <a:bodyPr/>
          <a:lstStyle/>
          <a:p>
            <a:endParaRPr lang="fr-FR"/>
          </a:p>
        </p:txBody>
      </p:sp>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2429917"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COMPARAISON</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Deux options </a:t>
            </a:r>
            <a:r>
              <a:rPr lang="en-US" sz="6150" kern="0" spc="-184" dirty="0">
                <a:solidFill>
                  <a:srgbClr val="DC216E"/>
                </a:solidFill>
                <a:latin typeface="Euclid Circular A" pitchFamily="34" charset="0"/>
                <a:ea typeface="Euclid Circular A" pitchFamily="34" charset="-122"/>
                <a:cs typeface="Euclid Circular A" pitchFamily="34" charset="-120"/>
              </a:rPr>
              <a:t>face à face</a:t>
            </a:r>
            <a:endParaRPr lang="en-US" sz="6150" dirty="0"/>
          </a:p>
        </p:txBody>
      </p:sp>
      <p:sp>
        <p:nvSpPr>
          <p:cNvPr id="7" name="Shape 5"/>
          <p:cNvSpPr/>
          <p:nvPr/>
        </p:nvSpPr>
        <p:spPr>
          <a:xfrm>
            <a:off x="1066800" y="2400368"/>
            <a:ext cx="7905750" cy="6353175"/>
          </a:xfrm>
          <a:prstGeom prst="roundRect">
            <a:avLst>
              <a:gd name="adj" fmla="val 2699"/>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8" name="Shape 6"/>
          <p:cNvSpPr/>
          <p:nvPr/>
        </p:nvSpPr>
        <p:spPr>
          <a:xfrm>
            <a:off x="1076325" y="2396245"/>
            <a:ext cx="7886700" cy="1400175"/>
          </a:xfrm>
          <a:prstGeom prst="round2SameRect">
            <a:avLst>
              <a:gd name="adj1" fmla="val 11306"/>
              <a:gd name="adj2" fmla="val 0"/>
            </a:avLst>
          </a:prstGeom>
          <a:solidFill>
            <a:srgbClr val="DC216E"/>
          </a:solidFill>
          <a:ln/>
        </p:spPr>
        <p:txBody>
          <a:bodyPr/>
          <a:lstStyle/>
          <a:p>
            <a:endParaRPr lang="fr-FR"/>
          </a:p>
        </p:txBody>
      </p:sp>
      <p:sp>
        <p:nvSpPr>
          <p:cNvPr id="9" name="Text 7"/>
          <p:cNvSpPr/>
          <p:nvPr/>
        </p:nvSpPr>
        <p:spPr>
          <a:xfrm>
            <a:off x="1457325" y="2695643"/>
            <a:ext cx="783717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FFFFF">
                    <a:alpha val="82000"/>
                  </a:srgbClr>
                </a:solidFill>
                <a:latin typeface="Euclid Circular A" pitchFamily="34" charset="0"/>
                <a:ea typeface="Euclid Circular A" pitchFamily="34" charset="-122"/>
                <a:cs typeface="Euclid Circular A" pitchFamily="34" charset="-120"/>
              </a:rPr>
              <a:t>OPTION A</a:t>
            </a:r>
            <a:endParaRPr lang="en-US" sz="1800" dirty="0"/>
          </a:p>
        </p:txBody>
      </p:sp>
      <p:sp>
        <p:nvSpPr>
          <p:cNvPr id="10" name="Text 8"/>
          <p:cNvSpPr/>
          <p:nvPr/>
        </p:nvSpPr>
        <p:spPr>
          <a:xfrm>
            <a:off x="1457325" y="3038543"/>
            <a:ext cx="7837170" cy="523875"/>
          </a:xfrm>
          <a:prstGeom prst="rect">
            <a:avLst/>
          </a:prstGeom>
          <a:noFill/>
          <a:ln/>
        </p:spPr>
        <p:txBody>
          <a:bodyPr wrap="square" lIns="25400" tIns="25400" rIns="25400" bIns="25400" rtlCol="0" anchor="t">
            <a:normAutofit/>
          </a:bodyPr>
          <a:lstStyle/>
          <a:p>
            <a:pPr marL="0" indent="0" algn="l">
              <a:buNone/>
            </a:pPr>
            <a:r>
              <a:rPr lang="en-US" sz="3000" kern="0" spc="-45" dirty="0">
                <a:solidFill>
                  <a:srgbClr val="FFFFFF"/>
                </a:solidFill>
                <a:latin typeface="Euclid Circular A" pitchFamily="34" charset="0"/>
                <a:ea typeface="Euclid Circular A" pitchFamily="34" charset="-122"/>
                <a:cs typeface="Euclid Circular A" pitchFamily="34" charset="-120"/>
              </a:rPr>
              <a:t>Premier dispositif</a:t>
            </a:r>
            <a:endParaRPr lang="en-US" sz="3000" dirty="0"/>
          </a:p>
        </p:txBody>
      </p:sp>
      <p:sp>
        <p:nvSpPr>
          <p:cNvPr id="11" name="Shape 9"/>
          <p:cNvSpPr/>
          <p:nvPr/>
        </p:nvSpPr>
        <p:spPr>
          <a:xfrm>
            <a:off x="1076325" y="5135382"/>
            <a:ext cx="7886700" cy="9525"/>
          </a:xfrm>
          <a:prstGeom prst="rect">
            <a:avLst/>
          </a:prstGeom>
          <a:solidFill>
            <a:srgbClr val="0E3145">
              <a:alpha val="12000"/>
            </a:srgbClr>
          </a:solidFill>
          <a:ln/>
        </p:spPr>
        <p:txBody>
          <a:bodyPr/>
          <a:lstStyle/>
          <a:p>
            <a:endParaRPr lang="fr-FR"/>
          </a:p>
        </p:txBody>
      </p:sp>
      <p:sp>
        <p:nvSpPr>
          <p:cNvPr id="12" name="Text 10"/>
          <p:cNvSpPr/>
          <p:nvPr/>
        </p:nvSpPr>
        <p:spPr>
          <a:xfrm>
            <a:off x="1457325" y="4095818"/>
            <a:ext cx="783717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rgbClr val="DC216E"/>
                </a:solidFill>
                <a:latin typeface="Euclid Circular A" pitchFamily="34" charset="0"/>
                <a:ea typeface="Euclid Circular A" pitchFamily="34" charset="-122"/>
                <a:cs typeface="Euclid Circular A" pitchFamily="34" charset="-120"/>
              </a:rPr>
              <a:t>CRITÈRE 1</a:t>
            </a:r>
            <a:endParaRPr lang="en-US" sz="1800" dirty="0"/>
          </a:p>
        </p:txBody>
      </p:sp>
      <p:sp>
        <p:nvSpPr>
          <p:cNvPr id="13" name="Text 11"/>
          <p:cNvSpPr/>
          <p:nvPr/>
        </p:nvSpPr>
        <p:spPr>
          <a:xfrm>
            <a:off x="1457325" y="4476818"/>
            <a:ext cx="7837170" cy="410914"/>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Comment ce dispositif se comporte sur ce critère.</a:t>
            </a:r>
            <a:endParaRPr lang="en-US" sz="2025" dirty="0"/>
          </a:p>
        </p:txBody>
      </p:sp>
      <p:sp>
        <p:nvSpPr>
          <p:cNvPr id="14" name="Shape 12"/>
          <p:cNvSpPr/>
          <p:nvPr/>
        </p:nvSpPr>
        <p:spPr>
          <a:xfrm>
            <a:off x="1076325" y="6470221"/>
            <a:ext cx="7886700" cy="9525"/>
          </a:xfrm>
          <a:prstGeom prst="rect">
            <a:avLst/>
          </a:prstGeom>
          <a:solidFill>
            <a:srgbClr val="0E3145">
              <a:alpha val="12000"/>
            </a:srgbClr>
          </a:solidFill>
          <a:ln/>
        </p:spPr>
        <p:txBody>
          <a:bodyPr/>
          <a:lstStyle/>
          <a:p>
            <a:endParaRPr lang="fr-FR"/>
          </a:p>
        </p:txBody>
      </p:sp>
      <p:sp>
        <p:nvSpPr>
          <p:cNvPr id="15" name="Text 13"/>
          <p:cNvSpPr/>
          <p:nvPr/>
        </p:nvSpPr>
        <p:spPr>
          <a:xfrm>
            <a:off x="1457325" y="5430657"/>
            <a:ext cx="783717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rgbClr val="DC216E"/>
                </a:solidFill>
                <a:latin typeface="Euclid Circular A" pitchFamily="34" charset="0"/>
                <a:ea typeface="Euclid Circular A" pitchFamily="34" charset="-122"/>
                <a:cs typeface="Euclid Circular A" pitchFamily="34" charset="-120"/>
              </a:rPr>
              <a:t>CRITÈRE 2</a:t>
            </a:r>
            <a:endParaRPr lang="en-US" sz="1800" dirty="0"/>
          </a:p>
        </p:txBody>
      </p:sp>
      <p:sp>
        <p:nvSpPr>
          <p:cNvPr id="16" name="Text 14"/>
          <p:cNvSpPr/>
          <p:nvPr/>
        </p:nvSpPr>
        <p:spPr>
          <a:xfrm>
            <a:off x="1457325" y="5811657"/>
            <a:ext cx="7837170" cy="410914"/>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Comment ce dispositif se comporte sur ce critère.</a:t>
            </a:r>
            <a:endParaRPr lang="en-US" sz="2025" dirty="0"/>
          </a:p>
        </p:txBody>
      </p:sp>
      <p:sp>
        <p:nvSpPr>
          <p:cNvPr id="17" name="Text 15"/>
          <p:cNvSpPr/>
          <p:nvPr/>
        </p:nvSpPr>
        <p:spPr>
          <a:xfrm>
            <a:off x="1457325" y="6765496"/>
            <a:ext cx="783717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rgbClr val="DC216E"/>
                </a:solidFill>
                <a:latin typeface="Euclid Circular A" pitchFamily="34" charset="0"/>
                <a:ea typeface="Euclid Circular A" pitchFamily="34" charset="-122"/>
                <a:cs typeface="Euclid Circular A" pitchFamily="34" charset="-120"/>
              </a:rPr>
              <a:t>CRITÈRE 3</a:t>
            </a:r>
            <a:endParaRPr lang="en-US" sz="1800" dirty="0"/>
          </a:p>
        </p:txBody>
      </p:sp>
      <p:sp>
        <p:nvSpPr>
          <p:cNvPr id="18" name="Text 16"/>
          <p:cNvSpPr/>
          <p:nvPr/>
        </p:nvSpPr>
        <p:spPr>
          <a:xfrm>
            <a:off x="1457325" y="7146496"/>
            <a:ext cx="7837170" cy="410914"/>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Comment ce dispositif se comporte sur ce critère.</a:t>
            </a:r>
            <a:endParaRPr lang="en-US" sz="2025" dirty="0"/>
          </a:p>
        </p:txBody>
      </p:sp>
      <p:sp>
        <p:nvSpPr>
          <p:cNvPr id="21" name="Text 19"/>
          <p:cNvSpPr/>
          <p:nvPr/>
        </p:nvSpPr>
        <p:spPr>
          <a:xfrm>
            <a:off x="9705975" y="2695643"/>
            <a:ext cx="783717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FFFFFF">
                    <a:alpha val="70000"/>
                  </a:srgbClr>
                </a:solidFill>
                <a:latin typeface="Euclid Circular A" pitchFamily="34" charset="0"/>
                <a:ea typeface="Euclid Circular A" pitchFamily="34" charset="-122"/>
                <a:cs typeface="Euclid Circular A" pitchFamily="34" charset="-120"/>
              </a:rPr>
              <a:t>OPTION B</a:t>
            </a:r>
            <a:endParaRPr lang="en-US" sz="1800" dirty="0"/>
          </a:p>
        </p:txBody>
      </p:sp>
      <p:sp>
        <p:nvSpPr>
          <p:cNvPr id="22" name="Text 20"/>
          <p:cNvSpPr/>
          <p:nvPr/>
        </p:nvSpPr>
        <p:spPr>
          <a:xfrm>
            <a:off x="9705975" y="3038543"/>
            <a:ext cx="7837170" cy="523875"/>
          </a:xfrm>
          <a:prstGeom prst="rect">
            <a:avLst/>
          </a:prstGeom>
          <a:noFill/>
          <a:ln/>
        </p:spPr>
        <p:txBody>
          <a:bodyPr wrap="square" lIns="25400" tIns="25400" rIns="25400" bIns="25400" rtlCol="0" anchor="t">
            <a:normAutofit/>
          </a:bodyPr>
          <a:lstStyle/>
          <a:p>
            <a:pPr marL="0" indent="0" algn="l">
              <a:buNone/>
            </a:pPr>
            <a:r>
              <a:rPr lang="en-US" sz="3000" kern="0" spc="-45" dirty="0">
                <a:solidFill>
                  <a:srgbClr val="FFFFFF"/>
                </a:solidFill>
                <a:latin typeface="Euclid Circular A" pitchFamily="34" charset="0"/>
                <a:ea typeface="Euclid Circular A" pitchFamily="34" charset="-122"/>
                <a:cs typeface="Euclid Circular A" pitchFamily="34" charset="-120"/>
              </a:rPr>
              <a:t>Second dispositif</a:t>
            </a:r>
            <a:endParaRPr lang="en-US" sz="3000" dirty="0"/>
          </a:p>
        </p:txBody>
      </p:sp>
      <p:sp>
        <p:nvSpPr>
          <p:cNvPr id="23" name="Shape 21"/>
          <p:cNvSpPr/>
          <p:nvPr/>
        </p:nvSpPr>
        <p:spPr>
          <a:xfrm>
            <a:off x="9324975" y="5135382"/>
            <a:ext cx="7886700" cy="9525"/>
          </a:xfrm>
          <a:prstGeom prst="rect">
            <a:avLst/>
          </a:prstGeom>
          <a:solidFill>
            <a:srgbClr val="0E3145">
              <a:alpha val="12000"/>
            </a:srgbClr>
          </a:solidFill>
          <a:ln/>
        </p:spPr>
        <p:txBody>
          <a:bodyPr/>
          <a:lstStyle/>
          <a:p>
            <a:endParaRPr lang="fr-FR"/>
          </a:p>
        </p:txBody>
      </p:sp>
      <p:sp>
        <p:nvSpPr>
          <p:cNvPr id="24" name="Text 22"/>
          <p:cNvSpPr/>
          <p:nvPr/>
        </p:nvSpPr>
        <p:spPr>
          <a:xfrm>
            <a:off x="9705975" y="4095818"/>
            <a:ext cx="783717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rgbClr val="0E3145">
                    <a:alpha val="44000"/>
                  </a:srgbClr>
                </a:solidFill>
                <a:latin typeface="Euclid Circular A" pitchFamily="34" charset="0"/>
                <a:ea typeface="Euclid Circular A" pitchFamily="34" charset="-122"/>
                <a:cs typeface="Euclid Circular A" pitchFamily="34" charset="-120"/>
              </a:rPr>
              <a:t>CRITÈRE 1</a:t>
            </a:r>
            <a:endParaRPr lang="en-US" sz="1800" dirty="0"/>
          </a:p>
        </p:txBody>
      </p:sp>
      <p:sp>
        <p:nvSpPr>
          <p:cNvPr id="25" name="Text 23"/>
          <p:cNvSpPr/>
          <p:nvPr/>
        </p:nvSpPr>
        <p:spPr>
          <a:xfrm>
            <a:off x="9705975" y="4476818"/>
            <a:ext cx="7837170" cy="410914"/>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Comment ce dispositif se comporte sur ce critère.</a:t>
            </a:r>
            <a:endParaRPr lang="en-US" sz="2025" dirty="0"/>
          </a:p>
        </p:txBody>
      </p:sp>
      <p:sp>
        <p:nvSpPr>
          <p:cNvPr id="26" name="Shape 24"/>
          <p:cNvSpPr/>
          <p:nvPr/>
        </p:nvSpPr>
        <p:spPr>
          <a:xfrm>
            <a:off x="9324975" y="6470221"/>
            <a:ext cx="7886700" cy="9525"/>
          </a:xfrm>
          <a:prstGeom prst="rect">
            <a:avLst/>
          </a:prstGeom>
          <a:solidFill>
            <a:srgbClr val="0E3145">
              <a:alpha val="12000"/>
            </a:srgbClr>
          </a:solidFill>
          <a:ln/>
        </p:spPr>
        <p:txBody>
          <a:bodyPr/>
          <a:lstStyle/>
          <a:p>
            <a:endParaRPr lang="fr-FR"/>
          </a:p>
        </p:txBody>
      </p:sp>
      <p:sp>
        <p:nvSpPr>
          <p:cNvPr id="27" name="Text 25"/>
          <p:cNvSpPr/>
          <p:nvPr/>
        </p:nvSpPr>
        <p:spPr>
          <a:xfrm>
            <a:off x="9705975" y="5430657"/>
            <a:ext cx="783717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rgbClr val="0E3145">
                    <a:alpha val="44000"/>
                  </a:srgbClr>
                </a:solidFill>
                <a:latin typeface="Euclid Circular A" pitchFamily="34" charset="0"/>
                <a:ea typeface="Euclid Circular A" pitchFamily="34" charset="-122"/>
                <a:cs typeface="Euclid Circular A" pitchFamily="34" charset="-120"/>
              </a:rPr>
              <a:t>CRITÈRE 2</a:t>
            </a:r>
            <a:endParaRPr lang="en-US" sz="1800" dirty="0"/>
          </a:p>
        </p:txBody>
      </p:sp>
      <p:sp>
        <p:nvSpPr>
          <p:cNvPr id="28" name="Text 26"/>
          <p:cNvSpPr/>
          <p:nvPr/>
        </p:nvSpPr>
        <p:spPr>
          <a:xfrm>
            <a:off x="9705975" y="5811657"/>
            <a:ext cx="7837170" cy="410914"/>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Comment ce dispositif se comporte sur ce critère.</a:t>
            </a:r>
            <a:endParaRPr lang="en-US" sz="2025" dirty="0"/>
          </a:p>
        </p:txBody>
      </p:sp>
      <p:sp>
        <p:nvSpPr>
          <p:cNvPr id="29" name="Text 27"/>
          <p:cNvSpPr/>
          <p:nvPr/>
        </p:nvSpPr>
        <p:spPr>
          <a:xfrm>
            <a:off x="9705975" y="6765496"/>
            <a:ext cx="783717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rgbClr val="0E3145">
                    <a:alpha val="44000"/>
                  </a:srgbClr>
                </a:solidFill>
                <a:latin typeface="Euclid Circular A" pitchFamily="34" charset="0"/>
                <a:ea typeface="Euclid Circular A" pitchFamily="34" charset="-122"/>
                <a:cs typeface="Euclid Circular A" pitchFamily="34" charset="-120"/>
              </a:rPr>
              <a:t>CRITÈRE 3</a:t>
            </a:r>
            <a:endParaRPr lang="en-US" sz="1800" dirty="0"/>
          </a:p>
        </p:txBody>
      </p:sp>
      <p:sp>
        <p:nvSpPr>
          <p:cNvPr id="30" name="Text 28"/>
          <p:cNvSpPr/>
          <p:nvPr/>
        </p:nvSpPr>
        <p:spPr>
          <a:xfrm>
            <a:off x="9705975" y="7146496"/>
            <a:ext cx="7837170" cy="410914"/>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Comment ce dispositif se comporte sur ce critère.</a:t>
            </a:r>
            <a:endParaRPr lang="en-US" sz="2025" dirty="0"/>
          </a:p>
        </p:txBody>
      </p:sp>
      <p:sp>
        <p:nvSpPr>
          <p:cNvPr id="5" name="Shape 3"/>
          <p:cNvSpPr/>
          <p:nvPr/>
        </p:nvSpPr>
        <p:spPr>
          <a:xfrm>
            <a:off x="8743950" y="5176905"/>
            <a:ext cx="800100" cy="800100"/>
          </a:xfrm>
          <a:prstGeom prst="ellipse">
            <a:avLst/>
          </a:prstGeom>
          <a:solidFill>
            <a:schemeClr val="bg1"/>
          </a:solidFill>
          <a:ln w="19050">
            <a:solidFill>
              <a:srgbClr val="DC216E"/>
            </a:solidFill>
            <a:prstDash val="solid"/>
          </a:ln>
        </p:spPr>
        <p:txBody>
          <a:bodyPr/>
          <a:lstStyle/>
          <a:p>
            <a:endParaRPr lang="fr-FR"/>
          </a:p>
        </p:txBody>
      </p:sp>
      <p:sp>
        <p:nvSpPr>
          <p:cNvPr id="6" name="Text 4"/>
          <p:cNvSpPr/>
          <p:nvPr/>
        </p:nvSpPr>
        <p:spPr>
          <a:xfrm>
            <a:off x="8724900" y="5195955"/>
            <a:ext cx="838200" cy="800100"/>
          </a:xfrm>
          <a:prstGeom prst="rect">
            <a:avLst/>
          </a:prstGeom>
          <a:noFill/>
          <a:ln/>
        </p:spPr>
        <p:txBody>
          <a:bodyPr wrap="square" lIns="25400" tIns="25400" rIns="25400" bIns="25400" rtlCol="0" anchor="ctr">
            <a:normAutofit/>
          </a:bodyPr>
          <a:lstStyle/>
          <a:p>
            <a:pPr marL="0" indent="0" algn="ctr">
              <a:buNone/>
            </a:pPr>
            <a:r>
              <a:rPr lang="en-US" sz="1950" b="1" kern="0" spc="78" dirty="0">
                <a:solidFill>
                  <a:srgbClr val="DC216E"/>
                </a:solidFill>
                <a:latin typeface="Euclid Circular A" pitchFamily="34" charset="0"/>
                <a:ea typeface="Euclid Circular A" pitchFamily="34" charset="-122"/>
                <a:cs typeface="Euclid Circular A" pitchFamily="34" charset="-120"/>
              </a:rPr>
              <a:t>VS</a:t>
            </a:r>
            <a:endParaRPr lang="en-US" sz="1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7506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RUBRIQUE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Comparatif </a:t>
            </a:r>
            <a:r>
              <a:rPr lang="en-US" sz="6150" kern="0" spc="-184" dirty="0">
                <a:solidFill>
                  <a:srgbClr val="DC216E"/>
                </a:solidFill>
                <a:latin typeface="Euclid Circular A" pitchFamily="34" charset="0"/>
                <a:ea typeface="Euclid Circular A" pitchFamily="34" charset="-122"/>
                <a:cs typeface="Euclid Circular A" pitchFamily="34" charset="-120"/>
              </a:rPr>
              <a:t>détaillé</a:t>
            </a:r>
            <a:endParaRPr lang="en-US" sz="6150" dirty="0"/>
          </a:p>
        </p:txBody>
      </p:sp>
      <p:sp>
        <p:nvSpPr>
          <p:cNvPr id="5" name="Shape 3"/>
          <p:cNvSpPr/>
          <p:nvPr/>
        </p:nvSpPr>
        <p:spPr>
          <a:xfrm>
            <a:off x="1066800" y="3614806"/>
            <a:ext cx="16154400" cy="3810000"/>
          </a:xfrm>
          <a:prstGeom prst="roundRect">
            <a:avLst>
              <a:gd name="adj" fmla="val 4500"/>
            </a:avLst>
          </a:prstGeom>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6" name="Shape 4"/>
          <p:cNvSpPr/>
          <p:nvPr/>
        </p:nvSpPr>
        <p:spPr>
          <a:xfrm>
            <a:off x="1076325" y="3624331"/>
            <a:ext cx="16135350" cy="819150"/>
          </a:xfrm>
          <a:prstGeom prst="rect">
            <a:avLst/>
          </a:prstGeom>
          <a:solidFill>
            <a:srgbClr val="DC216E"/>
          </a:solidFill>
          <a:ln/>
        </p:spPr>
        <p:txBody>
          <a:bodyPr/>
          <a:lstStyle/>
          <a:p>
            <a:endParaRPr lang="fr-FR"/>
          </a:p>
        </p:txBody>
      </p:sp>
      <p:sp>
        <p:nvSpPr>
          <p:cNvPr id="7" name="Text 5"/>
          <p:cNvSpPr/>
          <p:nvPr/>
        </p:nvSpPr>
        <p:spPr>
          <a:xfrm>
            <a:off x="1381125" y="3871981"/>
            <a:ext cx="4678394" cy="361950"/>
          </a:xfrm>
          <a:prstGeom prst="rect">
            <a:avLst/>
          </a:prstGeom>
          <a:noFill/>
          <a:ln/>
        </p:spPr>
        <p:txBody>
          <a:bodyPr wrap="square" lIns="25400" tIns="25400" rIns="25400" bIns="25400" rtlCol="0" anchor="t">
            <a:normAutofit/>
          </a:bodyPr>
          <a:lstStyle/>
          <a:p>
            <a:pPr marL="0" indent="0" algn="l">
              <a:buNone/>
            </a:pPr>
            <a:r>
              <a:rPr lang="en-US" sz="2025" b="1" dirty="0">
                <a:solidFill>
                  <a:srgbClr val="FFFFFF"/>
                </a:solidFill>
                <a:latin typeface="Euclid Circular A" pitchFamily="34" charset="0"/>
                <a:ea typeface="Euclid Circular A" pitchFamily="34" charset="-122"/>
                <a:cs typeface="Euclid Circular A" pitchFamily="34" charset="-120"/>
              </a:rPr>
              <a:t>Critère</a:t>
            </a:r>
            <a:endParaRPr lang="en-US" sz="2025" dirty="0"/>
          </a:p>
        </p:txBody>
      </p:sp>
      <p:sp>
        <p:nvSpPr>
          <p:cNvPr id="8" name="Text 6"/>
          <p:cNvSpPr/>
          <p:nvPr/>
        </p:nvSpPr>
        <p:spPr>
          <a:xfrm>
            <a:off x="6460093" y="3871981"/>
            <a:ext cx="3167539" cy="361950"/>
          </a:xfrm>
          <a:prstGeom prst="rect">
            <a:avLst/>
          </a:prstGeom>
          <a:noFill/>
          <a:ln/>
        </p:spPr>
        <p:txBody>
          <a:bodyPr wrap="square" lIns="25400" tIns="25400" rIns="25400" bIns="25400" rtlCol="0" anchor="t">
            <a:normAutofit/>
          </a:bodyPr>
          <a:lstStyle/>
          <a:p>
            <a:pPr marL="0" indent="0" algn="ctr">
              <a:buNone/>
            </a:pPr>
            <a:r>
              <a:rPr lang="en-US" sz="2025" b="1" dirty="0">
                <a:solidFill>
                  <a:srgbClr val="FFFFFF"/>
                </a:solidFill>
                <a:latin typeface="Euclid Circular A" pitchFamily="34" charset="0"/>
                <a:ea typeface="Euclid Circular A" pitchFamily="34" charset="-122"/>
                <a:cs typeface="Euclid Circular A" pitchFamily="34" charset="-120"/>
              </a:rPr>
              <a:t>Option A</a:t>
            </a:r>
            <a:endParaRPr lang="en-US" sz="2025" dirty="0"/>
          </a:p>
        </p:txBody>
      </p:sp>
      <p:sp>
        <p:nvSpPr>
          <p:cNvPr id="9" name="Text 7"/>
          <p:cNvSpPr/>
          <p:nvPr/>
        </p:nvSpPr>
        <p:spPr>
          <a:xfrm>
            <a:off x="10127218" y="3871981"/>
            <a:ext cx="3167539" cy="361950"/>
          </a:xfrm>
          <a:prstGeom prst="rect">
            <a:avLst/>
          </a:prstGeom>
          <a:noFill/>
          <a:ln/>
        </p:spPr>
        <p:txBody>
          <a:bodyPr wrap="square" lIns="25400" tIns="25400" rIns="25400" bIns="25400" rtlCol="0" anchor="t">
            <a:normAutofit/>
          </a:bodyPr>
          <a:lstStyle/>
          <a:p>
            <a:pPr marL="0" indent="0" algn="ctr">
              <a:buNone/>
            </a:pPr>
            <a:r>
              <a:rPr lang="en-US" sz="2025" b="1" dirty="0">
                <a:solidFill>
                  <a:srgbClr val="FFFFFF"/>
                </a:solidFill>
                <a:latin typeface="Euclid Circular A" pitchFamily="34" charset="0"/>
                <a:ea typeface="Euclid Circular A" pitchFamily="34" charset="-122"/>
                <a:cs typeface="Euclid Circular A" pitchFamily="34" charset="-120"/>
              </a:rPr>
              <a:t>Option B</a:t>
            </a:r>
            <a:endParaRPr lang="en-US" sz="2025" dirty="0"/>
          </a:p>
        </p:txBody>
      </p:sp>
      <p:sp>
        <p:nvSpPr>
          <p:cNvPr id="10" name="Text 8"/>
          <p:cNvSpPr/>
          <p:nvPr/>
        </p:nvSpPr>
        <p:spPr>
          <a:xfrm>
            <a:off x="13794343" y="3871981"/>
            <a:ext cx="3167539" cy="361950"/>
          </a:xfrm>
          <a:prstGeom prst="rect">
            <a:avLst/>
          </a:prstGeom>
          <a:noFill/>
          <a:ln/>
        </p:spPr>
        <p:txBody>
          <a:bodyPr wrap="square" lIns="25400" tIns="25400" rIns="25400" bIns="25400" rtlCol="0" anchor="t">
            <a:normAutofit/>
          </a:bodyPr>
          <a:lstStyle/>
          <a:p>
            <a:pPr marL="0" indent="0" algn="ctr">
              <a:buNone/>
            </a:pPr>
            <a:r>
              <a:rPr lang="en-US" sz="2025" b="1" dirty="0">
                <a:solidFill>
                  <a:srgbClr val="FFFFFF"/>
                </a:solidFill>
                <a:latin typeface="Euclid Circular A" pitchFamily="34" charset="0"/>
                <a:ea typeface="Euclid Circular A" pitchFamily="34" charset="-122"/>
                <a:cs typeface="Euclid Circular A" pitchFamily="34" charset="-120"/>
              </a:rPr>
              <a:t>Option C</a:t>
            </a:r>
            <a:endParaRPr lang="en-US" sz="2025" dirty="0"/>
          </a:p>
        </p:txBody>
      </p:sp>
      <p:sp>
        <p:nvSpPr>
          <p:cNvPr id="11" name="Shape 9"/>
          <p:cNvSpPr/>
          <p:nvPr/>
        </p:nvSpPr>
        <p:spPr>
          <a:xfrm>
            <a:off x="1076325" y="4443481"/>
            <a:ext cx="16135350" cy="742950"/>
          </a:xfrm>
          <a:prstGeom prst="rect">
            <a:avLst/>
          </a:prstGeom>
          <a:solidFill>
            <a:srgbClr val="FFFFFF"/>
          </a:solidFill>
          <a:ln/>
        </p:spPr>
        <p:txBody>
          <a:bodyPr/>
          <a:lstStyle/>
          <a:p>
            <a:endParaRPr lang="fr-FR"/>
          </a:p>
        </p:txBody>
      </p:sp>
      <p:sp>
        <p:nvSpPr>
          <p:cNvPr id="12" name="Text 10"/>
          <p:cNvSpPr/>
          <p:nvPr/>
        </p:nvSpPr>
        <p:spPr>
          <a:xfrm>
            <a:off x="1381125" y="4672081"/>
            <a:ext cx="4678394"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Intitulé du critère</a:t>
            </a:r>
            <a:endParaRPr lang="en-US" sz="1800" dirty="0"/>
          </a:p>
        </p:txBody>
      </p:sp>
      <p:sp>
        <p:nvSpPr>
          <p:cNvPr id="13" name="Text 11"/>
          <p:cNvSpPr/>
          <p:nvPr/>
        </p:nvSpPr>
        <p:spPr>
          <a:xfrm>
            <a:off x="6460093" y="467208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14" name="Text 12"/>
          <p:cNvSpPr/>
          <p:nvPr/>
        </p:nvSpPr>
        <p:spPr>
          <a:xfrm>
            <a:off x="10127218" y="467208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15" name="Text 13"/>
          <p:cNvSpPr/>
          <p:nvPr/>
        </p:nvSpPr>
        <p:spPr>
          <a:xfrm>
            <a:off x="13794343" y="467208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16" name="Shape 14"/>
          <p:cNvSpPr/>
          <p:nvPr/>
        </p:nvSpPr>
        <p:spPr>
          <a:xfrm>
            <a:off x="1076325" y="5186431"/>
            <a:ext cx="16135350" cy="742950"/>
          </a:xfrm>
          <a:prstGeom prst="rect">
            <a:avLst/>
          </a:prstGeom>
          <a:solidFill>
            <a:schemeClr val="accent6"/>
          </a:solidFill>
          <a:ln/>
        </p:spPr>
        <p:txBody>
          <a:bodyPr/>
          <a:lstStyle/>
          <a:p>
            <a:endParaRPr lang="fr-FR"/>
          </a:p>
        </p:txBody>
      </p:sp>
      <p:sp>
        <p:nvSpPr>
          <p:cNvPr id="17" name="Text 15"/>
          <p:cNvSpPr/>
          <p:nvPr/>
        </p:nvSpPr>
        <p:spPr>
          <a:xfrm>
            <a:off x="1381125" y="5415031"/>
            <a:ext cx="4678394"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Intitulé du critère</a:t>
            </a:r>
            <a:endParaRPr lang="en-US" sz="1800" dirty="0"/>
          </a:p>
        </p:txBody>
      </p:sp>
      <p:sp>
        <p:nvSpPr>
          <p:cNvPr id="18" name="Text 16"/>
          <p:cNvSpPr/>
          <p:nvPr/>
        </p:nvSpPr>
        <p:spPr>
          <a:xfrm>
            <a:off x="6460093" y="541503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19" name="Text 17"/>
          <p:cNvSpPr/>
          <p:nvPr/>
        </p:nvSpPr>
        <p:spPr>
          <a:xfrm>
            <a:off x="10127218" y="541503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20" name="Text 18"/>
          <p:cNvSpPr/>
          <p:nvPr/>
        </p:nvSpPr>
        <p:spPr>
          <a:xfrm>
            <a:off x="13794343" y="541503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21" name="Shape 19"/>
          <p:cNvSpPr/>
          <p:nvPr/>
        </p:nvSpPr>
        <p:spPr>
          <a:xfrm>
            <a:off x="1076325" y="5929381"/>
            <a:ext cx="16135350" cy="742950"/>
          </a:xfrm>
          <a:prstGeom prst="rect">
            <a:avLst/>
          </a:prstGeom>
          <a:solidFill>
            <a:srgbClr val="FFFFFF"/>
          </a:solidFill>
          <a:ln/>
        </p:spPr>
        <p:txBody>
          <a:bodyPr/>
          <a:lstStyle/>
          <a:p>
            <a:endParaRPr lang="fr-FR"/>
          </a:p>
        </p:txBody>
      </p:sp>
      <p:sp>
        <p:nvSpPr>
          <p:cNvPr id="22" name="Text 20"/>
          <p:cNvSpPr/>
          <p:nvPr/>
        </p:nvSpPr>
        <p:spPr>
          <a:xfrm>
            <a:off x="1381125" y="6157981"/>
            <a:ext cx="4678394"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Intitulé du critère</a:t>
            </a:r>
            <a:endParaRPr lang="en-US" sz="1800" dirty="0"/>
          </a:p>
        </p:txBody>
      </p:sp>
      <p:sp>
        <p:nvSpPr>
          <p:cNvPr id="23" name="Text 21"/>
          <p:cNvSpPr/>
          <p:nvPr/>
        </p:nvSpPr>
        <p:spPr>
          <a:xfrm>
            <a:off x="6460093" y="615798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24" name="Text 22"/>
          <p:cNvSpPr/>
          <p:nvPr/>
        </p:nvSpPr>
        <p:spPr>
          <a:xfrm>
            <a:off x="10127218" y="615798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25" name="Text 23"/>
          <p:cNvSpPr/>
          <p:nvPr/>
        </p:nvSpPr>
        <p:spPr>
          <a:xfrm>
            <a:off x="13794343" y="615798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26" name="Shape 24"/>
          <p:cNvSpPr/>
          <p:nvPr/>
        </p:nvSpPr>
        <p:spPr>
          <a:xfrm>
            <a:off x="1076325" y="6672331"/>
            <a:ext cx="16135350" cy="742950"/>
          </a:xfrm>
          <a:prstGeom prst="rect">
            <a:avLst/>
          </a:prstGeom>
          <a:solidFill>
            <a:schemeClr val="accent6"/>
          </a:solidFill>
          <a:ln/>
        </p:spPr>
        <p:txBody>
          <a:bodyPr/>
          <a:lstStyle/>
          <a:p>
            <a:endParaRPr lang="fr-FR"/>
          </a:p>
        </p:txBody>
      </p:sp>
      <p:sp>
        <p:nvSpPr>
          <p:cNvPr id="27" name="Text 25"/>
          <p:cNvSpPr/>
          <p:nvPr/>
        </p:nvSpPr>
        <p:spPr>
          <a:xfrm>
            <a:off x="1381125" y="6900931"/>
            <a:ext cx="4678394"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Intitulé du critère</a:t>
            </a:r>
            <a:endParaRPr lang="en-US" sz="1800" dirty="0"/>
          </a:p>
        </p:txBody>
      </p:sp>
      <p:sp>
        <p:nvSpPr>
          <p:cNvPr id="28" name="Text 26"/>
          <p:cNvSpPr/>
          <p:nvPr/>
        </p:nvSpPr>
        <p:spPr>
          <a:xfrm>
            <a:off x="6460093" y="690093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29" name="Text 27"/>
          <p:cNvSpPr/>
          <p:nvPr/>
        </p:nvSpPr>
        <p:spPr>
          <a:xfrm>
            <a:off x="10127218" y="690093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
        <p:nvSpPr>
          <p:cNvPr id="30" name="Text 28"/>
          <p:cNvSpPr/>
          <p:nvPr/>
        </p:nvSpPr>
        <p:spPr>
          <a:xfrm>
            <a:off x="13794343" y="6900931"/>
            <a:ext cx="3167539" cy="323850"/>
          </a:xfrm>
          <a:prstGeom prst="rect">
            <a:avLst/>
          </a:prstGeom>
          <a:noFill/>
          <a:ln/>
        </p:spPr>
        <p:txBody>
          <a:bodyPr wrap="square" lIns="25400" tIns="25400" rIns="25400" bIns="25400" rtlCol="0" anchor="t">
            <a:normAutofit lnSpcReduction="10000"/>
          </a:bodyPr>
          <a:lstStyle/>
          <a:p>
            <a:pPr marL="0" indent="0" algn="ct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Valeur</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BF8F3"/>
        </a:solidFill>
        <a:effectLst/>
      </p:bgPr>
    </p:bg>
    <p:spTree>
      <p:nvGrpSpPr>
        <p:cNvPr id="1" name=""/>
        <p:cNvGrpSpPr/>
        <p:nvPr/>
      </p:nvGrpSpPr>
      <p:grpSpPr>
        <a:xfrm>
          <a:off x="0" y="0"/>
          <a:ext cx="0" cy="0"/>
          <a:chOff x="0" y="0"/>
          <a:chExt cx="0" cy="0"/>
        </a:xfrm>
      </p:grpSpPr>
      <p:sp>
        <p:nvSpPr>
          <p:cNvPr id="4" name="Text 1"/>
          <p:cNvSpPr/>
          <p:nvPr/>
        </p:nvSpPr>
        <p:spPr>
          <a:xfrm>
            <a:off x="1066800" y="3044279"/>
            <a:ext cx="14458950" cy="952500"/>
          </a:xfrm>
          <a:prstGeom prst="rect">
            <a:avLst/>
          </a:prstGeom>
          <a:noFill/>
          <a:ln/>
        </p:spPr>
        <p:txBody>
          <a:bodyPr wrap="square" lIns="25400" tIns="25400" rIns="25400" bIns="25400" rtlCol="0" anchor="t">
            <a:normAutofit fontScale="70000" lnSpcReduction="20000"/>
          </a:bodyPr>
          <a:lstStyle/>
          <a:p>
            <a:pPr marL="0" indent="0" algn="l">
              <a:lnSpc>
                <a:spcPct val="60000"/>
              </a:lnSpc>
              <a:buNone/>
            </a:pPr>
            <a:r>
              <a:rPr lang="en-US" sz="15000" b="1" dirty="0">
                <a:solidFill>
                  <a:srgbClr val="DC216E"/>
                </a:solidFill>
                <a:latin typeface="Euclid Circular A" pitchFamily="34" charset="0"/>
                <a:ea typeface="Euclid Circular A" pitchFamily="34" charset="-122"/>
                <a:cs typeface="Euclid Circular A" pitchFamily="34" charset="-120"/>
              </a:rPr>
              <a:t>“</a:t>
            </a:r>
            <a:endParaRPr lang="en-US" sz="15000" dirty="0"/>
          </a:p>
        </p:txBody>
      </p:sp>
      <p:sp>
        <p:nvSpPr>
          <p:cNvPr id="5" name="Text 2"/>
          <p:cNvSpPr/>
          <p:nvPr/>
        </p:nvSpPr>
        <p:spPr>
          <a:xfrm>
            <a:off x="1066800" y="3958679"/>
            <a:ext cx="13538835" cy="2369641"/>
          </a:xfrm>
          <a:prstGeom prst="rect">
            <a:avLst/>
          </a:prstGeom>
          <a:noFill/>
          <a:ln/>
        </p:spPr>
        <p:txBody>
          <a:bodyPr wrap="square" lIns="25400" tIns="25400" rIns="25400" bIns="25400" rtlCol="0" anchor="t">
            <a:normAutofit fontScale="92500" lnSpcReduction="20000"/>
          </a:bodyPr>
          <a:lstStyle/>
          <a:p>
            <a:pPr marL="0" indent="0" algn="l">
              <a:lnSpc>
                <a:spcPct val="120000"/>
              </a:lnSpc>
              <a:buNone/>
            </a:pPr>
            <a:r>
              <a:rPr lang="en-US" sz="5100" kern="0" spc="-102" dirty="0">
                <a:solidFill>
                  <a:srgbClr val="0E3145"/>
                </a:solidFill>
                <a:latin typeface="Euclid Circular A" pitchFamily="34" charset="0"/>
                <a:ea typeface="Euclid Circular A" pitchFamily="34" charset="-122"/>
                <a:cs typeface="Euclid Circular A" pitchFamily="34" charset="-120"/>
              </a:rPr>
              <a:t>Insérez ici une citation ou un exemple marquant. Une phrase forte, qui </a:t>
            </a:r>
            <a:r>
              <a:rPr lang="en-US" sz="5100" kern="0" spc="-102" dirty="0">
                <a:solidFill>
                  <a:srgbClr val="DC216E"/>
                </a:solidFill>
                <a:latin typeface="Euclid Circular A" pitchFamily="34" charset="0"/>
                <a:ea typeface="Euclid Circular A" pitchFamily="34" charset="-122"/>
                <a:cs typeface="Euclid Circular A" pitchFamily="34" charset="-120"/>
              </a:rPr>
              <a:t>résonne </a:t>
            </a:r>
            <a:r>
              <a:rPr lang="en-US" sz="5100" kern="0" spc="-102" dirty="0">
                <a:solidFill>
                  <a:srgbClr val="0E3145"/>
                </a:solidFill>
                <a:latin typeface="Euclid Circular A" pitchFamily="34" charset="0"/>
                <a:ea typeface="Euclid Circular A" pitchFamily="34" charset="-122"/>
                <a:cs typeface="Euclid Circular A" pitchFamily="34" charset="-120"/>
              </a:rPr>
              <a:t>et reste en mémoire.</a:t>
            </a:r>
            <a:endParaRPr lang="en-US" sz="5100" dirty="0"/>
          </a:p>
        </p:txBody>
      </p:sp>
      <p:sp>
        <p:nvSpPr>
          <p:cNvPr id="6" name="Shape 3"/>
          <p:cNvSpPr/>
          <p:nvPr/>
        </p:nvSpPr>
        <p:spPr>
          <a:xfrm>
            <a:off x="1066800" y="7042696"/>
            <a:ext cx="514350" cy="19050"/>
          </a:xfrm>
          <a:prstGeom prst="rect">
            <a:avLst/>
          </a:prstGeom>
          <a:solidFill>
            <a:srgbClr val="DC216E"/>
          </a:solidFill>
          <a:ln/>
        </p:spPr>
        <p:txBody>
          <a:bodyPr/>
          <a:lstStyle/>
          <a:p>
            <a:endParaRPr lang="fr-FR"/>
          </a:p>
        </p:txBody>
      </p:sp>
      <p:sp>
        <p:nvSpPr>
          <p:cNvPr id="7" name="Text 4"/>
          <p:cNvSpPr/>
          <p:nvPr/>
        </p:nvSpPr>
        <p:spPr>
          <a:xfrm>
            <a:off x="1771650" y="6747421"/>
            <a:ext cx="2260029" cy="361950"/>
          </a:xfrm>
          <a:prstGeom prst="rect">
            <a:avLst/>
          </a:prstGeom>
          <a:noFill/>
          <a:ln/>
        </p:spPr>
        <p:txBody>
          <a:bodyPr wrap="square" lIns="25400" tIns="25400" rIns="25400" bIns="25400" rtlCol="0" anchor="t">
            <a:normAutofit/>
          </a:bodyPr>
          <a:lstStyle/>
          <a:p>
            <a:pPr marL="0" indent="0" algn="l">
              <a:buNone/>
            </a:pPr>
            <a:r>
              <a:rPr lang="en-US" sz="2025" dirty="0">
                <a:solidFill>
                  <a:srgbClr val="0E3145"/>
                </a:solidFill>
                <a:latin typeface="Euclid Circular A" pitchFamily="34" charset="0"/>
                <a:ea typeface="Euclid Circular A" pitchFamily="34" charset="-122"/>
                <a:cs typeface="Euclid Circular A" pitchFamily="34" charset="-120"/>
              </a:rPr>
              <a:t>Prénom Nom</a:t>
            </a:r>
            <a:endParaRPr lang="en-US" sz="2025" dirty="0"/>
          </a:p>
        </p:txBody>
      </p:sp>
      <p:sp>
        <p:nvSpPr>
          <p:cNvPr id="8" name="Text 5"/>
          <p:cNvSpPr/>
          <p:nvPr/>
        </p:nvSpPr>
        <p:spPr>
          <a:xfrm>
            <a:off x="1771650" y="7071271"/>
            <a:ext cx="2260029"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Fonction · contexte</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2">
    <p:bg>
      <p:bgPr>
        <a:solidFill>
          <a:srgbClr val="FBF8F3"/>
        </a:solidFill>
        <a:effectLst/>
      </p:bgPr>
    </p:bg>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024979"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OUTIL</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Présenter un </a:t>
            </a:r>
            <a:r>
              <a:rPr lang="en-US" sz="6150" kern="0" spc="-184" dirty="0">
                <a:solidFill>
                  <a:srgbClr val="DC216E"/>
                </a:solidFill>
                <a:latin typeface="Euclid Circular A" pitchFamily="34" charset="0"/>
                <a:ea typeface="Euclid Circular A" pitchFamily="34" charset="-122"/>
                <a:cs typeface="Euclid Circular A" pitchFamily="34" charset="-120"/>
              </a:rPr>
              <a:t>outil</a:t>
            </a:r>
            <a:endParaRPr lang="en-US" sz="6150" dirty="0"/>
          </a:p>
        </p:txBody>
      </p:sp>
      <p:sp>
        <p:nvSpPr>
          <p:cNvPr id="5" name="Shape 3"/>
          <p:cNvSpPr/>
          <p:nvPr/>
        </p:nvSpPr>
        <p:spPr>
          <a:xfrm>
            <a:off x="1066800" y="4086293"/>
            <a:ext cx="457200" cy="457200"/>
          </a:xfrm>
          <a:prstGeom prst="ellipse">
            <a:avLst/>
          </a:prstGeom>
          <a:solidFill>
            <a:srgbClr val="DC216E"/>
          </a:solidFill>
          <a:ln/>
        </p:spPr>
        <p:txBody>
          <a:bodyPr/>
          <a:lstStyle/>
          <a:p>
            <a:endParaRPr lang="fr-FR"/>
          </a:p>
        </p:txBody>
      </p:sp>
      <p:sp>
        <p:nvSpPr>
          <p:cNvPr id="6" name="Text 4"/>
          <p:cNvSpPr/>
          <p:nvPr/>
        </p:nvSpPr>
        <p:spPr>
          <a:xfrm>
            <a:off x="1028700" y="4086293"/>
            <a:ext cx="533400" cy="495300"/>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Euclid Circular A" pitchFamily="34" charset="0"/>
                <a:ea typeface="Euclid Circular A" pitchFamily="34" charset="-122"/>
                <a:cs typeface="Euclid Circular A" pitchFamily="34" charset="-120"/>
              </a:rPr>
              <a:t>1</a:t>
            </a:r>
            <a:endParaRPr lang="en-US" sz="1800" dirty="0"/>
          </a:p>
        </p:txBody>
      </p:sp>
      <p:sp>
        <p:nvSpPr>
          <p:cNvPr id="7" name="Text 5"/>
          <p:cNvSpPr/>
          <p:nvPr/>
        </p:nvSpPr>
        <p:spPr>
          <a:xfrm>
            <a:off x="1733550" y="4086293"/>
            <a:ext cx="3876675"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Point d'annotation</a:t>
            </a:r>
            <a:endParaRPr lang="en-US" sz="2100" dirty="0"/>
          </a:p>
        </p:txBody>
      </p:sp>
      <p:sp>
        <p:nvSpPr>
          <p:cNvPr id="8" name="Text 6"/>
          <p:cNvSpPr/>
          <p:nvPr/>
        </p:nvSpPr>
        <p:spPr>
          <a:xfrm>
            <a:off x="1733550" y="4486343"/>
            <a:ext cx="3629978"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Décrivez l'élément à observer sur la capture.</a:t>
            </a:r>
            <a:endParaRPr lang="en-US" sz="1800" dirty="0"/>
          </a:p>
        </p:txBody>
      </p:sp>
      <p:sp>
        <p:nvSpPr>
          <p:cNvPr id="9" name="Shape 7"/>
          <p:cNvSpPr/>
          <p:nvPr/>
        </p:nvSpPr>
        <p:spPr>
          <a:xfrm>
            <a:off x="1066800" y="5457893"/>
            <a:ext cx="457200" cy="457200"/>
          </a:xfrm>
          <a:prstGeom prst="ellipse">
            <a:avLst/>
          </a:prstGeom>
          <a:solidFill>
            <a:srgbClr val="DC216E"/>
          </a:solidFill>
          <a:ln/>
        </p:spPr>
        <p:txBody>
          <a:bodyPr/>
          <a:lstStyle/>
          <a:p>
            <a:endParaRPr lang="fr-FR"/>
          </a:p>
        </p:txBody>
      </p:sp>
      <p:sp>
        <p:nvSpPr>
          <p:cNvPr id="10" name="Text 8"/>
          <p:cNvSpPr/>
          <p:nvPr/>
        </p:nvSpPr>
        <p:spPr>
          <a:xfrm>
            <a:off x="1028700" y="5457893"/>
            <a:ext cx="533400" cy="495300"/>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Euclid Circular A" pitchFamily="34" charset="0"/>
                <a:ea typeface="Euclid Circular A" pitchFamily="34" charset="-122"/>
                <a:cs typeface="Euclid Circular A" pitchFamily="34" charset="-120"/>
              </a:rPr>
              <a:t>2</a:t>
            </a:r>
            <a:endParaRPr lang="en-US" sz="1800" dirty="0"/>
          </a:p>
        </p:txBody>
      </p:sp>
      <p:sp>
        <p:nvSpPr>
          <p:cNvPr id="11" name="Text 9"/>
          <p:cNvSpPr/>
          <p:nvPr/>
        </p:nvSpPr>
        <p:spPr>
          <a:xfrm>
            <a:off x="1733550" y="5457893"/>
            <a:ext cx="3876675"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Point d'annotation</a:t>
            </a:r>
            <a:endParaRPr lang="en-US" sz="2100" dirty="0"/>
          </a:p>
        </p:txBody>
      </p:sp>
      <p:sp>
        <p:nvSpPr>
          <p:cNvPr id="12" name="Text 10"/>
          <p:cNvSpPr/>
          <p:nvPr/>
        </p:nvSpPr>
        <p:spPr>
          <a:xfrm>
            <a:off x="1733550" y="5857943"/>
            <a:ext cx="3629978"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Décrivez l'élément à observer sur la capture.</a:t>
            </a:r>
            <a:endParaRPr lang="en-US" sz="1800" dirty="0"/>
          </a:p>
        </p:txBody>
      </p:sp>
      <p:sp>
        <p:nvSpPr>
          <p:cNvPr id="13" name="Shape 11"/>
          <p:cNvSpPr/>
          <p:nvPr/>
        </p:nvSpPr>
        <p:spPr>
          <a:xfrm>
            <a:off x="1066800" y="6829493"/>
            <a:ext cx="457200" cy="457200"/>
          </a:xfrm>
          <a:prstGeom prst="ellipse">
            <a:avLst/>
          </a:prstGeom>
          <a:solidFill>
            <a:srgbClr val="DC216E"/>
          </a:solidFill>
          <a:ln/>
        </p:spPr>
        <p:txBody>
          <a:bodyPr/>
          <a:lstStyle/>
          <a:p>
            <a:endParaRPr lang="fr-FR"/>
          </a:p>
        </p:txBody>
      </p:sp>
      <p:sp>
        <p:nvSpPr>
          <p:cNvPr id="14" name="Text 12"/>
          <p:cNvSpPr/>
          <p:nvPr/>
        </p:nvSpPr>
        <p:spPr>
          <a:xfrm>
            <a:off x="1028700" y="6829493"/>
            <a:ext cx="533400" cy="495300"/>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Euclid Circular A" pitchFamily="34" charset="0"/>
                <a:ea typeface="Euclid Circular A" pitchFamily="34" charset="-122"/>
                <a:cs typeface="Euclid Circular A" pitchFamily="34" charset="-120"/>
              </a:rPr>
              <a:t>3</a:t>
            </a:r>
            <a:endParaRPr lang="en-US" sz="1800" dirty="0"/>
          </a:p>
        </p:txBody>
      </p:sp>
      <p:sp>
        <p:nvSpPr>
          <p:cNvPr id="15" name="Text 13"/>
          <p:cNvSpPr/>
          <p:nvPr/>
        </p:nvSpPr>
        <p:spPr>
          <a:xfrm>
            <a:off x="1733550" y="6829493"/>
            <a:ext cx="3876675"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Point d'annotation</a:t>
            </a:r>
            <a:endParaRPr lang="en-US" sz="2100" dirty="0"/>
          </a:p>
        </p:txBody>
      </p:sp>
      <p:sp>
        <p:nvSpPr>
          <p:cNvPr id="16" name="Text 14"/>
          <p:cNvSpPr/>
          <p:nvPr/>
        </p:nvSpPr>
        <p:spPr>
          <a:xfrm>
            <a:off x="1733550" y="7229543"/>
            <a:ext cx="3629978" cy="723900"/>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Décrivez l'élément à observer sur la capture.</a:t>
            </a:r>
            <a:endParaRPr lang="en-US" sz="1800" dirty="0"/>
          </a:p>
        </p:txBody>
      </p:sp>
      <p:sp>
        <p:nvSpPr>
          <p:cNvPr id="17" name="Shape 15"/>
          <p:cNvSpPr/>
          <p:nvPr/>
        </p:nvSpPr>
        <p:spPr>
          <a:xfrm>
            <a:off x="6038106" y="2114550"/>
            <a:ext cx="11277600" cy="6847284"/>
          </a:xfrm>
          <a:prstGeom prst="roundRect">
            <a:avLst>
              <a:gd name="adj" fmla="val 2504"/>
            </a:avLst>
          </a:prstGeom>
          <a:solidFill>
            <a:srgbClr val="FFFFFF">
              <a:alpha val="98000"/>
            </a:srgbClr>
          </a:solidFill>
          <a:ln w="9525">
            <a:solidFill>
              <a:srgbClr val="0E3145">
                <a:alpha val="12000"/>
              </a:srgbClr>
            </a:solidFill>
            <a:prstDash val="solid"/>
          </a:ln>
          <a:effectLst>
            <a:outerShdw blurRad="495300" dist="247650" dir="5400000" algn="bl" rotWithShape="0">
              <a:srgbClr val="0E3145">
                <a:alpha val="29530"/>
              </a:srgbClr>
            </a:outerShdw>
          </a:effectLst>
        </p:spPr>
        <p:txBody>
          <a:bodyPr/>
          <a:lstStyle/>
          <a:p>
            <a:endParaRPr lang="fr-FR"/>
          </a:p>
        </p:txBody>
      </p:sp>
      <p:sp>
        <p:nvSpPr>
          <p:cNvPr id="18" name="Shape 16"/>
          <p:cNvSpPr/>
          <p:nvPr/>
        </p:nvSpPr>
        <p:spPr>
          <a:xfrm>
            <a:off x="6047631" y="2124075"/>
            <a:ext cx="11258550" cy="495300"/>
          </a:xfrm>
          <a:prstGeom prst="rect">
            <a:avLst/>
          </a:prstGeom>
          <a:solidFill>
            <a:srgbClr val="F1ECE3"/>
          </a:solidFill>
          <a:ln/>
        </p:spPr>
        <p:txBody>
          <a:bodyPr/>
          <a:lstStyle/>
          <a:p>
            <a:endParaRPr lang="fr-FR"/>
          </a:p>
        </p:txBody>
      </p:sp>
      <p:sp>
        <p:nvSpPr>
          <p:cNvPr id="19" name="Shape 17"/>
          <p:cNvSpPr/>
          <p:nvPr/>
        </p:nvSpPr>
        <p:spPr>
          <a:xfrm>
            <a:off x="6047631" y="2609850"/>
            <a:ext cx="11258550" cy="9525"/>
          </a:xfrm>
          <a:prstGeom prst="rect">
            <a:avLst/>
          </a:prstGeom>
          <a:solidFill>
            <a:srgbClr val="0E3145">
              <a:alpha val="12000"/>
            </a:srgbClr>
          </a:solidFill>
          <a:ln/>
        </p:spPr>
        <p:txBody>
          <a:bodyPr/>
          <a:lstStyle/>
          <a:p>
            <a:endParaRPr lang="fr-FR"/>
          </a:p>
        </p:txBody>
      </p:sp>
      <p:sp>
        <p:nvSpPr>
          <p:cNvPr id="20" name="Shape 18"/>
          <p:cNvSpPr/>
          <p:nvPr/>
        </p:nvSpPr>
        <p:spPr>
          <a:xfrm>
            <a:off x="6257181" y="2305050"/>
            <a:ext cx="123825" cy="123825"/>
          </a:xfrm>
          <a:prstGeom prst="ellipse">
            <a:avLst/>
          </a:prstGeom>
          <a:solidFill>
            <a:srgbClr val="0E3145">
              <a:alpha val="18000"/>
            </a:srgbClr>
          </a:solidFill>
          <a:ln/>
        </p:spPr>
        <p:txBody>
          <a:bodyPr/>
          <a:lstStyle/>
          <a:p>
            <a:endParaRPr lang="fr-FR"/>
          </a:p>
        </p:txBody>
      </p:sp>
      <p:sp>
        <p:nvSpPr>
          <p:cNvPr id="21" name="Shape 19"/>
          <p:cNvSpPr/>
          <p:nvPr/>
        </p:nvSpPr>
        <p:spPr>
          <a:xfrm>
            <a:off x="6476256" y="2305050"/>
            <a:ext cx="123825" cy="123825"/>
          </a:xfrm>
          <a:prstGeom prst="ellipse">
            <a:avLst/>
          </a:prstGeom>
          <a:solidFill>
            <a:srgbClr val="0E3145">
              <a:alpha val="18000"/>
            </a:srgbClr>
          </a:solidFill>
          <a:ln/>
        </p:spPr>
        <p:txBody>
          <a:bodyPr/>
          <a:lstStyle/>
          <a:p>
            <a:endParaRPr lang="fr-FR"/>
          </a:p>
        </p:txBody>
      </p:sp>
      <p:sp>
        <p:nvSpPr>
          <p:cNvPr id="22" name="Shape 20"/>
          <p:cNvSpPr/>
          <p:nvPr/>
        </p:nvSpPr>
        <p:spPr>
          <a:xfrm>
            <a:off x="6695331" y="2305050"/>
            <a:ext cx="123825" cy="123825"/>
          </a:xfrm>
          <a:prstGeom prst="ellipse">
            <a:avLst/>
          </a:prstGeom>
          <a:solidFill>
            <a:srgbClr val="0E3145">
              <a:alpha val="18000"/>
            </a:srgbClr>
          </a:solidFill>
          <a:ln/>
        </p:spPr>
        <p:txBody>
          <a:bodyPr/>
          <a:lstStyle/>
          <a:p>
            <a:endParaRPr lang="fr-FR"/>
          </a:p>
        </p:txBody>
      </p:sp>
      <p:sp>
        <p:nvSpPr>
          <p:cNvPr id="23" name="Shape 21"/>
          <p:cNvSpPr/>
          <p:nvPr/>
        </p:nvSpPr>
        <p:spPr>
          <a:xfrm>
            <a:off x="6047631" y="2619375"/>
            <a:ext cx="11258550" cy="6332934"/>
          </a:xfrm>
          <a:prstGeom prst="rect">
            <a:avLst/>
          </a:prstGeom>
          <a:solidFill>
            <a:srgbClr val="0E3145">
              <a:alpha val="3000"/>
            </a:srgbClr>
          </a:solidFill>
          <a:ln/>
        </p:spPr>
        <p:txBody>
          <a:bodyPr/>
          <a:lstStyle/>
          <a:p>
            <a:endParaRPr lang="fr-FR"/>
          </a:p>
        </p:txBody>
      </p:sp>
      <p:sp>
        <p:nvSpPr>
          <p:cNvPr id="26" name="Text 24"/>
          <p:cNvSpPr/>
          <p:nvPr/>
        </p:nvSpPr>
        <p:spPr>
          <a:xfrm>
            <a:off x="9694962" y="6147792"/>
            <a:ext cx="4360113" cy="323850"/>
          </a:xfrm>
          <a:prstGeom prst="rect">
            <a:avLst/>
          </a:prstGeom>
          <a:noFill/>
          <a:ln/>
        </p:spPr>
        <p:txBody>
          <a:bodyPr wrap="square" lIns="25400" tIns="25400" rIns="25400" bIns="25400" rtlCol="0" anchor="t">
            <a:normAutofit lnSpcReduction="10000"/>
          </a:bodyPr>
          <a:lstStyle/>
          <a:p>
            <a:pPr marL="0" indent="0" algn="l">
              <a:buNone/>
            </a:pPr>
            <a:r>
              <a:rPr lang="en-US" sz="1800" kern="0" spc="252" dirty="0">
                <a:solidFill>
                  <a:srgbClr val="0E3145">
                    <a:alpha val="44000"/>
                  </a:srgbClr>
                </a:solidFill>
                <a:latin typeface="Euclid Circular A" pitchFamily="34" charset="0"/>
                <a:ea typeface="Euclid Circular A" pitchFamily="34" charset="-122"/>
                <a:cs typeface="Euclid Circular A" pitchFamily="34" charset="-120"/>
              </a:rPr>
              <a:t>GLISSEZ VOTRE CAPTURE ICI</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2116485"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ALLOCATION</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Répartition du </a:t>
            </a:r>
            <a:r>
              <a:rPr lang="en-US" sz="6150" kern="0" spc="-184" dirty="0">
                <a:solidFill>
                  <a:srgbClr val="DC216E"/>
                </a:solidFill>
                <a:latin typeface="Euclid Circular A" pitchFamily="34" charset="0"/>
                <a:ea typeface="Euclid Circular A" pitchFamily="34" charset="-122"/>
                <a:cs typeface="Euclid Circular A" pitchFamily="34" charset="-120"/>
              </a:rPr>
              <a:t>portefeuille</a:t>
            </a:r>
            <a:endParaRPr lang="en-US" sz="6150" dirty="0"/>
          </a:p>
        </p:txBody>
      </p:sp>
      <p:sp>
        <p:nvSpPr>
          <p:cNvPr id="9" name="Shape 7"/>
          <p:cNvSpPr/>
          <p:nvPr/>
        </p:nvSpPr>
        <p:spPr>
          <a:xfrm>
            <a:off x="8950375" y="3427526"/>
            <a:ext cx="8270825" cy="9525"/>
          </a:xfrm>
          <a:prstGeom prst="rect">
            <a:avLst/>
          </a:prstGeom>
          <a:solidFill>
            <a:srgbClr val="0E3145">
              <a:alpha val="12000"/>
            </a:srgbClr>
          </a:solidFill>
          <a:ln/>
        </p:spPr>
        <p:txBody>
          <a:bodyPr/>
          <a:lstStyle/>
          <a:p>
            <a:endParaRPr lang="fr-FR"/>
          </a:p>
        </p:txBody>
      </p:sp>
      <p:sp>
        <p:nvSpPr>
          <p:cNvPr id="10" name="Shape 8"/>
          <p:cNvSpPr/>
          <p:nvPr/>
        </p:nvSpPr>
        <p:spPr>
          <a:xfrm>
            <a:off x="8950375" y="3741851"/>
            <a:ext cx="171450" cy="171450"/>
          </a:xfrm>
          <a:prstGeom prst="roundRect">
            <a:avLst>
              <a:gd name="adj" fmla="val 27778"/>
            </a:avLst>
          </a:prstGeom>
          <a:solidFill>
            <a:srgbClr val="DC216E"/>
          </a:solidFill>
          <a:ln/>
        </p:spPr>
        <p:txBody>
          <a:bodyPr/>
          <a:lstStyle/>
          <a:p>
            <a:endParaRPr lang="fr-FR"/>
          </a:p>
        </p:txBody>
      </p:sp>
      <p:sp>
        <p:nvSpPr>
          <p:cNvPr id="11" name="Text 9"/>
          <p:cNvSpPr/>
          <p:nvPr/>
        </p:nvSpPr>
        <p:spPr>
          <a:xfrm>
            <a:off x="9350425" y="3646601"/>
            <a:ext cx="5933376"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Actions</a:t>
            </a:r>
            <a:endParaRPr lang="en-US" sz="2250" dirty="0"/>
          </a:p>
        </p:txBody>
      </p:sp>
      <p:sp>
        <p:nvSpPr>
          <p:cNvPr id="12" name="Text 10"/>
          <p:cNvSpPr/>
          <p:nvPr/>
        </p:nvSpPr>
        <p:spPr>
          <a:xfrm>
            <a:off x="14973002" y="3646601"/>
            <a:ext cx="762298" cy="400050"/>
          </a:xfrm>
          <a:prstGeom prst="rect">
            <a:avLst/>
          </a:prstGeom>
          <a:noFill/>
          <a:ln/>
        </p:spPr>
        <p:txBody>
          <a:bodyPr wrap="square" lIns="25400" tIns="25400" rIns="25400" bIns="25400" rtlCol="0" anchor="t">
            <a:normAutofit/>
          </a:bodyPr>
          <a:lstStyle/>
          <a:p>
            <a:pPr marL="0" indent="0" algn="l">
              <a:buNone/>
            </a:pPr>
            <a:r>
              <a:rPr lang="en-US" sz="2250" dirty="0">
                <a:solidFill>
                  <a:srgbClr val="DC216E"/>
                </a:solidFill>
                <a:latin typeface="Euclid Circular A" pitchFamily="34" charset="0"/>
                <a:ea typeface="Euclid Circular A" pitchFamily="34" charset="-122"/>
                <a:cs typeface="Euclid Circular A" pitchFamily="34" charset="-120"/>
              </a:rPr>
              <a:t>38 %</a:t>
            </a:r>
            <a:endParaRPr lang="en-US" sz="2250" dirty="0"/>
          </a:p>
        </p:txBody>
      </p:sp>
      <p:sp>
        <p:nvSpPr>
          <p:cNvPr id="13" name="Text 11"/>
          <p:cNvSpPr/>
          <p:nvPr/>
        </p:nvSpPr>
        <p:spPr>
          <a:xfrm>
            <a:off x="15754350" y="3684701"/>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000 000 €</a:t>
            </a:r>
            <a:endParaRPr lang="en-US" sz="1800" dirty="0"/>
          </a:p>
        </p:txBody>
      </p:sp>
      <p:sp>
        <p:nvSpPr>
          <p:cNvPr id="14" name="Shape 12"/>
          <p:cNvSpPr/>
          <p:nvPr/>
        </p:nvSpPr>
        <p:spPr>
          <a:xfrm>
            <a:off x="8950375" y="4218101"/>
            <a:ext cx="8270825" cy="9525"/>
          </a:xfrm>
          <a:prstGeom prst="rect">
            <a:avLst/>
          </a:prstGeom>
          <a:solidFill>
            <a:srgbClr val="0E3145">
              <a:alpha val="12000"/>
            </a:srgbClr>
          </a:solidFill>
          <a:ln/>
        </p:spPr>
        <p:txBody>
          <a:bodyPr/>
          <a:lstStyle/>
          <a:p>
            <a:endParaRPr lang="fr-FR"/>
          </a:p>
        </p:txBody>
      </p:sp>
      <p:sp>
        <p:nvSpPr>
          <p:cNvPr id="15" name="Shape 13"/>
          <p:cNvSpPr/>
          <p:nvPr/>
        </p:nvSpPr>
        <p:spPr>
          <a:xfrm>
            <a:off x="8950375" y="4532426"/>
            <a:ext cx="171450" cy="171450"/>
          </a:xfrm>
          <a:prstGeom prst="roundRect">
            <a:avLst>
              <a:gd name="adj" fmla="val 27778"/>
            </a:avLst>
          </a:prstGeom>
          <a:solidFill>
            <a:srgbClr val="0E3145"/>
          </a:solidFill>
          <a:ln/>
        </p:spPr>
        <p:txBody>
          <a:bodyPr/>
          <a:lstStyle/>
          <a:p>
            <a:endParaRPr lang="fr-FR"/>
          </a:p>
        </p:txBody>
      </p:sp>
      <p:sp>
        <p:nvSpPr>
          <p:cNvPr id="16" name="Text 14"/>
          <p:cNvSpPr/>
          <p:nvPr/>
        </p:nvSpPr>
        <p:spPr>
          <a:xfrm>
            <a:off x="9350425" y="4437176"/>
            <a:ext cx="5933376"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Obligations</a:t>
            </a:r>
            <a:endParaRPr lang="en-US" sz="2250" dirty="0"/>
          </a:p>
        </p:txBody>
      </p:sp>
      <p:sp>
        <p:nvSpPr>
          <p:cNvPr id="17" name="Text 15"/>
          <p:cNvSpPr/>
          <p:nvPr/>
        </p:nvSpPr>
        <p:spPr>
          <a:xfrm>
            <a:off x="14973002" y="4437176"/>
            <a:ext cx="762298"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24 %</a:t>
            </a:r>
            <a:endParaRPr lang="en-US" sz="2250" dirty="0"/>
          </a:p>
        </p:txBody>
      </p:sp>
      <p:sp>
        <p:nvSpPr>
          <p:cNvPr id="18" name="Text 16"/>
          <p:cNvSpPr/>
          <p:nvPr/>
        </p:nvSpPr>
        <p:spPr>
          <a:xfrm>
            <a:off x="15754350" y="4475276"/>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000 000 €</a:t>
            </a:r>
            <a:endParaRPr lang="en-US" sz="1800" dirty="0"/>
          </a:p>
        </p:txBody>
      </p:sp>
      <p:sp>
        <p:nvSpPr>
          <p:cNvPr id="19" name="Shape 17"/>
          <p:cNvSpPr/>
          <p:nvPr/>
        </p:nvSpPr>
        <p:spPr>
          <a:xfrm>
            <a:off x="8950375" y="5008676"/>
            <a:ext cx="8270825" cy="9525"/>
          </a:xfrm>
          <a:prstGeom prst="rect">
            <a:avLst/>
          </a:prstGeom>
          <a:solidFill>
            <a:srgbClr val="0E3145">
              <a:alpha val="12000"/>
            </a:srgbClr>
          </a:solidFill>
          <a:ln/>
        </p:spPr>
        <p:txBody>
          <a:bodyPr/>
          <a:lstStyle/>
          <a:p>
            <a:endParaRPr lang="fr-FR"/>
          </a:p>
        </p:txBody>
      </p:sp>
      <p:sp>
        <p:nvSpPr>
          <p:cNvPr id="20" name="Shape 18"/>
          <p:cNvSpPr/>
          <p:nvPr/>
        </p:nvSpPr>
        <p:spPr>
          <a:xfrm>
            <a:off x="8950375" y="5323001"/>
            <a:ext cx="171450" cy="171450"/>
          </a:xfrm>
          <a:prstGeom prst="roundRect">
            <a:avLst>
              <a:gd name="adj" fmla="val 27778"/>
            </a:avLst>
          </a:prstGeom>
          <a:solidFill>
            <a:srgbClr val="4BBBBC"/>
          </a:solidFill>
          <a:ln/>
        </p:spPr>
        <p:txBody>
          <a:bodyPr/>
          <a:lstStyle/>
          <a:p>
            <a:endParaRPr lang="fr-FR"/>
          </a:p>
        </p:txBody>
      </p:sp>
      <p:sp>
        <p:nvSpPr>
          <p:cNvPr id="21" name="Text 19"/>
          <p:cNvSpPr/>
          <p:nvPr/>
        </p:nvSpPr>
        <p:spPr>
          <a:xfrm>
            <a:off x="9350425" y="5227751"/>
            <a:ext cx="5933376"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Immobilier (SCPI)</a:t>
            </a:r>
            <a:endParaRPr lang="en-US" sz="2250" dirty="0"/>
          </a:p>
        </p:txBody>
      </p:sp>
      <p:sp>
        <p:nvSpPr>
          <p:cNvPr id="22" name="Text 20"/>
          <p:cNvSpPr/>
          <p:nvPr/>
        </p:nvSpPr>
        <p:spPr>
          <a:xfrm>
            <a:off x="14973002" y="5227751"/>
            <a:ext cx="762298"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18 %</a:t>
            </a:r>
            <a:endParaRPr lang="en-US" sz="2250" dirty="0"/>
          </a:p>
        </p:txBody>
      </p:sp>
      <p:sp>
        <p:nvSpPr>
          <p:cNvPr id="23" name="Text 21"/>
          <p:cNvSpPr/>
          <p:nvPr/>
        </p:nvSpPr>
        <p:spPr>
          <a:xfrm>
            <a:off x="15754350" y="5265851"/>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000 000 €</a:t>
            </a:r>
            <a:endParaRPr lang="en-US" sz="1800" dirty="0"/>
          </a:p>
        </p:txBody>
      </p:sp>
      <p:sp>
        <p:nvSpPr>
          <p:cNvPr id="24" name="Shape 22"/>
          <p:cNvSpPr/>
          <p:nvPr/>
        </p:nvSpPr>
        <p:spPr>
          <a:xfrm>
            <a:off x="8950375" y="5799251"/>
            <a:ext cx="8270825" cy="9525"/>
          </a:xfrm>
          <a:prstGeom prst="rect">
            <a:avLst/>
          </a:prstGeom>
          <a:solidFill>
            <a:srgbClr val="0E3145">
              <a:alpha val="12000"/>
            </a:srgbClr>
          </a:solidFill>
          <a:ln/>
        </p:spPr>
        <p:txBody>
          <a:bodyPr/>
          <a:lstStyle/>
          <a:p>
            <a:endParaRPr lang="fr-FR"/>
          </a:p>
        </p:txBody>
      </p:sp>
      <p:sp>
        <p:nvSpPr>
          <p:cNvPr id="25" name="Shape 23"/>
          <p:cNvSpPr/>
          <p:nvPr/>
        </p:nvSpPr>
        <p:spPr>
          <a:xfrm>
            <a:off x="8950375" y="6113576"/>
            <a:ext cx="171450" cy="171450"/>
          </a:xfrm>
          <a:prstGeom prst="roundRect">
            <a:avLst>
              <a:gd name="adj" fmla="val 27778"/>
            </a:avLst>
          </a:prstGeom>
          <a:solidFill>
            <a:srgbClr val="1A2EAF"/>
          </a:solidFill>
          <a:ln/>
        </p:spPr>
        <p:txBody>
          <a:bodyPr/>
          <a:lstStyle/>
          <a:p>
            <a:endParaRPr lang="fr-FR"/>
          </a:p>
        </p:txBody>
      </p:sp>
      <p:sp>
        <p:nvSpPr>
          <p:cNvPr id="26" name="Text 24"/>
          <p:cNvSpPr/>
          <p:nvPr/>
        </p:nvSpPr>
        <p:spPr>
          <a:xfrm>
            <a:off x="9350425" y="6018326"/>
            <a:ext cx="5933376"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Fonds en euros</a:t>
            </a:r>
            <a:endParaRPr lang="en-US" sz="2250" dirty="0"/>
          </a:p>
        </p:txBody>
      </p:sp>
      <p:sp>
        <p:nvSpPr>
          <p:cNvPr id="27" name="Text 25"/>
          <p:cNvSpPr/>
          <p:nvPr/>
        </p:nvSpPr>
        <p:spPr>
          <a:xfrm>
            <a:off x="14973002" y="6018326"/>
            <a:ext cx="762298"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12 %</a:t>
            </a:r>
            <a:endParaRPr lang="en-US" sz="2250" dirty="0"/>
          </a:p>
        </p:txBody>
      </p:sp>
      <p:sp>
        <p:nvSpPr>
          <p:cNvPr id="28" name="Text 26"/>
          <p:cNvSpPr/>
          <p:nvPr/>
        </p:nvSpPr>
        <p:spPr>
          <a:xfrm>
            <a:off x="15754350" y="6056426"/>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000 000 €</a:t>
            </a:r>
            <a:endParaRPr lang="en-US" sz="1800" dirty="0"/>
          </a:p>
        </p:txBody>
      </p:sp>
      <p:sp>
        <p:nvSpPr>
          <p:cNvPr id="29" name="Shape 27"/>
          <p:cNvSpPr/>
          <p:nvPr/>
        </p:nvSpPr>
        <p:spPr>
          <a:xfrm>
            <a:off x="8950375" y="7380401"/>
            <a:ext cx="8270825" cy="9525"/>
          </a:xfrm>
          <a:prstGeom prst="rect">
            <a:avLst/>
          </a:prstGeom>
          <a:solidFill>
            <a:srgbClr val="0E3145">
              <a:alpha val="12000"/>
            </a:srgbClr>
          </a:solidFill>
          <a:ln/>
        </p:spPr>
        <p:txBody>
          <a:bodyPr/>
          <a:lstStyle/>
          <a:p>
            <a:endParaRPr lang="fr-FR"/>
          </a:p>
        </p:txBody>
      </p:sp>
      <p:sp>
        <p:nvSpPr>
          <p:cNvPr id="30" name="Shape 28"/>
          <p:cNvSpPr/>
          <p:nvPr/>
        </p:nvSpPr>
        <p:spPr>
          <a:xfrm>
            <a:off x="8950375" y="6589826"/>
            <a:ext cx="8270825" cy="9525"/>
          </a:xfrm>
          <a:prstGeom prst="rect">
            <a:avLst/>
          </a:prstGeom>
          <a:solidFill>
            <a:srgbClr val="0E3145">
              <a:alpha val="12000"/>
            </a:srgbClr>
          </a:solidFill>
          <a:ln/>
        </p:spPr>
        <p:txBody>
          <a:bodyPr/>
          <a:lstStyle/>
          <a:p>
            <a:endParaRPr lang="fr-FR"/>
          </a:p>
        </p:txBody>
      </p:sp>
      <p:sp>
        <p:nvSpPr>
          <p:cNvPr id="31" name="Shape 29"/>
          <p:cNvSpPr/>
          <p:nvPr/>
        </p:nvSpPr>
        <p:spPr>
          <a:xfrm>
            <a:off x="8950375" y="6904151"/>
            <a:ext cx="171450" cy="171450"/>
          </a:xfrm>
          <a:prstGeom prst="roundRect">
            <a:avLst>
              <a:gd name="adj" fmla="val 27778"/>
            </a:avLst>
          </a:prstGeom>
          <a:solidFill>
            <a:srgbClr val="FECB4D"/>
          </a:solidFill>
          <a:ln/>
        </p:spPr>
        <p:txBody>
          <a:bodyPr/>
          <a:lstStyle/>
          <a:p>
            <a:endParaRPr lang="fr-FR"/>
          </a:p>
        </p:txBody>
      </p:sp>
      <p:sp>
        <p:nvSpPr>
          <p:cNvPr id="32" name="Text 30"/>
          <p:cNvSpPr/>
          <p:nvPr/>
        </p:nvSpPr>
        <p:spPr>
          <a:xfrm>
            <a:off x="9350425" y="6808901"/>
            <a:ext cx="6118696"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Liquidités</a:t>
            </a:r>
            <a:endParaRPr lang="en-US" sz="2250" dirty="0"/>
          </a:p>
        </p:txBody>
      </p:sp>
      <p:sp>
        <p:nvSpPr>
          <p:cNvPr id="33" name="Text 31"/>
          <p:cNvSpPr/>
          <p:nvPr/>
        </p:nvSpPr>
        <p:spPr>
          <a:xfrm>
            <a:off x="15141476" y="6808901"/>
            <a:ext cx="593824"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8 %</a:t>
            </a:r>
            <a:endParaRPr lang="en-US" sz="2250" dirty="0"/>
          </a:p>
        </p:txBody>
      </p:sp>
      <p:sp>
        <p:nvSpPr>
          <p:cNvPr id="34" name="Text 32"/>
          <p:cNvSpPr/>
          <p:nvPr/>
        </p:nvSpPr>
        <p:spPr>
          <a:xfrm>
            <a:off x="15754350" y="6847001"/>
            <a:ext cx="1466850" cy="323850"/>
          </a:xfrm>
          <a:prstGeom prst="rect">
            <a:avLst/>
          </a:prstGeom>
          <a:noFill/>
          <a:ln/>
        </p:spPr>
        <p:txBody>
          <a:bodyPr wrap="square" lIns="25400" tIns="25400" rIns="25400" bIns="25400" rtlCol="0" anchor="t">
            <a:normAutofit lnSpcReduction="10000"/>
          </a:bodyPr>
          <a:lstStyle/>
          <a:p>
            <a:pPr marL="0" indent="0" algn="r">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000 000 €</a:t>
            </a:r>
            <a:endParaRPr lang="en-US" sz="1800" dirty="0"/>
          </a:p>
        </p:txBody>
      </p:sp>
      <p:graphicFrame>
        <p:nvGraphicFramePr>
          <p:cNvPr id="37" name="Graphique 36">
            <a:extLst>
              <a:ext uri="{FF2B5EF4-FFF2-40B4-BE49-F238E27FC236}">
                <a16:creationId xmlns:a16="http://schemas.microsoft.com/office/drawing/2014/main" id="{E4D3510F-49BA-B8BF-FD8B-4E7E07AB52B1}"/>
              </a:ext>
            </a:extLst>
          </p:cNvPr>
          <p:cNvGraphicFramePr/>
          <p:nvPr>
            <p:extLst>
              <p:ext uri="{D42A27DB-BD31-4B8C-83A1-F6EECF244321}">
                <p14:modId xmlns:p14="http://schemas.microsoft.com/office/powerpoint/2010/main" val="2690193649"/>
              </p:ext>
            </p:extLst>
          </p:nvPr>
        </p:nvGraphicFramePr>
        <p:xfrm>
          <a:off x="1066800" y="2624251"/>
          <a:ext cx="6755392" cy="560705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2411462"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PERFORMANCE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Évolution dans le </a:t>
            </a:r>
            <a:r>
              <a:rPr lang="en-US" sz="6150" kern="0" spc="-184" dirty="0">
                <a:solidFill>
                  <a:srgbClr val="DC216E"/>
                </a:solidFill>
                <a:latin typeface="Euclid Circular A" pitchFamily="34" charset="0"/>
                <a:ea typeface="Euclid Circular A" pitchFamily="34" charset="-122"/>
                <a:cs typeface="Euclid Circular A" pitchFamily="34" charset="-120"/>
              </a:rPr>
              <a:t>temps</a:t>
            </a:r>
            <a:endParaRPr lang="en-US" sz="6150" dirty="0"/>
          </a:p>
        </p:txBody>
      </p:sp>
      <p:sp>
        <p:nvSpPr>
          <p:cNvPr id="5" name="Shape 3"/>
          <p:cNvSpPr/>
          <p:nvPr/>
        </p:nvSpPr>
        <p:spPr>
          <a:xfrm>
            <a:off x="1066800" y="2770802"/>
            <a:ext cx="990451" cy="476250"/>
          </a:xfrm>
          <a:prstGeom prst="roundRect">
            <a:avLst>
              <a:gd name="adj" fmla="val 50000"/>
            </a:avLst>
          </a:prstGeom>
          <a:solidFill>
            <a:srgbClr val="DC216E"/>
          </a:solidFill>
          <a:ln/>
        </p:spPr>
        <p:txBody>
          <a:bodyPr/>
          <a:lstStyle/>
          <a:p>
            <a:endParaRPr lang="fr-FR"/>
          </a:p>
        </p:txBody>
      </p:sp>
      <p:sp>
        <p:nvSpPr>
          <p:cNvPr id="6" name="Text 4"/>
          <p:cNvSpPr/>
          <p:nvPr/>
        </p:nvSpPr>
        <p:spPr>
          <a:xfrm>
            <a:off x="1276350" y="2856527"/>
            <a:ext cx="647551" cy="342900"/>
          </a:xfrm>
          <a:prstGeom prst="rect">
            <a:avLst/>
          </a:prstGeom>
          <a:noFill/>
          <a:ln/>
        </p:spPr>
        <p:txBody>
          <a:bodyPr wrap="square" lIns="25400" tIns="25400" rIns="25400" bIns="25400" rtlCol="0" anchor="t">
            <a:normAutofit/>
          </a:bodyPr>
          <a:lstStyle/>
          <a:p>
            <a:pPr marL="0" indent="0" algn="l">
              <a:buNone/>
            </a:pPr>
            <a:r>
              <a:rPr lang="en-US" sz="1800" dirty="0">
                <a:solidFill>
                  <a:srgbClr val="FFFFFF"/>
                </a:solidFill>
                <a:latin typeface="Euclid Circular A" pitchFamily="34" charset="0"/>
                <a:ea typeface="Euclid Circular A" pitchFamily="34" charset="-122"/>
                <a:cs typeface="Euclid Circular A" pitchFamily="34" charset="-120"/>
              </a:rPr>
              <a:t>5 ans</a:t>
            </a:r>
            <a:endParaRPr lang="en-US" sz="1800" dirty="0"/>
          </a:p>
        </p:txBody>
      </p:sp>
      <p:sp>
        <p:nvSpPr>
          <p:cNvPr id="7" name="Shape 5"/>
          <p:cNvSpPr/>
          <p:nvPr/>
        </p:nvSpPr>
        <p:spPr>
          <a:xfrm>
            <a:off x="2171551" y="2770802"/>
            <a:ext cx="1014264" cy="476250"/>
          </a:xfrm>
          <a:prstGeom prst="roundRect">
            <a:avLst>
              <a:gd name="adj" fmla="val 50000"/>
            </a:avLst>
          </a:prstGeom>
          <a:ln w="9525">
            <a:solidFill>
              <a:srgbClr val="0E3145">
                <a:alpha val="24000"/>
              </a:srgbClr>
            </a:solidFill>
            <a:prstDash val="solid"/>
          </a:ln>
        </p:spPr>
        <p:txBody>
          <a:bodyPr/>
          <a:lstStyle/>
          <a:p>
            <a:endParaRPr lang="fr-FR"/>
          </a:p>
        </p:txBody>
      </p:sp>
      <p:sp>
        <p:nvSpPr>
          <p:cNvPr id="8" name="Text 6"/>
          <p:cNvSpPr/>
          <p:nvPr/>
        </p:nvSpPr>
        <p:spPr>
          <a:xfrm>
            <a:off x="2390626" y="2866052"/>
            <a:ext cx="652314"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3 ans</a:t>
            </a:r>
            <a:endParaRPr lang="en-US" sz="1800" dirty="0"/>
          </a:p>
        </p:txBody>
      </p:sp>
      <p:sp>
        <p:nvSpPr>
          <p:cNvPr id="9" name="Shape 7"/>
          <p:cNvSpPr/>
          <p:nvPr/>
        </p:nvSpPr>
        <p:spPr>
          <a:xfrm>
            <a:off x="3300115" y="2770802"/>
            <a:ext cx="849511" cy="476250"/>
          </a:xfrm>
          <a:prstGeom prst="roundRect">
            <a:avLst>
              <a:gd name="adj" fmla="val 50000"/>
            </a:avLst>
          </a:prstGeom>
          <a:ln w="9525">
            <a:solidFill>
              <a:srgbClr val="0E3145">
                <a:alpha val="24000"/>
              </a:srgbClr>
            </a:solidFill>
            <a:prstDash val="solid"/>
          </a:ln>
        </p:spPr>
        <p:txBody>
          <a:bodyPr/>
          <a:lstStyle/>
          <a:p>
            <a:endParaRPr lang="fr-FR"/>
          </a:p>
        </p:txBody>
      </p:sp>
      <p:sp>
        <p:nvSpPr>
          <p:cNvPr id="10" name="Text 8"/>
          <p:cNvSpPr/>
          <p:nvPr/>
        </p:nvSpPr>
        <p:spPr>
          <a:xfrm>
            <a:off x="3519190" y="2866052"/>
            <a:ext cx="487561"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1 an</a:t>
            </a:r>
            <a:endParaRPr lang="en-US" sz="1800" dirty="0"/>
          </a:p>
        </p:txBody>
      </p:sp>
      <p:sp>
        <p:nvSpPr>
          <p:cNvPr id="11" name="Shape 9"/>
          <p:cNvSpPr/>
          <p:nvPr/>
        </p:nvSpPr>
        <p:spPr>
          <a:xfrm>
            <a:off x="4263926" y="2770802"/>
            <a:ext cx="1989088" cy="476250"/>
          </a:xfrm>
          <a:prstGeom prst="roundRect">
            <a:avLst>
              <a:gd name="adj" fmla="val 50000"/>
            </a:avLst>
          </a:prstGeom>
          <a:ln w="9525">
            <a:solidFill>
              <a:srgbClr val="0E3145">
                <a:alpha val="24000"/>
              </a:srgbClr>
            </a:solidFill>
            <a:prstDash val="solid"/>
          </a:ln>
        </p:spPr>
        <p:txBody>
          <a:bodyPr/>
          <a:lstStyle/>
          <a:p>
            <a:endParaRPr lang="fr-FR"/>
          </a:p>
        </p:txBody>
      </p:sp>
      <p:sp>
        <p:nvSpPr>
          <p:cNvPr id="12" name="Text 10"/>
          <p:cNvSpPr/>
          <p:nvPr/>
        </p:nvSpPr>
        <p:spPr>
          <a:xfrm>
            <a:off x="4483001" y="2866052"/>
            <a:ext cx="1627138"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Depuis origine</a:t>
            </a:r>
            <a:endParaRPr lang="en-US" sz="1800"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6800" y="3475652"/>
            <a:ext cx="10305008" cy="4431060"/>
          </a:xfrm>
          <a:prstGeom prst="rect">
            <a:avLst/>
          </a:prstGeom>
        </p:spPr>
      </p:pic>
      <p:sp>
        <p:nvSpPr>
          <p:cNvPr id="14" name="Text 11"/>
          <p:cNvSpPr/>
          <p:nvPr/>
        </p:nvSpPr>
        <p:spPr>
          <a:xfrm>
            <a:off x="1333500" y="8078162"/>
            <a:ext cx="615702"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2020</a:t>
            </a:r>
            <a:endParaRPr lang="en-US" sz="1800" dirty="0"/>
          </a:p>
        </p:txBody>
      </p:sp>
      <p:sp>
        <p:nvSpPr>
          <p:cNvPr id="15" name="Text 12"/>
          <p:cNvSpPr/>
          <p:nvPr/>
        </p:nvSpPr>
        <p:spPr>
          <a:xfrm>
            <a:off x="3187601" y="8078162"/>
            <a:ext cx="615702"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2021</a:t>
            </a:r>
            <a:endParaRPr lang="en-US" sz="1800" dirty="0"/>
          </a:p>
        </p:txBody>
      </p:sp>
      <p:sp>
        <p:nvSpPr>
          <p:cNvPr id="16" name="Text 13"/>
          <p:cNvSpPr/>
          <p:nvPr/>
        </p:nvSpPr>
        <p:spPr>
          <a:xfrm>
            <a:off x="5041553" y="8078162"/>
            <a:ext cx="615702"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2022</a:t>
            </a:r>
            <a:endParaRPr lang="en-US" sz="1800" dirty="0"/>
          </a:p>
        </p:txBody>
      </p:sp>
      <p:sp>
        <p:nvSpPr>
          <p:cNvPr id="17" name="Text 14"/>
          <p:cNvSpPr/>
          <p:nvPr/>
        </p:nvSpPr>
        <p:spPr>
          <a:xfrm>
            <a:off x="6895654" y="8078162"/>
            <a:ext cx="615702"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2023</a:t>
            </a:r>
            <a:endParaRPr lang="en-US" sz="1800" dirty="0"/>
          </a:p>
        </p:txBody>
      </p:sp>
      <p:sp>
        <p:nvSpPr>
          <p:cNvPr id="18" name="Text 15"/>
          <p:cNvSpPr/>
          <p:nvPr/>
        </p:nvSpPr>
        <p:spPr>
          <a:xfrm>
            <a:off x="8749605" y="8078162"/>
            <a:ext cx="615702"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2024</a:t>
            </a:r>
            <a:endParaRPr lang="en-US" sz="1800" dirty="0"/>
          </a:p>
        </p:txBody>
      </p:sp>
      <p:sp>
        <p:nvSpPr>
          <p:cNvPr id="19" name="Text 16"/>
          <p:cNvSpPr/>
          <p:nvPr/>
        </p:nvSpPr>
        <p:spPr>
          <a:xfrm>
            <a:off x="10603706" y="8078162"/>
            <a:ext cx="615702"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2025</a:t>
            </a:r>
            <a:endParaRPr lang="en-US" sz="1800" dirty="0"/>
          </a:p>
        </p:txBody>
      </p:sp>
      <p:sp>
        <p:nvSpPr>
          <p:cNvPr id="20" name="Shape 17"/>
          <p:cNvSpPr/>
          <p:nvPr/>
        </p:nvSpPr>
        <p:spPr>
          <a:xfrm>
            <a:off x="12133808" y="3499408"/>
            <a:ext cx="19050" cy="4142333"/>
          </a:xfrm>
          <a:prstGeom prst="rect">
            <a:avLst/>
          </a:prstGeom>
          <a:solidFill>
            <a:srgbClr val="DC216E">
              <a:alpha val="98000"/>
            </a:srgbClr>
          </a:solidFill>
          <a:ln/>
        </p:spPr>
        <p:txBody>
          <a:bodyPr/>
          <a:lstStyle/>
          <a:p>
            <a:endParaRPr lang="fr-FR"/>
          </a:p>
        </p:txBody>
      </p:sp>
      <p:sp>
        <p:nvSpPr>
          <p:cNvPr id="21" name="Text 18"/>
          <p:cNvSpPr/>
          <p:nvPr/>
        </p:nvSpPr>
        <p:spPr>
          <a:xfrm>
            <a:off x="12610058" y="3499408"/>
            <a:ext cx="5072092" cy="1127671"/>
          </a:xfrm>
          <a:prstGeom prst="rect">
            <a:avLst/>
          </a:prstGeom>
          <a:noFill/>
          <a:ln/>
        </p:spPr>
        <p:txBody>
          <a:bodyPr wrap="square" lIns="25400" tIns="25400" rIns="25400" bIns="25400" rtlCol="0" anchor="t">
            <a:normAutofit fontScale="92500" lnSpcReduction="20000"/>
          </a:bodyPr>
          <a:lstStyle/>
          <a:p>
            <a:pPr marL="0" indent="0" algn="l">
              <a:lnSpc>
                <a:spcPct val="88000"/>
              </a:lnSpc>
              <a:buNone/>
            </a:pPr>
            <a:r>
              <a:rPr lang="en-US" sz="9750" kern="0" spc="-341" dirty="0">
                <a:solidFill>
                  <a:srgbClr val="DC216E"/>
                </a:solidFill>
                <a:latin typeface="Euclid Circular A" pitchFamily="34" charset="0"/>
                <a:ea typeface="Euclid Circular A" pitchFamily="34" charset="-122"/>
                <a:cs typeface="Euclid Circular A" pitchFamily="34" charset="-120"/>
              </a:rPr>
              <a:t>+00 </a:t>
            </a:r>
            <a:r>
              <a:rPr lang="en-US" sz="4350" kern="0" spc="-341" dirty="0">
                <a:solidFill>
                  <a:srgbClr val="DC216E"/>
                </a:solidFill>
                <a:latin typeface="Euclid Circular A" pitchFamily="34" charset="0"/>
                <a:ea typeface="Euclid Circular A" pitchFamily="34" charset="-122"/>
                <a:cs typeface="Euclid Circular A" pitchFamily="34" charset="-120"/>
              </a:rPr>
              <a:t>%</a:t>
            </a:r>
            <a:endParaRPr lang="en-US" sz="9750" dirty="0"/>
          </a:p>
        </p:txBody>
      </p:sp>
      <p:sp>
        <p:nvSpPr>
          <p:cNvPr id="22" name="Text 19"/>
          <p:cNvSpPr/>
          <p:nvPr/>
        </p:nvSpPr>
        <p:spPr>
          <a:xfrm>
            <a:off x="12610058" y="4722329"/>
            <a:ext cx="5072092"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Performance annualisée</a:t>
            </a:r>
            <a:endParaRPr lang="en-US" sz="2250" dirty="0"/>
          </a:p>
        </p:txBody>
      </p:sp>
      <p:sp>
        <p:nvSpPr>
          <p:cNvPr id="23" name="Text 20"/>
          <p:cNvSpPr/>
          <p:nvPr/>
        </p:nvSpPr>
        <p:spPr>
          <a:xfrm>
            <a:off x="12610058" y="5255729"/>
            <a:ext cx="3941469" cy="1195388"/>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2025" dirty="0">
                <a:solidFill>
                  <a:srgbClr val="0E3145">
                    <a:alpha val="66000"/>
                  </a:srgbClr>
                </a:solidFill>
                <a:latin typeface="Euclid Circular A" pitchFamily="34" charset="0"/>
                <a:ea typeface="Euclid Circular A" pitchFamily="34" charset="-122"/>
                <a:cs typeface="Euclid Circular A" pitchFamily="34" charset="-120"/>
              </a:rPr>
              <a:t>Légende : ce que représente cette progression sur la période.</a:t>
            </a:r>
            <a:endParaRPr lang="en-US" sz="2025" dirty="0"/>
          </a:p>
        </p:txBody>
      </p:sp>
      <p:sp>
        <p:nvSpPr>
          <p:cNvPr id="24" name="Text 21"/>
          <p:cNvSpPr/>
          <p:nvPr/>
        </p:nvSpPr>
        <p:spPr>
          <a:xfrm>
            <a:off x="12610058" y="6717816"/>
            <a:ext cx="1621557" cy="619125"/>
          </a:xfrm>
          <a:prstGeom prst="rect">
            <a:avLst/>
          </a:prstGeom>
          <a:noFill/>
          <a:ln/>
        </p:spPr>
        <p:txBody>
          <a:bodyPr wrap="square" lIns="25400" tIns="25400" rIns="25400" bIns="25400" rtlCol="0" anchor="t">
            <a:normAutofit/>
          </a:bodyPr>
          <a:lstStyle/>
          <a:p>
            <a:pPr marL="0" indent="0" algn="l">
              <a:buNone/>
            </a:pPr>
            <a:r>
              <a:rPr lang="en-US" sz="3600" kern="0" spc="-72" dirty="0">
                <a:solidFill>
                  <a:srgbClr val="0E3145"/>
                </a:solidFill>
                <a:latin typeface="Euclid Circular A" pitchFamily="34" charset="0"/>
                <a:ea typeface="Euclid Circular A" pitchFamily="34" charset="-122"/>
                <a:cs typeface="Euclid Circular A" pitchFamily="34" charset="-120"/>
              </a:rPr>
              <a:t>+00 %</a:t>
            </a:r>
            <a:endParaRPr lang="en-US" sz="3600" dirty="0"/>
          </a:p>
        </p:txBody>
      </p:sp>
      <p:sp>
        <p:nvSpPr>
          <p:cNvPr id="25" name="Text 22"/>
          <p:cNvSpPr/>
          <p:nvPr/>
        </p:nvSpPr>
        <p:spPr>
          <a:xfrm>
            <a:off x="12610058" y="7355991"/>
            <a:ext cx="1621557"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Sur la période</a:t>
            </a:r>
            <a:endParaRPr lang="en-US" sz="1800" dirty="0"/>
          </a:p>
        </p:txBody>
      </p:sp>
      <p:sp>
        <p:nvSpPr>
          <p:cNvPr id="26" name="Text 23"/>
          <p:cNvSpPr/>
          <p:nvPr/>
        </p:nvSpPr>
        <p:spPr>
          <a:xfrm>
            <a:off x="14503301" y="6717816"/>
            <a:ext cx="1506795" cy="619125"/>
          </a:xfrm>
          <a:prstGeom prst="rect">
            <a:avLst/>
          </a:prstGeom>
          <a:noFill/>
          <a:ln/>
        </p:spPr>
        <p:txBody>
          <a:bodyPr wrap="square" lIns="25400" tIns="25400" rIns="25400" bIns="25400" rtlCol="0" anchor="t">
            <a:normAutofit/>
          </a:bodyPr>
          <a:lstStyle/>
          <a:p>
            <a:pPr marL="0" indent="0" algn="l">
              <a:buNone/>
            </a:pPr>
            <a:r>
              <a:rPr lang="en-US" sz="3600" kern="0" spc="-72" dirty="0">
                <a:solidFill>
                  <a:srgbClr val="0E3145"/>
                </a:solidFill>
                <a:latin typeface="Euclid Circular A" pitchFamily="34" charset="0"/>
                <a:ea typeface="Euclid Circular A" pitchFamily="34" charset="-122"/>
                <a:cs typeface="Euclid Circular A" pitchFamily="34" charset="-120"/>
              </a:rPr>
              <a:t>00 ans</a:t>
            </a:r>
            <a:endParaRPr lang="en-US" sz="3600" dirty="0"/>
          </a:p>
        </p:txBody>
      </p:sp>
      <p:sp>
        <p:nvSpPr>
          <p:cNvPr id="27" name="Text 24"/>
          <p:cNvSpPr/>
          <p:nvPr/>
        </p:nvSpPr>
        <p:spPr>
          <a:xfrm>
            <a:off x="14503301" y="7355991"/>
            <a:ext cx="1506795"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Horizon</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2507605"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FICHE PRODUIT</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Présenter une </a:t>
            </a:r>
            <a:r>
              <a:rPr lang="en-US" sz="6150" kern="0" spc="-184" dirty="0">
                <a:solidFill>
                  <a:srgbClr val="DC216E"/>
                </a:solidFill>
                <a:latin typeface="Euclid Circular A" pitchFamily="34" charset="0"/>
                <a:ea typeface="Euclid Circular A" pitchFamily="34" charset="-122"/>
                <a:cs typeface="Euclid Circular A" pitchFamily="34" charset="-120"/>
              </a:rPr>
              <a:t>solution</a:t>
            </a:r>
            <a:endParaRPr lang="en-US" sz="6150" dirty="0"/>
          </a:p>
        </p:txBody>
      </p:sp>
      <p:sp>
        <p:nvSpPr>
          <p:cNvPr id="5" name="Shape 3"/>
          <p:cNvSpPr/>
          <p:nvPr/>
        </p:nvSpPr>
        <p:spPr>
          <a:xfrm>
            <a:off x="1066800" y="2362269"/>
            <a:ext cx="5524500" cy="6429375"/>
          </a:xfrm>
          <a:prstGeom prst="roundRect">
            <a:avLst>
              <a:gd name="adj" fmla="val 3103"/>
            </a:avLst>
          </a:prstGeom>
          <a:solidFill>
            <a:srgbClr val="FFFFFF"/>
          </a:solidFill>
          <a:ln w="9525">
            <a:solidFill>
              <a:srgbClr val="0E3145">
                <a:alpha val="12000"/>
              </a:srgbClr>
            </a:solidFill>
            <a:prstDash val="solid"/>
          </a:ln>
          <a:effectLst>
            <a:outerShdw blurRad="285750" dist="133350" dir="5400000" algn="bl" rotWithShape="0">
              <a:srgbClr val="0E3145">
                <a:alpha val="23992"/>
              </a:srgbClr>
            </a:outerShdw>
          </a:effectLst>
        </p:spPr>
        <p:txBody>
          <a:bodyPr/>
          <a:lstStyle/>
          <a:p>
            <a:endParaRPr lang="fr-FR"/>
          </a:p>
        </p:txBody>
      </p:sp>
      <p:sp>
        <p:nvSpPr>
          <p:cNvPr id="6" name="Shape 4"/>
          <p:cNvSpPr/>
          <p:nvPr/>
        </p:nvSpPr>
        <p:spPr>
          <a:xfrm>
            <a:off x="1495425" y="2790894"/>
            <a:ext cx="914400" cy="914400"/>
          </a:xfrm>
          <a:prstGeom prst="roundRect">
            <a:avLst>
              <a:gd name="adj" fmla="val 22917"/>
            </a:avLst>
          </a:prstGeom>
          <a:solidFill>
            <a:srgbClr val="DC216E">
              <a:alpha val="8000"/>
            </a:srgbClr>
          </a:solidFill>
          <a:ln w="9525">
            <a:solidFill>
              <a:srgbClr val="DC216E">
                <a:alpha val="22000"/>
              </a:srgbClr>
            </a:solidFill>
            <a:prstDash val="solid"/>
          </a:ln>
        </p:spPr>
        <p:txBody>
          <a:bodyPr/>
          <a:lstStyle/>
          <a:p>
            <a:endParaRPr lang="fr-FR"/>
          </a:p>
        </p:txBody>
      </p:sp>
      <p:pic>
        <p:nvPicPr>
          <p:cNvPr id="7" name="Image 0" descr="preencoded.png"/>
          <p:cNvPicPr>
            <a:picLocks noChangeAspect="1"/>
          </p:cNvPicPr>
          <p:nvPr/>
        </p:nvPicPr>
        <p:blipFill>
          <a:blip r:embed="rId3"/>
          <a:srcRect/>
          <a:stretch/>
        </p:blipFill>
        <p:spPr>
          <a:xfrm>
            <a:off x="1695450" y="2990919"/>
            <a:ext cx="514350" cy="514350"/>
          </a:xfrm>
          <a:prstGeom prst="rect">
            <a:avLst/>
          </a:prstGeom>
        </p:spPr>
      </p:pic>
      <p:sp>
        <p:nvSpPr>
          <p:cNvPr id="8" name="Shape 5"/>
          <p:cNvSpPr/>
          <p:nvPr/>
        </p:nvSpPr>
        <p:spPr>
          <a:xfrm>
            <a:off x="2638425" y="2800865"/>
            <a:ext cx="2658517" cy="400050"/>
          </a:xfrm>
          <a:prstGeom prst="roundRect">
            <a:avLst>
              <a:gd name="adj" fmla="val 50000"/>
            </a:avLst>
          </a:prstGeom>
          <a:solidFill>
            <a:srgbClr val="DC216E">
              <a:alpha val="8000"/>
            </a:srgbClr>
          </a:solidFill>
          <a:ln/>
        </p:spPr>
        <p:txBody>
          <a:bodyPr/>
          <a:lstStyle/>
          <a:p>
            <a:endParaRPr lang="fr-FR"/>
          </a:p>
        </p:txBody>
      </p:sp>
      <p:sp>
        <p:nvSpPr>
          <p:cNvPr id="9" name="Text 6"/>
          <p:cNvSpPr/>
          <p:nvPr/>
        </p:nvSpPr>
        <p:spPr>
          <a:xfrm>
            <a:off x="2790825" y="2858015"/>
            <a:ext cx="2433472"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16" dirty="0">
                <a:solidFill>
                  <a:srgbClr val="DC216E"/>
                </a:solidFill>
                <a:latin typeface="Euclid Circular A" pitchFamily="34" charset="0"/>
                <a:ea typeface="Euclid Circular A" pitchFamily="34" charset="-122"/>
                <a:cs typeface="Euclid Circular A" pitchFamily="34" charset="-120"/>
              </a:rPr>
              <a:t>TYPE DE PRODUIT</a:t>
            </a:r>
            <a:endParaRPr lang="en-US" sz="1800" dirty="0"/>
          </a:p>
        </p:txBody>
      </p:sp>
      <p:sp>
        <p:nvSpPr>
          <p:cNvPr id="10" name="Text 7"/>
          <p:cNvSpPr/>
          <p:nvPr/>
        </p:nvSpPr>
        <p:spPr>
          <a:xfrm>
            <a:off x="2638425" y="3315215"/>
            <a:ext cx="2924368" cy="418058"/>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2850" kern="0" spc="-43" dirty="0">
                <a:solidFill>
                  <a:srgbClr val="0E3145"/>
                </a:solidFill>
                <a:latin typeface="Euclid Circular A" pitchFamily="34" charset="0"/>
                <a:ea typeface="Euclid Circular A" pitchFamily="34" charset="-122"/>
                <a:cs typeface="Euclid Circular A" pitchFamily="34" charset="-120"/>
              </a:rPr>
              <a:t>Nom du contrat</a:t>
            </a:r>
            <a:endParaRPr lang="en-US" sz="2850" dirty="0"/>
          </a:p>
        </p:txBody>
      </p:sp>
      <p:sp>
        <p:nvSpPr>
          <p:cNvPr id="11" name="Shape 8"/>
          <p:cNvSpPr/>
          <p:nvPr/>
        </p:nvSpPr>
        <p:spPr>
          <a:xfrm>
            <a:off x="1495425" y="4029144"/>
            <a:ext cx="4667250" cy="9525"/>
          </a:xfrm>
          <a:prstGeom prst="rect">
            <a:avLst/>
          </a:prstGeom>
          <a:solidFill>
            <a:srgbClr val="0E3145">
              <a:alpha val="12000"/>
            </a:srgbClr>
          </a:solidFill>
          <a:ln/>
        </p:spPr>
        <p:txBody>
          <a:bodyPr/>
          <a:lstStyle/>
          <a:p>
            <a:endParaRPr lang="fr-FR"/>
          </a:p>
        </p:txBody>
      </p:sp>
      <p:sp>
        <p:nvSpPr>
          <p:cNvPr id="12" name="Text 9"/>
          <p:cNvSpPr/>
          <p:nvPr/>
        </p:nvSpPr>
        <p:spPr>
          <a:xfrm>
            <a:off x="1495425" y="4257744"/>
            <a:ext cx="1201192"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Enveloppe</a:t>
            </a:r>
            <a:endParaRPr lang="en-US" sz="1800" dirty="0"/>
          </a:p>
        </p:txBody>
      </p:sp>
      <p:sp>
        <p:nvSpPr>
          <p:cNvPr id="13" name="Text 10"/>
          <p:cNvSpPr/>
          <p:nvPr/>
        </p:nvSpPr>
        <p:spPr>
          <a:xfrm>
            <a:off x="4884093" y="4219644"/>
            <a:ext cx="1406441"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À préciser</a:t>
            </a:r>
            <a:endParaRPr lang="en-US" sz="2100" dirty="0"/>
          </a:p>
        </p:txBody>
      </p:sp>
      <p:sp>
        <p:nvSpPr>
          <p:cNvPr id="14" name="Shape 11"/>
          <p:cNvSpPr/>
          <p:nvPr/>
        </p:nvSpPr>
        <p:spPr>
          <a:xfrm>
            <a:off x="1495425" y="4743519"/>
            <a:ext cx="4667250" cy="9525"/>
          </a:xfrm>
          <a:prstGeom prst="rect">
            <a:avLst/>
          </a:prstGeom>
          <a:solidFill>
            <a:srgbClr val="0E3145">
              <a:alpha val="12000"/>
            </a:srgbClr>
          </a:solidFill>
          <a:ln/>
        </p:spPr>
        <p:txBody>
          <a:bodyPr/>
          <a:lstStyle/>
          <a:p>
            <a:endParaRPr lang="fr-FR"/>
          </a:p>
        </p:txBody>
      </p:sp>
      <p:sp>
        <p:nvSpPr>
          <p:cNvPr id="15" name="Text 12"/>
          <p:cNvSpPr/>
          <p:nvPr/>
        </p:nvSpPr>
        <p:spPr>
          <a:xfrm>
            <a:off x="1495425" y="4972119"/>
            <a:ext cx="1032718"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Supports</a:t>
            </a:r>
            <a:endParaRPr lang="en-US" sz="1800" dirty="0"/>
          </a:p>
        </p:txBody>
      </p:sp>
      <p:sp>
        <p:nvSpPr>
          <p:cNvPr id="16" name="Text 13"/>
          <p:cNvSpPr/>
          <p:nvPr/>
        </p:nvSpPr>
        <p:spPr>
          <a:xfrm>
            <a:off x="4462165" y="4934019"/>
            <a:ext cx="1870561"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Fonds € + UC</a:t>
            </a:r>
            <a:endParaRPr lang="en-US" sz="2100" dirty="0"/>
          </a:p>
        </p:txBody>
      </p:sp>
      <p:sp>
        <p:nvSpPr>
          <p:cNvPr id="17" name="Shape 14"/>
          <p:cNvSpPr/>
          <p:nvPr/>
        </p:nvSpPr>
        <p:spPr>
          <a:xfrm>
            <a:off x="1495425" y="5457894"/>
            <a:ext cx="4667250" cy="9525"/>
          </a:xfrm>
          <a:prstGeom prst="rect">
            <a:avLst/>
          </a:prstGeom>
          <a:solidFill>
            <a:srgbClr val="0E3145">
              <a:alpha val="12000"/>
            </a:srgbClr>
          </a:solidFill>
          <a:ln/>
        </p:spPr>
        <p:txBody>
          <a:bodyPr/>
          <a:lstStyle/>
          <a:p>
            <a:endParaRPr lang="fr-FR"/>
          </a:p>
        </p:txBody>
      </p:sp>
      <p:sp>
        <p:nvSpPr>
          <p:cNvPr id="18" name="Text 15"/>
          <p:cNvSpPr/>
          <p:nvPr/>
        </p:nvSpPr>
        <p:spPr>
          <a:xfrm>
            <a:off x="1495425" y="5686494"/>
            <a:ext cx="2010698"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Horizon conseillé</a:t>
            </a:r>
            <a:endParaRPr lang="en-US" sz="1800" dirty="0"/>
          </a:p>
        </p:txBody>
      </p:sp>
      <p:sp>
        <p:nvSpPr>
          <p:cNvPr id="19" name="Text 16"/>
          <p:cNvSpPr/>
          <p:nvPr/>
        </p:nvSpPr>
        <p:spPr>
          <a:xfrm>
            <a:off x="5136654" y="5648394"/>
            <a:ext cx="1102221"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00 ans +</a:t>
            </a:r>
            <a:endParaRPr lang="en-US" sz="2100" dirty="0"/>
          </a:p>
        </p:txBody>
      </p:sp>
      <p:sp>
        <p:nvSpPr>
          <p:cNvPr id="20" name="Shape 17"/>
          <p:cNvSpPr/>
          <p:nvPr/>
        </p:nvSpPr>
        <p:spPr>
          <a:xfrm>
            <a:off x="1495425" y="6172269"/>
            <a:ext cx="4667250" cy="9525"/>
          </a:xfrm>
          <a:prstGeom prst="rect">
            <a:avLst/>
          </a:prstGeom>
          <a:solidFill>
            <a:srgbClr val="0E3145">
              <a:alpha val="12000"/>
            </a:srgbClr>
          </a:solidFill>
          <a:ln/>
        </p:spPr>
        <p:txBody>
          <a:bodyPr/>
          <a:lstStyle/>
          <a:p>
            <a:endParaRPr lang="fr-FR"/>
          </a:p>
        </p:txBody>
      </p:sp>
      <p:sp>
        <p:nvSpPr>
          <p:cNvPr id="21" name="Text 18"/>
          <p:cNvSpPr/>
          <p:nvPr/>
        </p:nvSpPr>
        <p:spPr>
          <a:xfrm>
            <a:off x="1495425" y="6400869"/>
            <a:ext cx="1454735"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Disponibilité</a:t>
            </a:r>
            <a:endParaRPr lang="en-US" sz="1800" dirty="0"/>
          </a:p>
        </p:txBody>
      </p:sp>
      <p:sp>
        <p:nvSpPr>
          <p:cNvPr id="22" name="Text 19"/>
          <p:cNvSpPr/>
          <p:nvPr/>
        </p:nvSpPr>
        <p:spPr>
          <a:xfrm>
            <a:off x="4884093" y="6362769"/>
            <a:ext cx="1406441"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À préciser</a:t>
            </a:r>
            <a:endParaRPr lang="en-US" sz="2100" dirty="0"/>
          </a:p>
        </p:txBody>
      </p:sp>
      <p:sp>
        <p:nvSpPr>
          <p:cNvPr id="23" name="Shape 20"/>
          <p:cNvSpPr/>
          <p:nvPr/>
        </p:nvSpPr>
        <p:spPr>
          <a:xfrm>
            <a:off x="1495425" y="7601019"/>
            <a:ext cx="4667250" cy="9525"/>
          </a:xfrm>
          <a:prstGeom prst="rect">
            <a:avLst/>
          </a:prstGeom>
          <a:solidFill>
            <a:srgbClr val="0E3145">
              <a:alpha val="12000"/>
            </a:srgbClr>
          </a:solidFill>
          <a:ln/>
        </p:spPr>
        <p:txBody>
          <a:bodyPr/>
          <a:lstStyle/>
          <a:p>
            <a:endParaRPr lang="fr-FR"/>
          </a:p>
        </p:txBody>
      </p:sp>
      <p:sp>
        <p:nvSpPr>
          <p:cNvPr id="24" name="Shape 21"/>
          <p:cNvSpPr/>
          <p:nvPr/>
        </p:nvSpPr>
        <p:spPr>
          <a:xfrm>
            <a:off x="1495425" y="6886644"/>
            <a:ext cx="4667250" cy="9525"/>
          </a:xfrm>
          <a:prstGeom prst="rect">
            <a:avLst/>
          </a:prstGeom>
          <a:solidFill>
            <a:srgbClr val="0E3145">
              <a:alpha val="12000"/>
            </a:srgbClr>
          </a:solidFill>
          <a:ln/>
        </p:spPr>
        <p:txBody>
          <a:bodyPr/>
          <a:lstStyle/>
          <a:p>
            <a:endParaRPr lang="fr-FR"/>
          </a:p>
        </p:txBody>
      </p:sp>
      <p:sp>
        <p:nvSpPr>
          <p:cNvPr id="25" name="Text 22"/>
          <p:cNvSpPr/>
          <p:nvPr/>
        </p:nvSpPr>
        <p:spPr>
          <a:xfrm>
            <a:off x="1495425" y="7115244"/>
            <a:ext cx="960983"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Fiscalité</a:t>
            </a:r>
            <a:endParaRPr lang="en-US" sz="1800" dirty="0"/>
          </a:p>
        </p:txBody>
      </p:sp>
      <p:sp>
        <p:nvSpPr>
          <p:cNvPr id="26" name="Text 23"/>
          <p:cNvSpPr/>
          <p:nvPr/>
        </p:nvSpPr>
        <p:spPr>
          <a:xfrm>
            <a:off x="4474964" y="7077144"/>
            <a:ext cx="1856482" cy="381000"/>
          </a:xfrm>
          <a:prstGeom prst="rect">
            <a:avLst/>
          </a:prstGeom>
          <a:noFill/>
          <a:ln/>
        </p:spPr>
        <p:txBody>
          <a:bodyPr wrap="square" lIns="25400" tIns="25400" rIns="25400" bIns="25400" rtlCol="0" anchor="t">
            <a:normAutofit/>
          </a:bodyPr>
          <a:lstStyle/>
          <a:p>
            <a:pPr marL="0" indent="0" algn="l">
              <a:buNone/>
            </a:pPr>
            <a:r>
              <a:rPr lang="en-US" sz="2100" dirty="0">
                <a:solidFill>
                  <a:srgbClr val="0E3145"/>
                </a:solidFill>
                <a:latin typeface="Euclid Circular A" pitchFamily="34" charset="0"/>
                <a:ea typeface="Euclid Circular A" pitchFamily="34" charset="-122"/>
                <a:cs typeface="Euclid Circular A" pitchFamily="34" charset="-120"/>
              </a:rPr>
              <a:t>Avantageuse</a:t>
            </a:r>
            <a:endParaRPr lang="en-US" sz="2100" dirty="0"/>
          </a:p>
        </p:txBody>
      </p:sp>
      <p:sp>
        <p:nvSpPr>
          <p:cNvPr id="27" name="Text 24"/>
          <p:cNvSpPr/>
          <p:nvPr/>
        </p:nvSpPr>
        <p:spPr>
          <a:xfrm>
            <a:off x="7277100" y="3604780"/>
            <a:ext cx="1093851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EN BREF</a:t>
            </a:r>
            <a:endParaRPr lang="en-US" sz="1800" dirty="0"/>
          </a:p>
        </p:txBody>
      </p:sp>
      <p:sp>
        <p:nvSpPr>
          <p:cNvPr id="28" name="Text 25"/>
          <p:cNvSpPr/>
          <p:nvPr/>
        </p:nvSpPr>
        <p:spPr>
          <a:xfrm>
            <a:off x="7277100" y="4061980"/>
            <a:ext cx="8996918" cy="921842"/>
          </a:xfrm>
          <a:prstGeom prst="rect">
            <a:avLst/>
          </a:prstGeom>
          <a:noFill/>
          <a:ln/>
        </p:spPr>
        <p:txBody>
          <a:bodyPr wrap="square" lIns="25400" tIns="25400" rIns="25400" bIns="25400" rtlCol="0" anchor="t">
            <a:normAutofit fontScale="92500" lnSpcReduction="10000"/>
          </a:bodyPr>
          <a:lstStyle/>
          <a:p>
            <a:pPr marL="0" indent="0" algn="l">
              <a:lnSpc>
                <a:spcPct val="145000"/>
              </a:lnSpc>
              <a:buNone/>
            </a:pPr>
            <a:r>
              <a:rPr lang="en-US" sz="2400" dirty="0">
                <a:solidFill>
                  <a:srgbClr val="0E3145"/>
                </a:solidFill>
                <a:latin typeface="Euclid Circular A" pitchFamily="34" charset="0"/>
                <a:ea typeface="Euclid Circular A" pitchFamily="34" charset="-122"/>
                <a:cs typeface="Euclid Circular A" pitchFamily="34" charset="-120"/>
              </a:rPr>
              <a:t>Décrivez en deux phrases l'intérêt principal du produit et le profil d'épargnant auquel il s'adresse.</a:t>
            </a:r>
            <a:endParaRPr lang="en-US" sz="2400" dirty="0"/>
          </a:p>
        </p:txBody>
      </p:sp>
      <p:sp>
        <p:nvSpPr>
          <p:cNvPr id="29" name="Shape 26"/>
          <p:cNvSpPr/>
          <p:nvPr/>
        </p:nvSpPr>
        <p:spPr>
          <a:xfrm>
            <a:off x="7277100" y="5288621"/>
            <a:ext cx="3162300" cy="1409700"/>
          </a:xfrm>
          <a:prstGeom prst="roundRect">
            <a:avLst>
              <a:gd name="adj" fmla="val 8108"/>
            </a:avLst>
          </a:prstGeom>
          <a:solidFill>
            <a:schemeClr val="accent6"/>
          </a:solidFill>
          <a:ln w="9525">
            <a:solidFill>
              <a:srgbClr val="0E3145">
                <a:alpha val="12000"/>
              </a:srgbClr>
            </a:solidFill>
            <a:prstDash val="solid"/>
          </a:ln>
          <a:effectLst>
            <a:outerShdw blurRad="50800" dist="38100" dir="5400000" algn="t" rotWithShape="0">
              <a:prstClr val="black">
                <a:alpha val="40000"/>
              </a:prstClr>
            </a:outerShdw>
          </a:effectLst>
        </p:spPr>
        <p:txBody>
          <a:bodyPr/>
          <a:lstStyle/>
          <a:p>
            <a:endParaRPr lang="fr-FR"/>
          </a:p>
        </p:txBody>
      </p:sp>
      <p:sp>
        <p:nvSpPr>
          <p:cNvPr id="30" name="Text 27"/>
          <p:cNvSpPr/>
          <p:nvPr/>
        </p:nvSpPr>
        <p:spPr>
          <a:xfrm>
            <a:off x="7553325" y="5545796"/>
            <a:ext cx="2870835" cy="5524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050" kern="0" spc="-122" dirty="0">
                <a:solidFill>
                  <a:srgbClr val="DC216E"/>
                </a:solidFill>
                <a:latin typeface="Euclid Circular A" pitchFamily="34" charset="0"/>
                <a:ea typeface="Euclid Circular A" pitchFamily="34" charset="-122"/>
                <a:cs typeface="Euclid Circular A" pitchFamily="34" charset="-120"/>
              </a:rPr>
              <a:t>0 %</a:t>
            </a:r>
            <a:endParaRPr lang="en-US" sz="4050" dirty="0"/>
          </a:p>
        </p:txBody>
      </p:sp>
      <p:sp>
        <p:nvSpPr>
          <p:cNvPr id="31" name="Text 28"/>
          <p:cNvSpPr/>
          <p:nvPr/>
        </p:nvSpPr>
        <p:spPr>
          <a:xfrm>
            <a:off x="7553325" y="6155396"/>
            <a:ext cx="2870835"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Frais de gestion</a:t>
            </a:r>
            <a:endParaRPr lang="en-US" sz="1800" dirty="0"/>
          </a:p>
        </p:txBody>
      </p:sp>
      <p:sp>
        <p:nvSpPr>
          <p:cNvPr id="32" name="Shape 29"/>
          <p:cNvSpPr/>
          <p:nvPr/>
        </p:nvSpPr>
        <p:spPr>
          <a:xfrm>
            <a:off x="10668000" y="5288621"/>
            <a:ext cx="3162300" cy="1409700"/>
          </a:xfrm>
          <a:prstGeom prst="roundRect">
            <a:avLst>
              <a:gd name="adj" fmla="val 8108"/>
            </a:avLst>
          </a:prstGeom>
          <a:solidFill>
            <a:schemeClr val="accent6"/>
          </a:solidFill>
          <a:ln w="9525">
            <a:solidFill>
              <a:srgbClr val="0E3145">
                <a:alpha val="12000"/>
              </a:srgbClr>
            </a:solidFill>
            <a:prstDash val="solid"/>
          </a:ln>
          <a:effectLst>
            <a:outerShdw blurRad="50800" dist="38100" dir="5400000" algn="t" rotWithShape="0">
              <a:prstClr val="black">
                <a:alpha val="40000"/>
              </a:prstClr>
            </a:outerShdw>
          </a:effectLst>
        </p:spPr>
        <p:txBody>
          <a:bodyPr/>
          <a:lstStyle/>
          <a:p>
            <a:endParaRPr lang="fr-FR"/>
          </a:p>
        </p:txBody>
      </p:sp>
      <p:sp>
        <p:nvSpPr>
          <p:cNvPr id="33" name="Text 30"/>
          <p:cNvSpPr/>
          <p:nvPr/>
        </p:nvSpPr>
        <p:spPr>
          <a:xfrm>
            <a:off x="10944225" y="5545796"/>
            <a:ext cx="2870835" cy="5524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050" kern="0" spc="-122" dirty="0">
                <a:solidFill>
                  <a:srgbClr val="DC216E"/>
                </a:solidFill>
                <a:latin typeface="Euclid Circular A" pitchFamily="34" charset="0"/>
                <a:ea typeface="Euclid Circular A" pitchFamily="34" charset="-122"/>
                <a:cs typeface="Euclid Circular A" pitchFamily="34" charset="-120"/>
              </a:rPr>
              <a:t>0 %</a:t>
            </a:r>
            <a:endParaRPr lang="en-US" sz="4050" dirty="0"/>
          </a:p>
        </p:txBody>
      </p:sp>
      <p:sp>
        <p:nvSpPr>
          <p:cNvPr id="34" name="Text 31"/>
          <p:cNvSpPr/>
          <p:nvPr/>
        </p:nvSpPr>
        <p:spPr>
          <a:xfrm>
            <a:off x="10944225" y="6155396"/>
            <a:ext cx="2870835"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Rendement fonds €</a:t>
            </a:r>
            <a:endParaRPr lang="en-US" sz="1800" dirty="0"/>
          </a:p>
        </p:txBody>
      </p:sp>
      <p:sp>
        <p:nvSpPr>
          <p:cNvPr id="35" name="Shape 32"/>
          <p:cNvSpPr/>
          <p:nvPr/>
        </p:nvSpPr>
        <p:spPr>
          <a:xfrm>
            <a:off x="14058900" y="5288621"/>
            <a:ext cx="3162300" cy="1409700"/>
          </a:xfrm>
          <a:prstGeom prst="roundRect">
            <a:avLst>
              <a:gd name="adj" fmla="val 8108"/>
            </a:avLst>
          </a:prstGeom>
          <a:solidFill>
            <a:schemeClr val="accent6"/>
          </a:solidFill>
          <a:ln w="9525">
            <a:solidFill>
              <a:srgbClr val="0E3145">
                <a:alpha val="12000"/>
              </a:srgbClr>
            </a:solidFill>
            <a:prstDash val="solid"/>
          </a:ln>
          <a:effectLst>
            <a:outerShdw blurRad="50800" dist="38100" dir="5400000" algn="t" rotWithShape="0">
              <a:prstClr val="black">
                <a:alpha val="40000"/>
              </a:prstClr>
            </a:outerShdw>
          </a:effectLst>
        </p:spPr>
        <p:txBody>
          <a:bodyPr/>
          <a:lstStyle/>
          <a:p>
            <a:endParaRPr lang="fr-FR"/>
          </a:p>
        </p:txBody>
      </p:sp>
      <p:sp>
        <p:nvSpPr>
          <p:cNvPr id="36" name="Text 33"/>
          <p:cNvSpPr/>
          <p:nvPr/>
        </p:nvSpPr>
        <p:spPr>
          <a:xfrm>
            <a:off x="14335125" y="5545796"/>
            <a:ext cx="2870835" cy="5524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050" kern="0" spc="-122" dirty="0">
                <a:solidFill>
                  <a:srgbClr val="DC216E"/>
                </a:solidFill>
                <a:latin typeface="Euclid Circular A" pitchFamily="34" charset="0"/>
                <a:ea typeface="Euclid Circular A" pitchFamily="34" charset="-122"/>
                <a:cs typeface="Euclid Circular A" pitchFamily="34" charset="-120"/>
              </a:rPr>
              <a:t>000 €</a:t>
            </a:r>
            <a:endParaRPr lang="en-US" sz="4050" dirty="0"/>
          </a:p>
        </p:txBody>
      </p:sp>
      <p:sp>
        <p:nvSpPr>
          <p:cNvPr id="37" name="Text 34"/>
          <p:cNvSpPr/>
          <p:nvPr/>
        </p:nvSpPr>
        <p:spPr>
          <a:xfrm>
            <a:off x="14335125" y="6155396"/>
            <a:ext cx="2870835"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Versement initial</a:t>
            </a:r>
            <a:endParaRPr lang="en-US" sz="1800" dirty="0"/>
          </a:p>
        </p:txBody>
      </p:sp>
      <p:sp>
        <p:nvSpPr>
          <p:cNvPr id="38" name="Shape 35"/>
          <p:cNvSpPr/>
          <p:nvPr/>
        </p:nvSpPr>
        <p:spPr>
          <a:xfrm>
            <a:off x="7277100" y="7041221"/>
            <a:ext cx="1711226" cy="514350"/>
          </a:xfrm>
          <a:prstGeom prst="roundRect">
            <a:avLst>
              <a:gd name="adj" fmla="val 50000"/>
            </a:avLst>
          </a:prstGeom>
          <a:ln w="9525">
            <a:solidFill>
              <a:srgbClr val="0E3145">
                <a:alpha val="24000"/>
              </a:srgbClr>
            </a:solidFill>
            <a:prstDash val="solid"/>
          </a:ln>
        </p:spPr>
        <p:txBody>
          <a:bodyPr/>
          <a:lstStyle/>
          <a:p>
            <a:endParaRPr lang="fr-FR"/>
          </a:p>
        </p:txBody>
      </p:sp>
      <p:sp>
        <p:nvSpPr>
          <p:cNvPr id="39" name="Shape 36"/>
          <p:cNvSpPr/>
          <p:nvPr/>
        </p:nvSpPr>
        <p:spPr>
          <a:xfrm>
            <a:off x="7496175" y="7212671"/>
            <a:ext cx="171450" cy="171450"/>
          </a:xfrm>
          <a:prstGeom prst="ellipse">
            <a:avLst/>
          </a:prstGeom>
          <a:solidFill>
            <a:srgbClr val="DC216E"/>
          </a:solidFill>
          <a:ln/>
        </p:spPr>
        <p:txBody>
          <a:bodyPr/>
          <a:lstStyle/>
          <a:p>
            <a:endParaRPr lang="fr-FR"/>
          </a:p>
        </p:txBody>
      </p:sp>
      <p:sp>
        <p:nvSpPr>
          <p:cNvPr id="40" name="Text 37"/>
          <p:cNvSpPr/>
          <p:nvPr/>
        </p:nvSpPr>
        <p:spPr>
          <a:xfrm>
            <a:off x="7458075" y="7195611"/>
            <a:ext cx="247650" cy="209550"/>
          </a:xfrm>
          <a:prstGeom prst="rect">
            <a:avLst/>
          </a:prstGeom>
          <a:noFill/>
          <a:ln/>
        </p:spPr>
        <p:txBody>
          <a:bodyPr wrap="square" lIns="25400" tIns="25400" rIns="25400" bIns="25400" rtlCol="0" anchor="ctr">
            <a:normAutofit/>
          </a:bodyPr>
          <a:lstStyle/>
          <a:p>
            <a:pPr marL="0" indent="0" algn="ctr">
              <a:buNone/>
            </a:pPr>
            <a:r>
              <a:rPr lang="en-US" sz="975" dirty="0">
                <a:solidFill>
                  <a:srgbClr val="FFFFFF"/>
                </a:solidFill>
                <a:latin typeface="Euclid Circular A" pitchFamily="34" charset="0"/>
                <a:ea typeface="Euclid Circular A" pitchFamily="34" charset="-122"/>
                <a:cs typeface="Euclid Circular A" pitchFamily="34" charset="-120"/>
              </a:rPr>
              <a:t>✓</a:t>
            </a:r>
            <a:endParaRPr lang="en-US" sz="975" dirty="0"/>
          </a:p>
        </p:txBody>
      </p:sp>
      <p:sp>
        <p:nvSpPr>
          <p:cNvPr id="41" name="Text 38"/>
          <p:cNvSpPr/>
          <p:nvPr/>
        </p:nvSpPr>
        <p:spPr>
          <a:xfrm>
            <a:off x="7762875" y="7155521"/>
            <a:ext cx="1082576" cy="323850"/>
          </a:xfrm>
          <a:prstGeom prst="rect">
            <a:avLst/>
          </a:prstGeom>
          <a:noFill/>
          <a:ln/>
        </p:spPr>
        <p:txBody>
          <a:bodyPr wrap="square" lIns="0" tIns="0" rIns="0" bIns="0" rtlCol="0" anchor="t">
            <a:normAutofit/>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Point fort</a:t>
            </a:r>
            <a:endParaRPr lang="en-US" sz="1800" dirty="0"/>
          </a:p>
        </p:txBody>
      </p:sp>
      <p:sp>
        <p:nvSpPr>
          <p:cNvPr id="42" name="Shape 39"/>
          <p:cNvSpPr/>
          <p:nvPr/>
        </p:nvSpPr>
        <p:spPr>
          <a:xfrm>
            <a:off x="9102626" y="7041221"/>
            <a:ext cx="1711226" cy="514350"/>
          </a:xfrm>
          <a:prstGeom prst="roundRect">
            <a:avLst>
              <a:gd name="adj" fmla="val 50000"/>
            </a:avLst>
          </a:prstGeom>
          <a:ln w="9525">
            <a:solidFill>
              <a:srgbClr val="0E3145">
                <a:alpha val="24000"/>
              </a:srgbClr>
            </a:solidFill>
            <a:prstDash val="solid"/>
          </a:ln>
        </p:spPr>
        <p:txBody>
          <a:bodyPr/>
          <a:lstStyle/>
          <a:p>
            <a:endParaRPr lang="fr-FR"/>
          </a:p>
        </p:txBody>
      </p:sp>
      <p:sp>
        <p:nvSpPr>
          <p:cNvPr id="43" name="Shape 40"/>
          <p:cNvSpPr/>
          <p:nvPr/>
        </p:nvSpPr>
        <p:spPr>
          <a:xfrm>
            <a:off x="9321701" y="7212671"/>
            <a:ext cx="171450" cy="171450"/>
          </a:xfrm>
          <a:prstGeom prst="ellipse">
            <a:avLst/>
          </a:prstGeom>
          <a:solidFill>
            <a:srgbClr val="DC216E"/>
          </a:solidFill>
          <a:ln/>
        </p:spPr>
        <p:txBody>
          <a:bodyPr/>
          <a:lstStyle/>
          <a:p>
            <a:endParaRPr lang="fr-FR"/>
          </a:p>
        </p:txBody>
      </p:sp>
      <p:sp>
        <p:nvSpPr>
          <p:cNvPr id="44" name="Text 41"/>
          <p:cNvSpPr/>
          <p:nvPr/>
        </p:nvSpPr>
        <p:spPr>
          <a:xfrm>
            <a:off x="9283601" y="7199023"/>
            <a:ext cx="247650" cy="209550"/>
          </a:xfrm>
          <a:prstGeom prst="rect">
            <a:avLst/>
          </a:prstGeom>
          <a:noFill/>
          <a:ln/>
        </p:spPr>
        <p:txBody>
          <a:bodyPr wrap="square" lIns="25400" tIns="25400" rIns="25400" bIns="25400" rtlCol="0" anchor="ctr">
            <a:normAutofit/>
          </a:bodyPr>
          <a:lstStyle/>
          <a:p>
            <a:pPr marL="0" indent="0" algn="ctr">
              <a:buNone/>
            </a:pPr>
            <a:r>
              <a:rPr lang="en-US" sz="975" dirty="0">
                <a:solidFill>
                  <a:srgbClr val="FFFFFF"/>
                </a:solidFill>
                <a:latin typeface="Euclid Circular A" pitchFamily="34" charset="0"/>
                <a:ea typeface="Euclid Circular A" pitchFamily="34" charset="-122"/>
                <a:cs typeface="Euclid Circular A" pitchFamily="34" charset="-120"/>
              </a:rPr>
              <a:t>✓</a:t>
            </a:r>
            <a:endParaRPr lang="en-US" sz="975" dirty="0"/>
          </a:p>
        </p:txBody>
      </p:sp>
      <p:sp>
        <p:nvSpPr>
          <p:cNvPr id="45" name="Text 42"/>
          <p:cNvSpPr/>
          <p:nvPr/>
        </p:nvSpPr>
        <p:spPr>
          <a:xfrm>
            <a:off x="9588401" y="7155521"/>
            <a:ext cx="1082576" cy="323850"/>
          </a:xfrm>
          <a:prstGeom prst="rect">
            <a:avLst/>
          </a:prstGeom>
          <a:noFill/>
          <a:ln/>
        </p:spPr>
        <p:txBody>
          <a:bodyPr wrap="square" lIns="0" tIns="0" rIns="0" bIns="0" rtlCol="0" anchor="t">
            <a:normAutofit/>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Point fort</a:t>
            </a:r>
            <a:endParaRPr lang="en-US" sz="1800" dirty="0"/>
          </a:p>
        </p:txBody>
      </p:sp>
      <p:sp>
        <p:nvSpPr>
          <p:cNvPr id="46" name="Shape 43"/>
          <p:cNvSpPr/>
          <p:nvPr/>
        </p:nvSpPr>
        <p:spPr>
          <a:xfrm>
            <a:off x="10928152" y="7041221"/>
            <a:ext cx="1711226" cy="514350"/>
          </a:xfrm>
          <a:prstGeom prst="roundRect">
            <a:avLst>
              <a:gd name="adj" fmla="val 50000"/>
            </a:avLst>
          </a:prstGeom>
          <a:ln w="9525">
            <a:solidFill>
              <a:srgbClr val="0E3145">
                <a:alpha val="24000"/>
              </a:srgbClr>
            </a:solidFill>
            <a:prstDash val="solid"/>
          </a:ln>
        </p:spPr>
        <p:txBody>
          <a:bodyPr/>
          <a:lstStyle/>
          <a:p>
            <a:endParaRPr lang="fr-FR"/>
          </a:p>
        </p:txBody>
      </p:sp>
      <p:sp>
        <p:nvSpPr>
          <p:cNvPr id="47" name="Shape 44"/>
          <p:cNvSpPr/>
          <p:nvPr/>
        </p:nvSpPr>
        <p:spPr>
          <a:xfrm>
            <a:off x="11147227" y="7212671"/>
            <a:ext cx="171450" cy="171450"/>
          </a:xfrm>
          <a:prstGeom prst="ellipse">
            <a:avLst/>
          </a:prstGeom>
          <a:solidFill>
            <a:srgbClr val="DC216E"/>
          </a:solidFill>
          <a:ln/>
        </p:spPr>
        <p:txBody>
          <a:bodyPr/>
          <a:lstStyle/>
          <a:p>
            <a:endParaRPr lang="fr-FR"/>
          </a:p>
        </p:txBody>
      </p:sp>
      <p:sp>
        <p:nvSpPr>
          <p:cNvPr id="48" name="Text 45"/>
          <p:cNvSpPr/>
          <p:nvPr/>
        </p:nvSpPr>
        <p:spPr>
          <a:xfrm>
            <a:off x="11109127" y="7199023"/>
            <a:ext cx="247650" cy="209550"/>
          </a:xfrm>
          <a:prstGeom prst="rect">
            <a:avLst/>
          </a:prstGeom>
          <a:noFill/>
          <a:ln/>
        </p:spPr>
        <p:txBody>
          <a:bodyPr wrap="square" lIns="25400" tIns="25400" rIns="25400" bIns="25400" rtlCol="0" anchor="ctr">
            <a:normAutofit/>
          </a:bodyPr>
          <a:lstStyle/>
          <a:p>
            <a:pPr marL="0" indent="0" algn="ctr">
              <a:buNone/>
            </a:pPr>
            <a:r>
              <a:rPr lang="en-US" sz="975" dirty="0">
                <a:solidFill>
                  <a:srgbClr val="FFFFFF"/>
                </a:solidFill>
                <a:latin typeface="Euclid Circular A" pitchFamily="34" charset="0"/>
                <a:ea typeface="Euclid Circular A" pitchFamily="34" charset="-122"/>
                <a:cs typeface="Euclid Circular A" pitchFamily="34" charset="-120"/>
              </a:rPr>
              <a:t>✓</a:t>
            </a:r>
            <a:endParaRPr lang="en-US" sz="975" dirty="0"/>
          </a:p>
        </p:txBody>
      </p:sp>
      <p:sp>
        <p:nvSpPr>
          <p:cNvPr id="49" name="Text 46"/>
          <p:cNvSpPr/>
          <p:nvPr/>
        </p:nvSpPr>
        <p:spPr>
          <a:xfrm>
            <a:off x="11413927" y="7155521"/>
            <a:ext cx="1082576" cy="323850"/>
          </a:xfrm>
          <a:prstGeom prst="rect">
            <a:avLst/>
          </a:prstGeom>
          <a:noFill/>
          <a:ln/>
        </p:spPr>
        <p:txBody>
          <a:bodyPr wrap="square" lIns="0" tIns="0" rIns="0" bIns="0" rtlCol="0" anchor="t">
            <a:normAutofit/>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Point fort</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1697534"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FISCALITÉ</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Décomposition de l'</a:t>
            </a:r>
            <a:r>
              <a:rPr lang="en-US" sz="6150" kern="0" spc="-184" dirty="0">
                <a:solidFill>
                  <a:srgbClr val="DC216E"/>
                </a:solidFill>
                <a:latin typeface="Euclid Circular A" pitchFamily="34" charset="0"/>
                <a:ea typeface="Euclid Circular A" pitchFamily="34" charset="-122"/>
                <a:cs typeface="Euclid Circular A" pitchFamily="34" charset="-120"/>
              </a:rPr>
              <a:t>imposition</a:t>
            </a:r>
            <a:endParaRPr lang="en-US" sz="6150" dirty="0"/>
          </a:p>
        </p:txBody>
      </p:sp>
      <p:sp>
        <p:nvSpPr>
          <p:cNvPr id="5" name="Shape 3"/>
          <p:cNvSpPr/>
          <p:nvPr/>
        </p:nvSpPr>
        <p:spPr>
          <a:xfrm>
            <a:off x="1066800" y="2895669"/>
            <a:ext cx="10133707" cy="9525"/>
          </a:xfrm>
          <a:prstGeom prst="rect">
            <a:avLst/>
          </a:prstGeom>
          <a:solidFill>
            <a:srgbClr val="0E3145">
              <a:alpha val="12000"/>
            </a:srgbClr>
          </a:solidFill>
          <a:ln/>
        </p:spPr>
        <p:txBody>
          <a:bodyPr/>
          <a:lstStyle/>
          <a:p>
            <a:endParaRPr lang="fr-FR"/>
          </a:p>
        </p:txBody>
      </p:sp>
      <p:sp>
        <p:nvSpPr>
          <p:cNvPr id="6" name="Text 4"/>
          <p:cNvSpPr/>
          <p:nvPr/>
        </p:nvSpPr>
        <p:spPr>
          <a:xfrm>
            <a:off x="1066800" y="3152844"/>
            <a:ext cx="1958638"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alpha val="66000"/>
                  </a:srgbClr>
                </a:solidFill>
                <a:latin typeface="Euclid Circular A" pitchFamily="34" charset="0"/>
                <a:ea typeface="Euclid Circular A" pitchFamily="34" charset="-122"/>
                <a:cs typeface="Euclid Circular A" pitchFamily="34" charset="-120"/>
              </a:rPr>
              <a:t>Montant brut</a:t>
            </a:r>
            <a:endParaRPr lang="en-US" sz="2250" dirty="0"/>
          </a:p>
        </p:txBody>
      </p:sp>
      <p:sp>
        <p:nvSpPr>
          <p:cNvPr id="7" name="Text 5"/>
          <p:cNvSpPr/>
          <p:nvPr/>
        </p:nvSpPr>
        <p:spPr>
          <a:xfrm>
            <a:off x="9809857" y="3114744"/>
            <a:ext cx="1529715" cy="447675"/>
          </a:xfrm>
          <a:prstGeom prst="rect">
            <a:avLst/>
          </a:prstGeom>
          <a:noFill/>
          <a:ln/>
        </p:spPr>
        <p:txBody>
          <a:bodyPr wrap="square" lIns="25400" tIns="25400" rIns="25400" bIns="25400" rtlCol="0" anchor="t">
            <a:normAutofit/>
          </a:bodyPr>
          <a:lstStyle/>
          <a:p>
            <a:pPr marL="0" indent="0" algn="l">
              <a:buNone/>
            </a:pPr>
            <a:r>
              <a:rPr lang="en-US" sz="2550" dirty="0">
                <a:solidFill>
                  <a:srgbClr val="0E3145"/>
                </a:solidFill>
                <a:latin typeface="Euclid Circular A" pitchFamily="34" charset="0"/>
                <a:ea typeface="Euclid Circular A" pitchFamily="34" charset="-122"/>
                <a:cs typeface="Euclid Circular A" pitchFamily="34" charset="-120"/>
              </a:rPr>
              <a:t>00 000 €</a:t>
            </a:r>
            <a:endParaRPr lang="en-US" sz="2550" dirty="0"/>
          </a:p>
        </p:txBody>
      </p:sp>
      <p:sp>
        <p:nvSpPr>
          <p:cNvPr id="8" name="Shape 6"/>
          <p:cNvSpPr/>
          <p:nvPr/>
        </p:nvSpPr>
        <p:spPr>
          <a:xfrm>
            <a:off x="1066800" y="3733869"/>
            <a:ext cx="10133707" cy="9525"/>
          </a:xfrm>
          <a:prstGeom prst="rect">
            <a:avLst/>
          </a:prstGeom>
          <a:solidFill>
            <a:srgbClr val="0E3145">
              <a:alpha val="12000"/>
            </a:srgbClr>
          </a:solidFill>
          <a:ln/>
        </p:spPr>
        <p:txBody>
          <a:bodyPr/>
          <a:lstStyle/>
          <a:p>
            <a:endParaRPr lang="fr-FR"/>
          </a:p>
        </p:txBody>
      </p:sp>
      <p:sp>
        <p:nvSpPr>
          <p:cNvPr id="9" name="Text 7"/>
          <p:cNvSpPr/>
          <p:nvPr/>
        </p:nvSpPr>
        <p:spPr>
          <a:xfrm>
            <a:off x="1066800" y="3991044"/>
            <a:ext cx="2040657"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alpha val="66000"/>
                  </a:srgbClr>
                </a:solidFill>
                <a:latin typeface="Euclid Circular A" pitchFamily="34" charset="0"/>
                <a:ea typeface="Euclid Circular A" pitchFamily="34" charset="-122"/>
                <a:cs typeface="Euclid Circular A" pitchFamily="34" charset="-120"/>
              </a:rPr>
              <a:t>− Abattement</a:t>
            </a:r>
            <a:endParaRPr lang="en-US" sz="2250" dirty="0"/>
          </a:p>
        </p:txBody>
      </p:sp>
      <p:sp>
        <p:nvSpPr>
          <p:cNvPr id="10" name="Text 8"/>
          <p:cNvSpPr/>
          <p:nvPr/>
        </p:nvSpPr>
        <p:spPr>
          <a:xfrm>
            <a:off x="9746605" y="3952944"/>
            <a:ext cx="1599292" cy="447675"/>
          </a:xfrm>
          <a:prstGeom prst="rect">
            <a:avLst/>
          </a:prstGeom>
          <a:noFill/>
          <a:ln/>
        </p:spPr>
        <p:txBody>
          <a:bodyPr wrap="square" lIns="25400" tIns="25400" rIns="25400" bIns="25400" rtlCol="0" anchor="t">
            <a:normAutofit/>
          </a:bodyPr>
          <a:lstStyle/>
          <a:p>
            <a:pPr marL="0" indent="0" algn="l">
              <a:buNone/>
            </a:pPr>
            <a:r>
              <a:rPr lang="en-US" sz="2550" dirty="0">
                <a:solidFill>
                  <a:srgbClr val="0E3145">
                    <a:alpha val="66000"/>
                  </a:srgbClr>
                </a:solidFill>
                <a:latin typeface="Euclid Circular A" pitchFamily="34" charset="0"/>
                <a:ea typeface="Euclid Circular A" pitchFamily="34" charset="-122"/>
                <a:cs typeface="Euclid Circular A" pitchFamily="34" charset="-120"/>
              </a:rPr>
              <a:t>− 0 000 €</a:t>
            </a:r>
            <a:endParaRPr lang="en-US" sz="2550" dirty="0"/>
          </a:p>
        </p:txBody>
      </p:sp>
      <p:sp>
        <p:nvSpPr>
          <p:cNvPr id="11" name="Shape 9"/>
          <p:cNvSpPr/>
          <p:nvPr/>
        </p:nvSpPr>
        <p:spPr>
          <a:xfrm>
            <a:off x="1066800" y="4572069"/>
            <a:ext cx="10133707" cy="19050"/>
          </a:xfrm>
          <a:prstGeom prst="rect">
            <a:avLst/>
          </a:prstGeom>
          <a:solidFill>
            <a:srgbClr val="0E3145">
              <a:alpha val="24000"/>
            </a:srgbClr>
          </a:solidFill>
          <a:ln/>
        </p:spPr>
        <p:txBody>
          <a:bodyPr/>
          <a:lstStyle/>
          <a:p>
            <a:endParaRPr lang="fr-FR"/>
          </a:p>
        </p:txBody>
      </p:sp>
      <p:sp>
        <p:nvSpPr>
          <p:cNvPr id="12" name="Text 10"/>
          <p:cNvSpPr/>
          <p:nvPr/>
        </p:nvSpPr>
        <p:spPr>
          <a:xfrm>
            <a:off x="1066800" y="4838769"/>
            <a:ext cx="2604968"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solidFill>
                <a:latin typeface="Euclid Circular A" pitchFamily="34" charset="0"/>
                <a:ea typeface="Euclid Circular A" pitchFamily="34" charset="-122"/>
                <a:cs typeface="Euclid Circular A" pitchFamily="34" charset="-120"/>
              </a:rPr>
              <a:t>= Base imposable</a:t>
            </a:r>
            <a:endParaRPr lang="en-US" sz="2250" dirty="0"/>
          </a:p>
        </p:txBody>
      </p:sp>
      <p:sp>
        <p:nvSpPr>
          <p:cNvPr id="13" name="Text 11"/>
          <p:cNvSpPr/>
          <p:nvPr/>
        </p:nvSpPr>
        <p:spPr>
          <a:xfrm>
            <a:off x="9809857" y="4800669"/>
            <a:ext cx="1529715" cy="447675"/>
          </a:xfrm>
          <a:prstGeom prst="rect">
            <a:avLst/>
          </a:prstGeom>
          <a:noFill/>
          <a:ln/>
        </p:spPr>
        <p:txBody>
          <a:bodyPr wrap="square" lIns="25400" tIns="25400" rIns="25400" bIns="25400" rtlCol="0" anchor="t">
            <a:normAutofit/>
          </a:bodyPr>
          <a:lstStyle/>
          <a:p>
            <a:pPr marL="0" indent="0" algn="l">
              <a:buNone/>
            </a:pPr>
            <a:r>
              <a:rPr lang="en-US" sz="2550" dirty="0">
                <a:solidFill>
                  <a:srgbClr val="0E3145"/>
                </a:solidFill>
                <a:latin typeface="Euclid Circular A" pitchFamily="34" charset="0"/>
                <a:ea typeface="Euclid Circular A" pitchFamily="34" charset="-122"/>
                <a:cs typeface="Euclid Circular A" pitchFamily="34" charset="-120"/>
              </a:rPr>
              <a:t>00 000 €</a:t>
            </a:r>
            <a:endParaRPr lang="en-US" sz="2550" dirty="0"/>
          </a:p>
        </p:txBody>
      </p:sp>
      <p:sp>
        <p:nvSpPr>
          <p:cNvPr id="14" name="Shape 12"/>
          <p:cNvSpPr/>
          <p:nvPr/>
        </p:nvSpPr>
        <p:spPr>
          <a:xfrm>
            <a:off x="1066800" y="5419795"/>
            <a:ext cx="10133707" cy="9525"/>
          </a:xfrm>
          <a:prstGeom prst="rect">
            <a:avLst/>
          </a:prstGeom>
          <a:solidFill>
            <a:srgbClr val="0E3145">
              <a:alpha val="12000"/>
            </a:srgbClr>
          </a:solidFill>
          <a:ln/>
        </p:spPr>
        <p:txBody>
          <a:bodyPr/>
          <a:lstStyle/>
          <a:p>
            <a:endParaRPr lang="fr-FR"/>
          </a:p>
        </p:txBody>
      </p:sp>
      <p:sp>
        <p:nvSpPr>
          <p:cNvPr id="15" name="Text 13"/>
          <p:cNvSpPr/>
          <p:nvPr/>
        </p:nvSpPr>
        <p:spPr>
          <a:xfrm>
            <a:off x="1066800" y="5676970"/>
            <a:ext cx="3052227"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alpha val="66000"/>
                  </a:srgbClr>
                </a:solidFill>
                <a:latin typeface="Euclid Circular A" pitchFamily="34" charset="0"/>
                <a:ea typeface="Euclid Circular A" pitchFamily="34" charset="-122"/>
                <a:cs typeface="Euclid Circular A" pitchFamily="34" charset="-120"/>
              </a:rPr>
              <a:t>− Impôt sur le revenu</a:t>
            </a:r>
            <a:endParaRPr lang="en-US" sz="2250" dirty="0"/>
          </a:p>
        </p:txBody>
      </p:sp>
      <p:sp>
        <p:nvSpPr>
          <p:cNvPr id="16" name="Text 14"/>
          <p:cNvSpPr/>
          <p:nvPr/>
        </p:nvSpPr>
        <p:spPr>
          <a:xfrm>
            <a:off x="9746605" y="5638870"/>
            <a:ext cx="1599292" cy="447675"/>
          </a:xfrm>
          <a:prstGeom prst="rect">
            <a:avLst/>
          </a:prstGeom>
          <a:noFill/>
          <a:ln/>
        </p:spPr>
        <p:txBody>
          <a:bodyPr wrap="square" lIns="25400" tIns="25400" rIns="25400" bIns="25400" rtlCol="0" anchor="t">
            <a:normAutofit/>
          </a:bodyPr>
          <a:lstStyle/>
          <a:p>
            <a:pPr marL="0" indent="0" algn="l">
              <a:buNone/>
            </a:pPr>
            <a:r>
              <a:rPr lang="en-US" sz="2550" dirty="0">
                <a:solidFill>
                  <a:srgbClr val="0E3145">
                    <a:alpha val="66000"/>
                  </a:srgbClr>
                </a:solidFill>
                <a:latin typeface="Euclid Circular A" pitchFamily="34" charset="0"/>
                <a:ea typeface="Euclid Circular A" pitchFamily="34" charset="-122"/>
                <a:cs typeface="Euclid Circular A" pitchFamily="34" charset="-120"/>
              </a:rPr>
              <a:t>− 0 000 €</a:t>
            </a:r>
            <a:endParaRPr lang="en-US" sz="2550" dirty="0"/>
          </a:p>
        </p:txBody>
      </p:sp>
      <p:sp>
        <p:nvSpPr>
          <p:cNvPr id="17" name="Shape 15"/>
          <p:cNvSpPr/>
          <p:nvPr/>
        </p:nvSpPr>
        <p:spPr>
          <a:xfrm>
            <a:off x="1066800" y="6257995"/>
            <a:ext cx="10133707" cy="9525"/>
          </a:xfrm>
          <a:prstGeom prst="rect">
            <a:avLst/>
          </a:prstGeom>
          <a:solidFill>
            <a:srgbClr val="0E3145">
              <a:alpha val="12000"/>
            </a:srgbClr>
          </a:solidFill>
          <a:ln/>
        </p:spPr>
        <p:txBody>
          <a:bodyPr/>
          <a:lstStyle/>
          <a:p>
            <a:endParaRPr lang="fr-FR"/>
          </a:p>
        </p:txBody>
      </p:sp>
      <p:sp>
        <p:nvSpPr>
          <p:cNvPr id="18" name="Text 16"/>
          <p:cNvSpPr/>
          <p:nvPr/>
        </p:nvSpPr>
        <p:spPr>
          <a:xfrm>
            <a:off x="1066800" y="6515170"/>
            <a:ext cx="3464942" cy="400050"/>
          </a:xfrm>
          <a:prstGeom prst="rect">
            <a:avLst/>
          </a:prstGeom>
          <a:noFill/>
          <a:ln/>
        </p:spPr>
        <p:txBody>
          <a:bodyPr wrap="square" lIns="25400" tIns="25400" rIns="25400" bIns="25400" rtlCol="0" anchor="t">
            <a:normAutofit/>
          </a:bodyPr>
          <a:lstStyle/>
          <a:p>
            <a:pPr marL="0" indent="0" algn="l">
              <a:buNone/>
            </a:pPr>
            <a:r>
              <a:rPr lang="en-US" sz="2250" dirty="0">
                <a:solidFill>
                  <a:srgbClr val="0E3145">
                    <a:alpha val="66000"/>
                  </a:srgbClr>
                </a:solidFill>
                <a:latin typeface="Euclid Circular A" pitchFamily="34" charset="0"/>
                <a:ea typeface="Euclid Circular A" pitchFamily="34" charset="-122"/>
                <a:cs typeface="Euclid Circular A" pitchFamily="34" charset="-120"/>
              </a:rPr>
              <a:t>− Prélèvements sociaux</a:t>
            </a:r>
            <a:endParaRPr lang="en-US" sz="2250" dirty="0"/>
          </a:p>
        </p:txBody>
      </p:sp>
      <p:sp>
        <p:nvSpPr>
          <p:cNvPr id="19" name="Text 17"/>
          <p:cNvSpPr/>
          <p:nvPr/>
        </p:nvSpPr>
        <p:spPr>
          <a:xfrm>
            <a:off x="9746605" y="6477070"/>
            <a:ext cx="1599292" cy="447675"/>
          </a:xfrm>
          <a:prstGeom prst="rect">
            <a:avLst/>
          </a:prstGeom>
          <a:noFill/>
          <a:ln/>
        </p:spPr>
        <p:txBody>
          <a:bodyPr wrap="square" lIns="25400" tIns="25400" rIns="25400" bIns="25400" rtlCol="0" anchor="t">
            <a:normAutofit/>
          </a:bodyPr>
          <a:lstStyle/>
          <a:p>
            <a:pPr marL="0" indent="0" algn="l">
              <a:buNone/>
            </a:pPr>
            <a:r>
              <a:rPr lang="en-US" sz="2550" dirty="0">
                <a:solidFill>
                  <a:srgbClr val="0E3145">
                    <a:alpha val="66000"/>
                  </a:srgbClr>
                </a:solidFill>
                <a:latin typeface="Euclid Circular A" pitchFamily="34" charset="0"/>
                <a:ea typeface="Euclid Circular A" pitchFamily="34" charset="-122"/>
                <a:cs typeface="Euclid Circular A" pitchFamily="34" charset="-120"/>
              </a:rPr>
              <a:t>− 0 000 €</a:t>
            </a:r>
            <a:endParaRPr lang="en-US" sz="2550" dirty="0"/>
          </a:p>
        </p:txBody>
      </p:sp>
      <p:sp>
        <p:nvSpPr>
          <p:cNvPr id="20" name="Shape 18"/>
          <p:cNvSpPr/>
          <p:nvPr/>
        </p:nvSpPr>
        <p:spPr>
          <a:xfrm>
            <a:off x="1066800" y="7229544"/>
            <a:ext cx="10133707" cy="1104900"/>
          </a:xfrm>
          <a:prstGeom prst="roundRect">
            <a:avLst>
              <a:gd name="adj" fmla="val 10345"/>
            </a:avLst>
          </a:prstGeom>
          <a:solidFill>
            <a:srgbClr val="DC216E">
              <a:alpha val="6000"/>
            </a:srgbClr>
          </a:solidFill>
          <a:ln w="9525">
            <a:solidFill>
              <a:srgbClr val="DC216E">
                <a:alpha val="22000"/>
              </a:srgbClr>
            </a:solidFill>
            <a:prstDash val="solid"/>
          </a:ln>
        </p:spPr>
        <p:txBody>
          <a:bodyPr/>
          <a:lstStyle/>
          <a:p>
            <a:endParaRPr lang="fr-FR"/>
          </a:p>
        </p:txBody>
      </p:sp>
      <p:sp>
        <p:nvSpPr>
          <p:cNvPr id="21" name="Text 19"/>
          <p:cNvSpPr/>
          <p:nvPr/>
        </p:nvSpPr>
        <p:spPr>
          <a:xfrm>
            <a:off x="1381125" y="7586732"/>
            <a:ext cx="2252499" cy="428625"/>
          </a:xfrm>
          <a:prstGeom prst="rect">
            <a:avLst/>
          </a:prstGeom>
          <a:noFill/>
          <a:ln/>
        </p:spPr>
        <p:txBody>
          <a:bodyPr wrap="square" lIns="25400" tIns="25400" rIns="25400" bIns="25400" rtlCol="0" anchor="t">
            <a:normAutofit/>
          </a:bodyPr>
          <a:lstStyle/>
          <a:p>
            <a:pPr marL="0" indent="0" algn="l">
              <a:buNone/>
            </a:pPr>
            <a:r>
              <a:rPr lang="en-US" sz="2400" b="1" dirty="0">
                <a:solidFill>
                  <a:srgbClr val="DC216E"/>
                </a:solidFill>
                <a:latin typeface="Euclid Circular A" pitchFamily="34" charset="0"/>
                <a:ea typeface="Euclid Circular A" pitchFamily="34" charset="-122"/>
                <a:cs typeface="Euclid Circular A" pitchFamily="34" charset="-120"/>
              </a:rPr>
              <a:t>= Montant net</a:t>
            </a:r>
            <a:endParaRPr lang="en-US" sz="2400" dirty="0"/>
          </a:p>
        </p:txBody>
      </p:sp>
      <p:sp>
        <p:nvSpPr>
          <p:cNvPr id="22" name="Text 20"/>
          <p:cNvSpPr/>
          <p:nvPr/>
        </p:nvSpPr>
        <p:spPr>
          <a:xfrm>
            <a:off x="9090571" y="7505769"/>
            <a:ext cx="1975172" cy="590550"/>
          </a:xfrm>
          <a:prstGeom prst="rect">
            <a:avLst/>
          </a:prstGeom>
          <a:noFill/>
          <a:ln/>
        </p:spPr>
        <p:txBody>
          <a:bodyPr wrap="square" lIns="25400" tIns="25400" rIns="25400" bIns="25400" rtlCol="0" anchor="t">
            <a:normAutofit/>
          </a:bodyPr>
          <a:lstStyle/>
          <a:p>
            <a:pPr marL="0" indent="0" algn="l">
              <a:buNone/>
            </a:pPr>
            <a:r>
              <a:rPr lang="en-US" sz="3450" b="1" kern="0" spc="-69" dirty="0">
                <a:solidFill>
                  <a:srgbClr val="DC216E"/>
                </a:solidFill>
                <a:latin typeface="Euclid Circular A" pitchFamily="34" charset="0"/>
                <a:ea typeface="Euclid Circular A" pitchFamily="34" charset="-122"/>
                <a:cs typeface="Euclid Circular A" pitchFamily="34" charset="-120"/>
              </a:rPr>
              <a:t>00 000 €</a:t>
            </a:r>
            <a:endParaRPr lang="en-US" sz="3450" dirty="0"/>
          </a:p>
        </p:txBody>
      </p:sp>
      <p:sp>
        <p:nvSpPr>
          <p:cNvPr id="23" name="Text 21"/>
          <p:cNvSpPr/>
          <p:nvPr/>
        </p:nvSpPr>
        <p:spPr>
          <a:xfrm>
            <a:off x="12971338" y="3330051"/>
            <a:ext cx="3279130" cy="1004590"/>
          </a:xfrm>
          <a:prstGeom prst="rect">
            <a:avLst/>
          </a:prstGeom>
          <a:noFill/>
          <a:ln/>
        </p:spPr>
        <p:txBody>
          <a:bodyPr wrap="square" lIns="25400" tIns="25400" rIns="25400" bIns="25400" rtlCol="0" anchor="t">
            <a:normAutofit fontScale="92500" lnSpcReduction="20000"/>
          </a:bodyPr>
          <a:lstStyle/>
          <a:p>
            <a:pPr marL="0" indent="0" algn="ctr">
              <a:lnSpc>
                <a:spcPct val="86000"/>
              </a:lnSpc>
              <a:buNone/>
            </a:pPr>
            <a:r>
              <a:rPr lang="en-US" sz="8850" kern="0" spc="-310" dirty="0">
                <a:solidFill>
                  <a:srgbClr val="DC216E"/>
                </a:solidFill>
                <a:latin typeface="Euclid Circular A" pitchFamily="34" charset="0"/>
                <a:ea typeface="Euclid Circular A" pitchFamily="34" charset="-122"/>
                <a:cs typeface="Euclid Circular A" pitchFamily="34" charset="-120"/>
              </a:rPr>
              <a:t>00 </a:t>
            </a:r>
            <a:r>
              <a:rPr lang="en-US" sz="3900" kern="0" spc="-310" dirty="0">
                <a:solidFill>
                  <a:srgbClr val="DC216E"/>
                </a:solidFill>
                <a:latin typeface="Euclid Circular A" pitchFamily="34" charset="0"/>
                <a:ea typeface="Euclid Circular A" pitchFamily="34" charset="-122"/>
                <a:cs typeface="Euclid Circular A" pitchFamily="34" charset="-120"/>
              </a:rPr>
              <a:t>%</a:t>
            </a:r>
            <a:endParaRPr lang="en-US" sz="8850" dirty="0"/>
          </a:p>
        </p:txBody>
      </p:sp>
      <p:sp>
        <p:nvSpPr>
          <p:cNvPr id="24" name="Text 22"/>
          <p:cNvSpPr/>
          <p:nvPr/>
        </p:nvSpPr>
        <p:spPr>
          <a:xfrm>
            <a:off x="12971338" y="4410840"/>
            <a:ext cx="3279130" cy="352425"/>
          </a:xfrm>
          <a:prstGeom prst="rect">
            <a:avLst/>
          </a:prstGeom>
          <a:noFill/>
          <a:ln/>
        </p:spPr>
        <p:txBody>
          <a:bodyPr wrap="square" lIns="25400" tIns="25400" rIns="25400" bIns="25400" rtlCol="0" anchor="t">
            <a:normAutofit/>
          </a:bodyPr>
          <a:lstStyle/>
          <a:p>
            <a:pPr marL="0" indent="0" algn="ctr">
              <a:buNone/>
            </a:pPr>
            <a:r>
              <a:rPr lang="en-US" sz="1950" dirty="0">
                <a:solidFill>
                  <a:srgbClr val="0E3145"/>
                </a:solidFill>
                <a:latin typeface="Euclid Circular A" pitchFamily="34" charset="0"/>
                <a:ea typeface="Euclid Circular A" pitchFamily="34" charset="-122"/>
                <a:cs typeface="Euclid Circular A" pitchFamily="34" charset="-120"/>
              </a:rPr>
              <a:t>Taux d'imposition effectif</a:t>
            </a:r>
            <a:endParaRPr lang="en-US" sz="1950" dirty="0"/>
          </a:p>
        </p:txBody>
      </p:sp>
      <p:sp>
        <p:nvSpPr>
          <p:cNvPr id="25" name="Shape 23"/>
          <p:cNvSpPr/>
          <p:nvPr/>
        </p:nvSpPr>
        <p:spPr>
          <a:xfrm>
            <a:off x="12509748" y="5049015"/>
            <a:ext cx="1143000" cy="2857500"/>
          </a:xfrm>
          <a:prstGeom prst="roundRect">
            <a:avLst>
              <a:gd name="adj" fmla="val 10000"/>
            </a:avLst>
          </a:prstGeom>
          <a:ln w="9525">
            <a:solidFill>
              <a:srgbClr val="0E3145">
                <a:alpha val="12000"/>
              </a:srgbClr>
            </a:solidFill>
            <a:prstDash val="solid"/>
          </a:ln>
        </p:spPr>
        <p:txBody>
          <a:bodyPr/>
          <a:lstStyle/>
          <a:p>
            <a:endParaRPr lang="fr-FR"/>
          </a:p>
        </p:txBody>
      </p:sp>
      <p:sp>
        <p:nvSpPr>
          <p:cNvPr id="26" name="Shape 24"/>
          <p:cNvSpPr/>
          <p:nvPr/>
        </p:nvSpPr>
        <p:spPr>
          <a:xfrm>
            <a:off x="12519273" y="5058540"/>
            <a:ext cx="1123950" cy="908298"/>
          </a:xfrm>
          <a:prstGeom prst="rect">
            <a:avLst/>
          </a:prstGeom>
          <a:solidFill>
            <a:srgbClr val="0E3145"/>
          </a:solidFill>
          <a:ln/>
        </p:spPr>
        <p:txBody>
          <a:bodyPr/>
          <a:lstStyle/>
          <a:p>
            <a:endParaRPr lang="fr-FR"/>
          </a:p>
        </p:txBody>
      </p:sp>
      <p:sp>
        <p:nvSpPr>
          <p:cNvPr id="27" name="Text 25"/>
          <p:cNvSpPr/>
          <p:nvPr/>
        </p:nvSpPr>
        <p:spPr>
          <a:xfrm>
            <a:off x="12481173" y="5058540"/>
            <a:ext cx="1200150" cy="946398"/>
          </a:xfrm>
          <a:prstGeom prst="rect">
            <a:avLst/>
          </a:prstGeom>
          <a:noFill/>
          <a:ln/>
        </p:spPr>
        <p:txBody>
          <a:bodyPr wrap="square" lIns="25400" tIns="25400" rIns="25400" bIns="25400" rtlCol="0" anchor="ctr">
            <a:normAutofit/>
          </a:bodyPr>
          <a:lstStyle/>
          <a:p>
            <a:pPr marL="0" indent="0" algn="ctr">
              <a:buNone/>
            </a:pPr>
            <a:r>
              <a:rPr lang="en-US" sz="1800" dirty="0">
                <a:solidFill>
                  <a:srgbClr val="FFFFFF"/>
                </a:solidFill>
                <a:latin typeface="Euclid Circular A" pitchFamily="34" charset="0"/>
                <a:ea typeface="Euclid Circular A" pitchFamily="34" charset="-122"/>
                <a:cs typeface="Euclid Circular A" pitchFamily="34" charset="-120"/>
              </a:rPr>
              <a:t>00%</a:t>
            </a:r>
            <a:endParaRPr lang="en-US" sz="1800" dirty="0"/>
          </a:p>
        </p:txBody>
      </p:sp>
      <p:sp>
        <p:nvSpPr>
          <p:cNvPr id="28" name="Shape 26"/>
          <p:cNvSpPr/>
          <p:nvPr/>
        </p:nvSpPr>
        <p:spPr>
          <a:xfrm>
            <a:off x="12519273" y="5966838"/>
            <a:ext cx="1123950" cy="1930003"/>
          </a:xfrm>
          <a:prstGeom prst="rect">
            <a:avLst/>
          </a:prstGeom>
          <a:solidFill>
            <a:srgbClr val="DC216E"/>
          </a:solidFill>
          <a:ln/>
        </p:spPr>
        <p:txBody>
          <a:bodyPr/>
          <a:lstStyle/>
          <a:p>
            <a:endParaRPr lang="fr-FR"/>
          </a:p>
        </p:txBody>
      </p:sp>
      <p:sp>
        <p:nvSpPr>
          <p:cNvPr id="29" name="Text 27"/>
          <p:cNvSpPr/>
          <p:nvPr/>
        </p:nvSpPr>
        <p:spPr>
          <a:xfrm>
            <a:off x="12481173" y="5966838"/>
            <a:ext cx="1200150" cy="1968103"/>
          </a:xfrm>
          <a:prstGeom prst="rect">
            <a:avLst/>
          </a:prstGeom>
          <a:noFill/>
          <a:ln/>
        </p:spPr>
        <p:txBody>
          <a:bodyPr wrap="square" lIns="25400" tIns="25400" rIns="25400" bIns="25400" rtlCol="0" anchor="ctr">
            <a:normAutofit/>
          </a:bodyPr>
          <a:lstStyle/>
          <a:p>
            <a:pPr marL="0" indent="0" algn="ctr">
              <a:buNone/>
            </a:pPr>
            <a:r>
              <a:rPr lang="en-US" sz="1950" b="1" dirty="0">
                <a:solidFill>
                  <a:srgbClr val="FFFFFF"/>
                </a:solidFill>
                <a:latin typeface="Euclid Circular A" pitchFamily="34" charset="0"/>
                <a:ea typeface="Euclid Circular A" pitchFamily="34" charset="-122"/>
                <a:cs typeface="Euclid Circular A" pitchFamily="34" charset="-120"/>
              </a:rPr>
              <a:t>00%</a:t>
            </a:r>
            <a:endParaRPr lang="en-US" sz="1950" dirty="0"/>
          </a:p>
        </p:txBody>
      </p:sp>
      <p:sp>
        <p:nvSpPr>
          <p:cNvPr id="30" name="Shape 28"/>
          <p:cNvSpPr/>
          <p:nvPr/>
        </p:nvSpPr>
        <p:spPr>
          <a:xfrm>
            <a:off x="13938498" y="7134990"/>
            <a:ext cx="152400" cy="152400"/>
          </a:xfrm>
          <a:prstGeom prst="roundRect">
            <a:avLst>
              <a:gd name="adj" fmla="val 25000"/>
            </a:avLst>
          </a:prstGeom>
          <a:solidFill>
            <a:srgbClr val="DC216E"/>
          </a:solidFill>
          <a:ln/>
        </p:spPr>
        <p:txBody>
          <a:bodyPr/>
          <a:lstStyle/>
          <a:p>
            <a:endParaRPr lang="fr-FR"/>
          </a:p>
        </p:txBody>
      </p:sp>
      <p:sp>
        <p:nvSpPr>
          <p:cNvPr id="31" name="Text 29"/>
          <p:cNvSpPr/>
          <p:nvPr/>
        </p:nvSpPr>
        <p:spPr>
          <a:xfrm>
            <a:off x="14205198" y="7068315"/>
            <a:ext cx="1158627"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Net perçu</a:t>
            </a:r>
            <a:endParaRPr lang="en-US" sz="1800" dirty="0"/>
          </a:p>
        </p:txBody>
      </p:sp>
      <p:sp>
        <p:nvSpPr>
          <p:cNvPr id="32" name="Shape 30"/>
          <p:cNvSpPr/>
          <p:nvPr/>
        </p:nvSpPr>
        <p:spPr>
          <a:xfrm>
            <a:off x="13938498" y="7592190"/>
            <a:ext cx="152400" cy="152400"/>
          </a:xfrm>
          <a:prstGeom prst="roundRect">
            <a:avLst>
              <a:gd name="adj" fmla="val 25000"/>
            </a:avLst>
          </a:prstGeom>
          <a:solidFill>
            <a:srgbClr val="0E3145"/>
          </a:solidFill>
          <a:ln/>
        </p:spPr>
        <p:txBody>
          <a:bodyPr/>
          <a:lstStyle/>
          <a:p>
            <a:endParaRPr lang="fr-FR"/>
          </a:p>
        </p:txBody>
      </p:sp>
      <p:sp>
        <p:nvSpPr>
          <p:cNvPr id="33" name="Text 31"/>
          <p:cNvSpPr/>
          <p:nvPr/>
        </p:nvSpPr>
        <p:spPr>
          <a:xfrm>
            <a:off x="14205198" y="7525515"/>
            <a:ext cx="2757547"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solidFill>
                <a:latin typeface="Euclid Circular A" pitchFamily="34" charset="0"/>
                <a:ea typeface="Euclid Circular A" pitchFamily="34" charset="-122"/>
                <a:cs typeface="Euclid Circular A" pitchFamily="34" charset="-120"/>
              </a:rPr>
              <a:t>Impôts &amp; prélèvements</a:t>
            </a:r>
            <a:endParaRPr lang="en-US" sz="1800" dirty="0"/>
          </a:p>
        </p:txBody>
      </p:sp>
      <p:sp>
        <p:nvSpPr>
          <p:cNvPr id="34" name="Shape 32"/>
          <p:cNvSpPr/>
          <p:nvPr/>
        </p:nvSpPr>
        <p:spPr>
          <a:xfrm>
            <a:off x="1066800" y="9099670"/>
            <a:ext cx="16154400" cy="9525"/>
          </a:xfrm>
          <a:prstGeom prst="rect">
            <a:avLst/>
          </a:prstGeom>
          <a:solidFill>
            <a:srgbClr val="0E3145">
              <a:alpha val="12000"/>
            </a:srgbClr>
          </a:solidFill>
          <a:ln/>
        </p:spPr>
        <p:txBody>
          <a:bodyPr/>
          <a:lstStyle/>
          <a:p>
            <a:endParaRPr lang="fr-FR"/>
          </a:p>
        </p:txBody>
      </p:sp>
      <p:pic>
        <p:nvPicPr>
          <p:cNvPr id="35" name="Image 0" descr="preencoded.png"/>
          <p:cNvPicPr>
            <a:picLocks noChangeAspect="1"/>
          </p:cNvPicPr>
          <p:nvPr/>
        </p:nvPicPr>
        <p:blipFill>
          <a:blip r:embed="rId3"/>
          <a:stretch>
            <a:fillRect/>
          </a:stretch>
        </p:blipFill>
        <p:spPr>
          <a:xfrm>
            <a:off x="1066800" y="9337795"/>
            <a:ext cx="607516" cy="285750"/>
          </a:xfrm>
          <a:prstGeom prst="rect">
            <a:avLst/>
          </a:prstGeom>
        </p:spPr>
      </p:pic>
      <p:sp>
        <p:nvSpPr>
          <p:cNvPr id="36" name="Shape 33"/>
          <p:cNvSpPr/>
          <p:nvPr/>
        </p:nvSpPr>
        <p:spPr>
          <a:xfrm>
            <a:off x="1845766" y="9375895"/>
            <a:ext cx="9525" cy="209550"/>
          </a:xfrm>
          <a:prstGeom prst="rect">
            <a:avLst/>
          </a:prstGeom>
          <a:solidFill>
            <a:srgbClr val="0E3145">
              <a:alpha val="12000"/>
            </a:srgbClr>
          </a:solidFill>
          <a:ln/>
        </p:spPr>
        <p:txBody>
          <a:bodyPr/>
          <a:lstStyle/>
          <a:p>
            <a:endParaRPr lang="fr-FR"/>
          </a:p>
        </p:txBody>
      </p:sp>
      <p:sp>
        <p:nvSpPr>
          <p:cNvPr id="37" name="Text 34"/>
          <p:cNvSpPr/>
          <p:nvPr/>
        </p:nvSpPr>
        <p:spPr>
          <a:xfrm>
            <a:off x="2026741" y="9337795"/>
            <a:ext cx="3672855" cy="323850"/>
          </a:xfrm>
          <a:prstGeom prst="rect">
            <a:avLst/>
          </a:prstGeom>
          <a:noFill/>
          <a:ln/>
        </p:spPr>
        <p:txBody>
          <a:bodyPr wrap="square" lIns="25400" tIns="25400" rIns="25400" bIns="25400" rtlCol="0" anchor="t">
            <a:normAutofit lnSpcReduction="10000"/>
          </a:bodyPr>
          <a:lstStyle/>
          <a:p>
            <a:pPr marL="0" indent="0" algn="l">
              <a:buNone/>
            </a:pPr>
            <a:r>
              <a:rPr lang="en-US" sz="1800" kern="0" spc="288" dirty="0">
                <a:solidFill>
                  <a:srgbClr val="0E3145">
                    <a:alpha val="44000"/>
                  </a:srgbClr>
                </a:solidFill>
                <a:latin typeface="Euclid Circular A" pitchFamily="34" charset="0"/>
                <a:ea typeface="Euclid Circular A" pitchFamily="34" charset="-122"/>
                <a:cs typeface="Euclid Circular A" pitchFamily="34" charset="-120"/>
              </a:rPr>
              <a:t>01 — NOM DE LA PARTIE</a:t>
            </a:r>
            <a:endParaRPr lang="en-US" sz="1800" dirty="0"/>
          </a:p>
        </p:txBody>
      </p:sp>
      <p:sp>
        <p:nvSpPr>
          <p:cNvPr id="38" name="Text 35"/>
          <p:cNvSpPr/>
          <p:nvPr/>
        </p:nvSpPr>
        <p:spPr>
          <a:xfrm>
            <a:off x="16280606" y="9337795"/>
            <a:ext cx="1016794" cy="323850"/>
          </a:xfrm>
          <a:prstGeom prst="rect">
            <a:avLst/>
          </a:prstGeom>
          <a:noFill/>
          <a:ln/>
        </p:spPr>
        <p:txBody>
          <a:bodyPr wrap="square" lIns="25400" tIns="25400" rIns="25400" bIns="25400" rtlCol="0" anchor="t">
            <a:normAutofit fontScale="92500"/>
          </a:bodyPr>
          <a:lstStyle/>
          <a:p>
            <a:pPr marL="0" indent="0" algn="l">
              <a:buNone/>
            </a:pPr>
            <a:r>
              <a:rPr lang="en-US" sz="1800" kern="0" spc="216" dirty="0">
                <a:solidFill>
                  <a:srgbClr val="0E3145">
                    <a:alpha val="44000"/>
                  </a:srgbClr>
                </a:solidFill>
                <a:latin typeface="Euclid Circular A" pitchFamily="34" charset="0"/>
                <a:ea typeface="Euclid Circular A" pitchFamily="34" charset="-122"/>
                <a:cs typeface="Euclid Circular A" pitchFamily="34" charset="-120"/>
              </a:rPr>
              <a:t>00 / 00</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2978329"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PROFIL DE RISQUE</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Votre indicateur de </a:t>
            </a:r>
            <a:r>
              <a:rPr lang="en-US" sz="6150" kern="0" spc="-184" dirty="0">
                <a:solidFill>
                  <a:srgbClr val="DC216E"/>
                </a:solidFill>
                <a:latin typeface="Euclid Circular A" pitchFamily="34" charset="0"/>
                <a:ea typeface="Euclid Circular A" pitchFamily="34" charset="-122"/>
                <a:cs typeface="Euclid Circular A" pitchFamily="34" charset="-120"/>
              </a:rPr>
              <a:t>risque</a:t>
            </a:r>
            <a:endParaRPr lang="en-US" sz="6150" dirty="0"/>
          </a:p>
        </p:txBody>
      </p:sp>
      <p:sp>
        <p:nvSpPr>
          <p:cNvPr id="5" name="Shape 3"/>
          <p:cNvSpPr/>
          <p:nvPr/>
        </p:nvSpPr>
        <p:spPr>
          <a:xfrm>
            <a:off x="1066800" y="3086163"/>
            <a:ext cx="2193429" cy="800100"/>
          </a:xfrm>
          <a:prstGeom prst="roundRect">
            <a:avLst>
              <a:gd name="adj" fmla="val 14286"/>
            </a:avLst>
          </a:prstGeom>
          <a:solidFill>
            <a:srgbClr val="4BBBBC">
              <a:alpha val="50000"/>
            </a:srgbClr>
          </a:solidFill>
          <a:ln/>
        </p:spPr>
        <p:txBody>
          <a:bodyPr/>
          <a:lstStyle/>
          <a:p>
            <a:endParaRPr lang="fr-FR"/>
          </a:p>
        </p:txBody>
      </p:sp>
      <p:sp>
        <p:nvSpPr>
          <p:cNvPr id="6" name="Text 4"/>
          <p:cNvSpPr/>
          <p:nvPr/>
        </p:nvSpPr>
        <p:spPr>
          <a:xfrm>
            <a:off x="1028700" y="3086163"/>
            <a:ext cx="2269629" cy="838200"/>
          </a:xfrm>
          <a:prstGeom prst="rect">
            <a:avLst/>
          </a:prstGeom>
          <a:noFill/>
          <a:ln/>
        </p:spPr>
        <p:txBody>
          <a:bodyPr wrap="square" lIns="25400" tIns="25400" rIns="25400" bIns="25400" rtlCol="0" anchor="ctr">
            <a:normAutofit/>
          </a:bodyPr>
          <a:lstStyle/>
          <a:p>
            <a:pPr marL="0" indent="0" algn="ctr">
              <a:buNone/>
            </a:pPr>
            <a:r>
              <a:rPr lang="en-US" sz="2850" dirty="0">
                <a:solidFill>
                  <a:srgbClr val="0E3145">
                    <a:alpha val="50000"/>
                  </a:srgbClr>
                </a:solidFill>
                <a:latin typeface="Euclid Circular A" pitchFamily="34" charset="0"/>
                <a:ea typeface="Euclid Circular A" pitchFamily="34" charset="-122"/>
                <a:cs typeface="Euclid Circular A" pitchFamily="34" charset="-120"/>
              </a:rPr>
              <a:t>1</a:t>
            </a:r>
            <a:endParaRPr lang="en-US" sz="2850" dirty="0"/>
          </a:p>
        </p:txBody>
      </p:sp>
      <p:sp>
        <p:nvSpPr>
          <p:cNvPr id="7" name="Shape 5"/>
          <p:cNvSpPr/>
          <p:nvPr/>
        </p:nvSpPr>
        <p:spPr>
          <a:xfrm>
            <a:off x="3393579" y="3086163"/>
            <a:ext cx="2193578" cy="800100"/>
          </a:xfrm>
          <a:prstGeom prst="roundRect">
            <a:avLst>
              <a:gd name="adj" fmla="val 14286"/>
            </a:avLst>
          </a:prstGeom>
          <a:solidFill>
            <a:srgbClr val="7FCBA0">
              <a:alpha val="50000"/>
            </a:srgbClr>
          </a:solidFill>
          <a:ln/>
        </p:spPr>
        <p:txBody>
          <a:bodyPr/>
          <a:lstStyle/>
          <a:p>
            <a:endParaRPr lang="fr-FR"/>
          </a:p>
        </p:txBody>
      </p:sp>
      <p:sp>
        <p:nvSpPr>
          <p:cNvPr id="8" name="Text 6"/>
          <p:cNvSpPr/>
          <p:nvPr/>
        </p:nvSpPr>
        <p:spPr>
          <a:xfrm>
            <a:off x="3355479" y="3086163"/>
            <a:ext cx="2269778" cy="838200"/>
          </a:xfrm>
          <a:prstGeom prst="rect">
            <a:avLst/>
          </a:prstGeom>
          <a:noFill/>
          <a:ln/>
        </p:spPr>
        <p:txBody>
          <a:bodyPr wrap="square" lIns="25400" tIns="25400" rIns="25400" bIns="25400" rtlCol="0" anchor="ctr">
            <a:normAutofit/>
          </a:bodyPr>
          <a:lstStyle/>
          <a:p>
            <a:pPr marL="0" indent="0" algn="ctr">
              <a:buNone/>
            </a:pPr>
            <a:r>
              <a:rPr lang="en-US" sz="2850" dirty="0">
                <a:solidFill>
                  <a:srgbClr val="0E3145">
                    <a:alpha val="50000"/>
                  </a:srgbClr>
                </a:solidFill>
                <a:latin typeface="Euclid Circular A" pitchFamily="34" charset="0"/>
                <a:ea typeface="Euclid Circular A" pitchFamily="34" charset="-122"/>
                <a:cs typeface="Euclid Circular A" pitchFamily="34" charset="-120"/>
              </a:rPr>
              <a:t>2</a:t>
            </a:r>
            <a:endParaRPr lang="en-US" sz="2850" dirty="0"/>
          </a:p>
        </p:txBody>
      </p:sp>
      <p:sp>
        <p:nvSpPr>
          <p:cNvPr id="9" name="Shape 7"/>
          <p:cNvSpPr/>
          <p:nvPr/>
        </p:nvSpPr>
        <p:spPr>
          <a:xfrm>
            <a:off x="5720507" y="3086163"/>
            <a:ext cx="2193429" cy="800100"/>
          </a:xfrm>
          <a:prstGeom prst="roundRect">
            <a:avLst>
              <a:gd name="adj" fmla="val 14286"/>
            </a:avLst>
          </a:prstGeom>
          <a:solidFill>
            <a:srgbClr val="B9D277">
              <a:alpha val="50000"/>
            </a:srgbClr>
          </a:solidFill>
          <a:ln/>
        </p:spPr>
        <p:txBody>
          <a:bodyPr/>
          <a:lstStyle/>
          <a:p>
            <a:endParaRPr lang="fr-FR"/>
          </a:p>
        </p:txBody>
      </p:sp>
      <p:sp>
        <p:nvSpPr>
          <p:cNvPr id="10" name="Text 8"/>
          <p:cNvSpPr/>
          <p:nvPr/>
        </p:nvSpPr>
        <p:spPr>
          <a:xfrm>
            <a:off x="5682407" y="3086163"/>
            <a:ext cx="2269629" cy="838200"/>
          </a:xfrm>
          <a:prstGeom prst="rect">
            <a:avLst/>
          </a:prstGeom>
          <a:noFill/>
          <a:ln/>
        </p:spPr>
        <p:txBody>
          <a:bodyPr wrap="square" lIns="25400" tIns="25400" rIns="25400" bIns="25400" rtlCol="0" anchor="ctr">
            <a:normAutofit/>
          </a:bodyPr>
          <a:lstStyle/>
          <a:p>
            <a:pPr marL="0" indent="0" algn="ctr">
              <a:buNone/>
            </a:pPr>
            <a:r>
              <a:rPr lang="en-US" sz="2850" dirty="0">
                <a:solidFill>
                  <a:srgbClr val="0E3145">
                    <a:alpha val="50000"/>
                  </a:srgbClr>
                </a:solidFill>
                <a:latin typeface="Euclid Circular A" pitchFamily="34" charset="0"/>
                <a:ea typeface="Euclid Circular A" pitchFamily="34" charset="-122"/>
                <a:cs typeface="Euclid Circular A" pitchFamily="34" charset="-120"/>
              </a:rPr>
              <a:t>3</a:t>
            </a:r>
            <a:endParaRPr lang="en-US" sz="2850" dirty="0"/>
          </a:p>
        </p:txBody>
      </p:sp>
      <p:sp>
        <p:nvSpPr>
          <p:cNvPr id="11" name="Text 9"/>
          <p:cNvSpPr/>
          <p:nvPr/>
        </p:nvSpPr>
        <p:spPr>
          <a:xfrm>
            <a:off x="8161065" y="2286063"/>
            <a:ext cx="2162458" cy="323850"/>
          </a:xfrm>
          <a:prstGeom prst="rect">
            <a:avLst/>
          </a:prstGeom>
          <a:noFill/>
          <a:ln/>
        </p:spPr>
        <p:txBody>
          <a:bodyPr wrap="non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VOTRE PROFIL</a:t>
            </a:r>
            <a:endParaRPr lang="en-US" sz="1800" dirty="0"/>
          </a:p>
        </p:txBody>
      </p:sp>
      <p:sp>
        <p:nvSpPr>
          <p:cNvPr id="12" name="Shape 10"/>
          <p:cNvSpPr/>
          <p:nvPr/>
        </p:nvSpPr>
        <p:spPr>
          <a:xfrm>
            <a:off x="9039225" y="2600388"/>
            <a:ext cx="209550" cy="123825"/>
          </a:xfrm>
          <a:prstGeom prst="rect">
            <a:avLst/>
          </a:prstGeom>
          <a:solidFill>
            <a:srgbClr val="DC216E"/>
          </a:solidFill>
          <a:ln/>
        </p:spPr>
        <p:txBody>
          <a:bodyPr/>
          <a:lstStyle/>
          <a:p>
            <a:endParaRPr lang="fr-FR"/>
          </a:p>
        </p:txBody>
      </p:sp>
      <p:sp>
        <p:nvSpPr>
          <p:cNvPr id="13" name="Shape 11"/>
          <p:cNvSpPr/>
          <p:nvPr/>
        </p:nvSpPr>
        <p:spPr>
          <a:xfrm>
            <a:off x="8047286" y="2743263"/>
            <a:ext cx="2193578" cy="1143000"/>
          </a:xfrm>
          <a:prstGeom prst="roundRect">
            <a:avLst>
              <a:gd name="adj" fmla="val 11667"/>
            </a:avLst>
          </a:prstGeom>
          <a:solidFill>
            <a:srgbClr val="FECB4D"/>
          </a:solidFill>
          <a:ln/>
          <a:effectLst>
            <a:outerShdw blurRad="285750" dist="152400" dir="5400000" algn="bl" rotWithShape="0">
              <a:srgbClr val="FECB4D">
                <a:alpha val="90000"/>
              </a:srgbClr>
            </a:outerShdw>
          </a:effectLst>
        </p:spPr>
        <p:txBody>
          <a:bodyPr/>
          <a:lstStyle/>
          <a:p>
            <a:endParaRPr lang="fr-FR"/>
          </a:p>
        </p:txBody>
      </p:sp>
      <p:sp>
        <p:nvSpPr>
          <p:cNvPr id="14" name="Text 12"/>
          <p:cNvSpPr/>
          <p:nvPr/>
        </p:nvSpPr>
        <p:spPr>
          <a:xfrm>
            <a:off x="8009186" y="2743263"/>
            <a:ext cx="2269778" cy="1181100"/>
          </a:xfrm>
          <a:prstGeom prst="rect">
            <a:avLst/>
          </a:prstGeom>
          <a:noFill/>
          <a:ln/>
        </p:spPr>
        <p:txBody>
          <a:bodyPr wrap="square" lIns="25400" tIns="25400" rIns="25400" bIns="25400" rtlCol="0" anchor="ctr">
            <a:normAutofit/>
          </a:bodyPr>
          <a:lstStyle/>
          <a:p>
            <a:pPr marL="0" indent="0" algn="ctr">
              <a:buNone/>
            </a:pPr>
            <a:r>
              <a:rPr lang="en-US" sz="3900" b="1" dirty="0">
                <a:solidFill>
                  <a:srgbClr val="0E3145"/>
                </a:solidFill>
                <a:latin typeface="Euclid Circular A" pitchFamily="34" charset="0"/>
                <a:ea typeface="Euclid Circular A" pitchFamily="34" charset="-122"/>
                <a:cs typeface="Euclid Circular A" pitchFamily="34" charset="-120"/>
              </a:rPr>
              <a:t>4</a:t>
            </a:r>
            <a:endParaRPr lang="en-US" sz="3900" dirty="0"/>
          </a:p>
        </p:txBody>
      </p:sp>
      <p:sp>
        <p:nvSpPr>
          <p:cNvPr id="15" name="Shape 13"/>
          <p:cNvSpPr/>
          <p:nvPr/>
        </p:nvSpPr>
        <p:spPr>
          <a:xfrm>
            <a:off x="10374213" y="3086163"/>
            <a:ext cx="2193429" cy="800100"/>
          </a:xfrm>
          <a:prstGeom prst="roundRect">
            <a:avLst>
              <a:gd name="adj" fmla="val 14286"/>
            </a:avLst>
          </a:prstGeom>
          <a:solidFill>
            <a:srgbClr val="F79E5C">
              <a:alpha val="50000"/>
            </a:srgbClr>
          </a:solidFill>
          <a:ln/>
        </p:spPr>
        <p:txBody>
          <a:bodyPr/>
          <a:lstStyle/>
          <a:p>
            <a:endParaRPr lang="fr-FR"/>
          </a:p>
        </p:txBody>
      </p:sp>
      <p:sp>
        <p:nvSpPr>
          <p:cNvPr id="16" name="Text 14"/>
          <p:cNvSpPr/>
          <p:nvPr/>
        </p:nvSpPr>
        <p:spPr>
          <a:xfrm>
            <a:off x="10336113" y="3086163"/>
            <a:ext cx="2269629" cy="838200"/>
          </a:xfrm>
          <a:prstGeom prst="rect">
            <a:avLst/>
          </a:prstGeom>
          <a:noFill/>
          <a:ln/>
        </p:spPr>
        <p:txBody>
          <a:bodyPr wrap="square" lIns="25400" tIns="25400" rIns="25400" bIns="25400" rtlCol="0" anchor="ctr">
            <a:normAutofit/>
          </a:bodyPr>
          <a:lstStyle/>
          <a:p>
            <a:pPr marL="0" indent="0" algn="ctr">
              <a:buNone/>
            </a:pPr>
            <a:r>
              <a:rPr lang="en-US" sz="2850" dirty="0">
                <a:solidFill>
                  <a:srgbClr val="FFFFFF">
                    <a:alpha val="50000"/>
                  </a:srgbClr>
                </a:solidFill>
                <a:latin typeface="Euclid Circular A" pitchFamily="34" charset="0"/>
                <a:ea typeface="Euclid Circular A" pitchFamily="34" charset="-122"/>
                <a:cs typeface="Euclid Circular A" pitchFamily="34" charset="-120"/>
              </a:rPr>
              <a:t>5</a:t>
            </a:r>
            <a:endParaRPr lang="en-US" sz="2850" dirty="0"/>
          </a:p>
        </p:txBody>
      </p:sp>
      <p:sp>
        <p:nvSpPr>
          <p:cNvPr id="17" name="Shape 15"/>
          <p:cNvSpPr/>
          <p:nvPr/>
        </p:nvSpPr>
        <p:spPr>
          <a:xfrm>
            <a:off x="12700992" y="3086163"/>
            <a:ext cx="2193429" cy="800100"/>
          </a:xfrm>
          <a:prstGeom prst="roundRect">
            <a:avLst>
              <a:gd name="adj" fmla="val 14286"/>
            </a:avLst>
          </a:prstGeom>
          <a:solidFill>
            <a:srgbClr val="EB6079">
              <a:alpha val="50000"/>
            </a:srgbClr>
          </a:solidFill>
          <a:ln/>
        </p:spPr>
        <p:txBody>
          <a:bodyPr/>
          <a:lstStyle/>
          <a:p>
            <a:endParaRPr lang="fr-FR"/>
          </a:p>
        </p:txBody>
      </p:sp>
      <p:sp>
        <p:nvSpPr>
          <p:cNvPr id="18" name="Text 16"/>
          <p:cNvSpPr/>
          <p:nvPr/>
        </p:nvSpPr>
        <p:spPr>
          <a:xfrm>
            <a:off x="12662892" y="3086163"/>
            <a:ext cx="2269629" cy="838200"/>
          </a:xfrm>
          <a:prstGeom prst="rect">
            <a:avLst/>
          </a:prstGeom>
          <a:noFill/>
          <a:ln/>
        </p:spPr>
        <p:txBody>
          <a:bodyPr wrap="square" lIns="25400" tIns="25400" rIns="25400" bIns="25400" rtlCol="0" anchor="ctr">
            <a:normAutofit/>
          </a:bodyPr>
          <a:lstStyle/>
          <a:p>
            <a:pPr marL="0" indent="0" algn="ctr">
              <a:buNone/>
            </a:pPr>
            <a:r>
              <a:rPr lang="en-US" sz="2850" dirty="0">
                <a:solidFill>
                  <a:srgbClr val="FFFFFF">
                    <a:alpha val="50000"/>
                  </a:srgbClr>
                </a:solidFill>
                <a:latin typeface="Euclid Circular A" pitchFamily="34" charset="0"/>
                <a:ea typeface="Euclid Circular A" pitchFamily="34" charset="-122"/>
                <a:cs typeface="Euclid Circular A" pitchFamily="34" charset="-120"/>
              </a:rPr>
              <a:t>6</a:t>
            </a:r>
            <a:endParaRPr lang="en-US" sz="2850" dirty="0"/>
          </a:p>
        </p:txBody>
      </p:sp>
      <p:sp>
        <p:nvSpPr>
          <p:cNvPr id="19" name="Shape 17"/>
          <p:cNvSpPr/>
          <p:nvPr/>
        </p:nvSpPr>
        <p:spPr>
          <a:xfrm>
            <a:off x="15027771" y="3086163"/>
            <a:ext cx="2193429" cy="800100"/>
          </a:xfrm>
          <a:prstGeom prst="roundRect">
            <a:avLst>
              <a:gd name="adj" fmla="val 14286"/>
            </a:avLst>
          </a:prstGeom>
          <a:solidFill>
            <a:srgbClr val="DC216E">
              <a:alpha val="50000"/>
            </a:srgbClr>
          </a:solidFill>
          <a:ln/>
        </p:spPr>
        <p:txBody>
          <a:bodyPr/>
          <a:lstStyle/>
          <a:p>
            <a:endParaRPr lang="fr-FR"/>
          </a:p>
        </p:txBody>
      </p:sp>
      <p:sp>
        <p:nvSpPr>
          <p:cNvPr id="20" name="Text 18"/>
          <p:cNvSpPr/>
          <p:nvPr/>
        </p:nvSpPr>
        <p:spPr>
          <a:xfrm>
            <a:off x="14989671" y="3086163"/>
            <a:ext cx="2269629" cy="838200"/>
          </a:xfrm>
          <a:prstGeom prst="rect">
            <a:avLst/>
          </a:prstGeom>
          <a:noFill/>
          <a:ln/>
        </p:spPr>
        <p:txBody>
          <a:bodyPr wrap="square" lIns="25400" tIns="25400" rIns="25400" bIns="25400" rtlCol="0" anchor="ctr">
            <a:normAutofit/>
          </a:bodyPr>
          <a:lstStyle/>
          <a:p>
            <a:pPr marL="0" indent="0" algn="ctr">
              <a:buNone/>
            </a:pPr>
            <a:r>
              <a:rPr lang="en-US" sz="2850" dirty="0">
                <a:solidFill>
                  <a:srgbClr val="FFFFFF">
                    <a:alpha val="50000"/>
                  </a:srgbClr>
                </a:solidFill>
                <a:latin typeface="Euclid Circular A" pitchFamily="34" charset="0"/>
                <a:ea typeface="Euclid Circular A" pitchFamily="34" charset="-122"/>
                <a:cs typeface="Euclid Circular A" pitchFamily="34" charset="-120"/>
              </a:rPr>
              <a:t>7</a:t>
            </a:r>
            <a:endParaRPr lang="en-US" sz="2850" dirty="0"/>
          </a:p>
        </p:txBody>
      </p:sp>
      <p:sp>
        <p:nvSpPr>
          <p:cNvPr id="21" name="Text 19"/>
          <p:cNvSpPr/>
          <p:nvPr/>
        </p:nvSpPr>
        <p:spPr>
          <a:xfrm>
            <a:off x="1066800" y="4057713"/>
            <a:ext cx="2359402" cy="333375"/>
          </a:xfrm>
          <a:prstGeom prst="rect">
            <a:avLst/>
          </a:prstGeom>
          <a:noFill/>
          <a:ln/>
        </p:spPr>
        <p:txBody>
          <a:bodyPr wrap="square" lIns="25400" tIns="25400" rIns="25400" bIns="25400" rtlCol="0" anchor="t">
            <a:normAutofit/>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 Risque plus faible</a:t>
            </a:r>
            <a:endParaRPr lang="en-US" sz="1800" dirty="0"/>
          </a:p>
        </p:txBody>
      </p:sp>
      <p:sp>
        <p:nvSpPr>
          <p:cNvPr id="22" name="Text 20"/>
          <p:cNvSpPr/>
          <p:nvPr/>
        </p:nvSpPr>
        <p:spPr>
          <a:xfrm>
            <a:off x="15115431" y="4057713"/>
            <a:ext cx="2316346" cy="333375"/>
          </a:xfrm>
          <a:prstGeom prst="rect">
            <a:avLst/>
          </a:prstGeom>
          <a:noFill/>
          <a:ln/>
        </p:spPr>
        <p:txBody>
          <a:bodyPr wrap="square" lIns="25400" tIns="25400" rIns="25400" bIns="25400" rtlCol="0" anchor="t">
            <a:normAutofit/>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Risque plus élevé ▸</a:t>
            </a:r>
            <a:endParaRPr lang="en-US" sz="1800" dirty="0"/>
          </a:p>
        </p:txBody>
      </p:sp>
      <p:sp>
        <p:nvSpPr>
          <p:cNvPr id="23" name="Text 21"/>
          <p:cNvSpPr/>
          <p:nvPr/>
        </p:nvSpPr>
        <p:spPr>
          <a:xfrm>
            <a:off x="1066800" y="5865876"/>
            <a:ext cx="9404539"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252" dirty="0">
                <a:solidFill>
                  <a:srgbClr val="DC216E"/>
                </a:solidFill>
                <a:latin typeface="Euclid Circular A" pitchFamily="34" charset="0"/>
                <a:ea typeface="Euclid Circular A" pitchFamily="34" charset="-122"/>
                <a:cs typeface="Euclid Circular A" pitchFamily="34" charset="-120"/>
              </a:rPr>
              <a:t>NIVEAU 4 · ÉQUILIBRÉ</a:t>
            </a:r>
            <a:endParaRPr lang="en-US" sz="1800" dirty="0"/>
          </a:p>
        </p:txBody>
      </p:sp>
      <p:sp>
        <p:nvSpPr>
          <p:cNvPr id="24" name="Text 22"/>
          <p:cNvSpPr/>
          <p:nvPr/>
        </p:nvSpPr>
        <p:spPr>
          <a:xfrm>
            <a:off x="1066800" y="6304026"/>
            <a:ext cx="7701132" cy="1323975"/>
          </a:xfrm>
          <a:prstGeom prst="rect">
            <a:avLst/>
          </a:prstGeom>
          <a:noFill/>
          <a:ln/>
        </p:spPr>
        <p:txBody>
          <a:bodyPr wrap="square" lIns="25400" tIns="25400" rIns="25400" bIns="25400" rtlCol="0" anchor="t">
            <a:normAutofit fontScale="92500" lnSpcReduction="20000"/>
          </a:bodyPr>
          <a:lstStyle/>
          <a:p>
            <a:pPr marL="0" indent="0" algn="l">
              <a:lnSpc>
                <a:spcPct val="150000"/>
              </a:lnSpc>
              <a:buNone/>
            </a:pPr>
            <a:r>
              <a:rPr lang="en-US" sz="2250" dirty="0">
                <a:solidFill>
                  <a:srgbClr val="0E3145"/>
                </a:solidFill>
                <a:latin typeface="Euclid Circular A" pitchFamily="34" charset="0"/>
                <a:ea typeface="Euclid Circular A" pitchFamily="34" charset="-122"/>
                <a:cs typeface="Euclid Circular A" pitchFamily="34" charset="-120"/>
              </a:rPr>
              <a:t>Décrivez ici ce que recouvre ce profil : tolérance aux fluctuations, recherche de croissance maîtrisée, et le type d'allocation qui en découle.</a:t>
            </a:r>
            <a:endParaRPr lang="en-US" sz="2250" dirty="0"/>
          </a:p>
        </p:txBody>
      </p:sp>
      <p:sp>
        <p:nvSpPr>
          <p:cNvPr id="25" name="Shape 23"/>
          <p:cNvSpPr/>
          <p:nvPr/>
        </p:nvSpPr>
        <p:spPr>
          <a:xfrm>
            <a:off x="10225980" y="5894451"/>
            <a:ext cx="2179290" cy="1666875"/>
          </a:xfrm>
          <a:prstGeom prst="roundRect">
            <a:avLst>
              <a:gd name="adj" fmla="val 6857"/>
            </a:avLst>
          </a:prstGeom>
          <a:solidFill>
            <a:srgbClr val="FFFFFF"/>
          </a:solidFill>
          <a:ln w="9525">
            <a:solidFill>
              <a:srgbClr val="0E3145">
                <a:alpha val="12000"/>
              </a:srgbClr>
            </a:solidFill>
            <a:prstDash val="solid"/>
          </a:ln>
        </p:spPr>
        <p:txBody>
          <a:bodyPr/>
          <a:lstStyle/>
          <a:p>
            <a:endParaRPr lang="fr-FR"/>
          </a:p>
        </p:txBody>
      </p:sp>
      <p:sp>
        <p:nvSpPr>
          <p:cNvPr id="26" name="Text 24"/>
          <p:cNvSpPr/>
          <p:nvPr/>
        </p:nvSpPr>
        <p:spPr>
          <a:xfrm>
            <a:off x="10483155" y="6151626"/>
            <a:ext cx="1831434" cy="542925"/>
          </a:xfrm>
          <a:prstGeom prst="rect">
            <a:avLst/>
          </a:prstGeom>
          <a:noFill/>
          <a:ln/>
        </p:spPr>
        <p:txBody>
          <a:bodyPr wrap="square" lIns="25400" tIns="25400" rIns="25400" bIns="25400" rtlCol="0" anchor="t">
            <a:normAutofit/>
          </a:bodyPr>
          <a:lstStyle/>
          <a:p>
            <a:pPr marL="0" indent="0" algn="l">
              <a:buNone/>
            </a:pPr>
            <a:r>
              <a:rPr lang="en-US" sz="3150" kern="0" spc="-63" dirty="0">
                <a:solidFill>
                  <a:srgbClr val="0E3145"/>
                </a:solidFill>
                <a:latin typeface="Euclid Circular A" pitchFamily="34" charset="0"/>
                <a:ea typeface="Euclid Circular A" pitchFamily="34" charset="-122"/>
                <a:cs typeface="Euclid Circular A" pitchFamily="34" charset="-120"/>
              </a:rPr>
              <a:t>00 ans</a:t>
            </a:r>
            <a:endParaRPr lang="en-US" sz="3150" dirty="0"/>
          </a:p>
        </p:txBody>
      </p:sp>
      <p:sp>
        <p:nvSpPr>
          <p:cNvPr id="27" name="Text 25"/>
          <p:cNvSpPr/>
          <p:nvPr/>
        </p:nvSpPr>
        <p:spPr>
          <a:xfrm>
            <a:off x="10483155" y="6732651"/>
            <a:ext cx="1741140" cy="609600"/>
          </a:xfrm>
          <a:prstGeom prst="rect">
            <a:avLst/>
          </a:prstGeom>
          <a:noFill/>
          <a:ln/>
        </p:spPr>
        <p:txBody>
          <a:bodyPr wrap="square" lIns="25400" tIns="25400" rIns="25400" bIns="25400" rtlCol="0" anchor="t">
            <a:normAutofit/>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Horizon conseillé</a:t>
            </a:r>
            <a:endParaRPr lang="en-US" sz="1800" dirty="0"/>
          </a:p>
        </p:txBody>
      </p:sp>
      <p:sp>
        <p:nvSpPr>
          <p:cNvPr id="28" name="Shape 26"/>
          <p:cNvSpPr/>
          <p:nvPr/>
        </p:nvSpPr>
        <p:spPr>
          <a:xfrm>
            <a:off x="12633871" y="5894451"/>
            <a:ext cx="2179290" cy="1666875"/>
          </a:xfrm>
          <a:prstGeom prst="roundRect">
            <a:avLst>
              <a:gd name="adj" fmla="val 6857"/>
            </a:avLst>
          </a:prstGeom>
          <a:solidFill>
            <a:srgbClr val="FFFFFF"/>
          </a:solidFill>
          <a:ln w="9525">
            <a:solidFill>
              <a:srgbClr val="0E3145">
                <a:alpha val="12000"/>
              </a:srgbClr>
            </a:solidFill>
            <a:prstDash val="solid"/>
          </a:ln>
        </p:spPr>
        <p:txBody>
          <a:bodyPr/>
          <a:lstStyle/>
          <a:p>
            <a:endParaRPr lang="fr-FR"/>
          </a:p>
        </p:txBody>
      </p:sp>
      <p:sp>
        <p:nvSpPr>
          <p:cNvPr id="29" name="Text 27"/>
          <p:cNvSpPr/>
          <p:nvPr/>
        </p:nvSpPr>
        <p:spPr>
          <a:xfrm>
            <a:off x="12891046" y="6151626"/>
            <a:ext cx="1831434" cy="542925"/>
          </a:xfrm>
          <a:prstGeom prst="rect">
            <a:avLst/>
          </a:prstGeom>
          <a:noFill/>
          <a:ln/>
        </p:spPr>
        <p:txBody>
          <a:bodyPr wrap="square" lIns="25400" tIns="25400" rIns="25400" bIns="25400" rtlCol="0" anchor="t">
            <a:normAutofit/>
          </a:bodyPr>
          <a:lstStyle/>
          <a:p>
            <a:pPr marL="0" indent="0" algn="l">
              <a:buNone/>
            </a:pPr>
            <a:r>
              <a:rPr lang="en-US" sz="3150" kern="0" spc="-63" dirty="0">
                <a:solidFill>
                  <a:srgbClr val="0E3145"/>
                </a:solidFill>
                <a:latin typeface="Euclid Circular A" pitchFamily="34" charset="0"/>
                <a:ea typeface="Euclid Circular A" pitchFamily="34" charset="-122"/>
                <a:cs typeface="Euclid Circular A" pitchFamily="34" charset="-120"/>
              </a:rPr>
              <a:t>−00 %</a:t>
            </a:r>
            <a:endParaRPr lang="en-US" sz="3150" dirty="0"/>
          </a:p>
        </p:txBody>
      </p:sp>
      <p:sp>
        <p:nvSpPr>
          <p:cNvPr id="30" name="Text 28"/>
          <p:cNvSpPr/>
          <p:nvPr/>
        </p:nvSpPr>
        <p:spPr>
          <a:xfrm>
            <a:off x="12891046" y="6732651"/>
            <a:ext cx="1741140" cy="609600"/>
          </a:xfrm>
          <a:prstGeom prst="rect">
            <a:avLst/>
          </a:prstGeom>
          <a:noFill/>
          <a:ln/>
        </p:spPr>
        <p:txBody>
          <a:bodyPr wrap="square" lIns="25400" tIns="25400" rIns="25400" bIns="25400" rtlCol="0" anchor="t">
            <a:normAutofit/>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Perte max. envisagée</a:t>
            </a:r>
            <a:endParaRPr lang="en-US" sz="1800" dirty="0"/>
          </a:p>
        </p:txBody>
      </p:sp>
      <p:sp>
        <p:nvSpPr>
          <p:cNvPr id="31" name="Shape 29"/>
          <p:cNvSpPr/>
          <p:nvPr/>
        </p:nvSpPr>
        <p:spPr>
          <a:xfrm>
            <a:off x="15041761" y="5894451"/>
            <a:ext cx="2179290" cy="1666875"/>
          </a:xfrm>
          <a:prstGeom prst="roundRect">
            <a:avLst>
              <a:gd name="adj" fmla="val 6857"/>
            </a:avLst>
          </a:prstGeom>
          <a:solidFill>
            <a:srgbClr val="FFFFFF"/>
          </a:solidFill>
          <a:ln w="9525">
            <a:solidFill>
              <a:srgbClr val="0E3145">
                <a:alpha val="12000"/>
              </a:srgbClr>
            </a:solidFill>
            <a:prstDash val="solid"/>
          </a:ln>
        </p:spPr>
        <p:txBody>
          <a:bodyPr/>
          <a:lstStyle/>
          <a:p>
            <a:endParaRPr lang="fr-FR"/>
          </a:p>
        </p:txBody>
      </p:sp>
      <p:sp>
        <p:nvSpPr>
          <p:cNvPr id="32" name="Text 30"/>
          <p:cNvSpPr/>
          <p:nvPr/>
        </p:nvSpPr>
        <p:spPr>
          <a:xfrm>
            <a:off x="15298936" y="6151626"/>
            <a:ext cx="1831434" cy="542925"/>
          </a:xfrm>
          <a:prstGeom prst="rect">
            <a:avLst/>
          </a:prstGeom>
          <a:noFill/>
          <a:ln/>
        </p:spPr>
        <p:txBody>
          <a:bodyPr wrap="square" lIns="25400" tIns="25400" rIns="25400" bIns="25400" rtlCol="0" anchor="t">
            <a:normAutofit/>
          </a:bodyPr>
          <a:lstStyle/>
          <a:p>
            <a:pPr marL="0" indent="0" algn="l">
              <a:buNone/>
            </a:pPr>
            <a:r>
              <a:rPr lang="en-US" sz="3150" kern="0" spc="-63" dirty="0">
                <a:solidFill>
                  <a:srgbClr val="0E3145"/>
                </a:solidFill>
                <a:latin typeface="Euclid Circular A" pitchFamily="34" charset="0"/>
                <a:ea typeface="Euclid Circular A" pitchFamily="34" charset="-122"/>
                <a:cs typeface="Euclid Circular A" pitchFamily="34" charset="-120"/>
              </a:rPr>
              <a:t>00 %</a:t>
            </a:r>
            <a:endParaRPr lang="en-US" sz="3150" dirty="0"/>
          </a:p>
        </p:txBody>
      </p:sp>
      <p:sp>
        <p:nvSpPr>
          <p:cNvPr id="33" name="Text 31"/>
          <p:cNvSpPr/>
          <p:nvPr/>
        </p:nvSpPr>
        <p:spPr>
          <a:xfrm>
            <a:off x="15298936" y="6732651"/>
            <a:ext cx="1831434"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Part actions</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066800" y="914400"/>
            <a:ext cx="323850" cy="19050"/>
          </a:xfrm>
          <a:prstGeom prst="rect">
            <a:avLst/>
          </a:prstGeom>
          <a:solidFill>
            <a:srgbClr val="DC216E"/>
          </a:solidFill>
          <a:ln/>
        </p:spPr>
        <p:txBody>
          <a:bodyPr/>
          <a:lstStyle/>
          <a:p>
            <a:endParaRPr lang="fr-FR"/>
          </a:p>
        </p:txBody>
      </p:sp>
      <p:sp>
        <p:nvSpPr>
          <p:cNvPr id="3" name="Text 1"/>
          <p:cNvSpPr/>
          <p:nvPr/>
        </p:nvSpPr>
        <p:spPr>
          <a:xfrm>
            <a:off x="1524000" y="781050"/>
            <a:ext cx="2433191" cy="323850"/>
          </a:xfrm>
          <a:prstGeom prst="rect">
            <a:avLst/>
          </a:prstGeom>
          <a:noFill/>
          <a:ln/>
        </p:spPr>
        <p:txBody>
          <a:bodyPr wrap="square" lIns="0" tIns="0" rIns="0" bIns="0" rtlCol="0" anchor="t">
            <a:normAutofit/>
          </a:bodyPr>
          <a:lstStyle/>
          <a:p>
            <a:pPr marL="0" indent="0" algn="l">
              <a:buNone/>
            </a:pPr>
            <a:r>
              <a:rPr lang="en-US" sz="1800" b="1" kern="0" spc="432" dirty="0">
                <a:solidFill>
                  <a:srgbClr val="DC216E"/>
                </a:solidFill>
                <a:latin typeface="Euclid Circular A" pitchFamily="34" charset="0"/>
                <a:ea typeface="Euclid Circular A" pitchFamily="34" charset="-122"/>
                <a:cs typeface="Euclid Circular A" pitchFamily="34" charset="-120"/>
              </a:rPr>
              <a:t>PROFIL CLIENT</a:t>
            </a:r>
            <a:endParaRPr lang="en-US" sz="1800" dirty="0"/>
          </a:p>
        </p:txBody>
      </p:sp>
      <p:sp>
        <p:nvSpPr>
          <p:cNvPr id="4" name="Text 2"/>
          <p:cNvSpPr/>
          <p:nvPr/>
        </p:nvSpPr>
        <p:spPr>
          <a:xfrm>
            <a:off x="1066800" y="1200150"/>
            <a:ext cx="17769840" cy="8191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6150" kern="0" spc="-184" dirty="0">
                <a:solidFill>
                  <a:srgbClr val="0E3145"/>
                </a:solidFill>
                <a:latin typeface="Euclid Circular A" pitchFamily="34" charset="0"/>
                <a:ea typeface="Euclid Circular A" pitchFamily="34" charset="-122"/>
                <a:cs typeface="Euclid Circular A" pitchFamily="34" charset="-120"/>
              </a:rPr>
              <a:t>Objectifs &amp; </a:t>
            </a:r>
            <a:r>
              <a:rPr lang="en-US" sz="6150" kern="0" spc="-184" dirty="0">
                <a:solidFill>
                  <a:srgbClr val="DC216E"/>
                </a:solidFill>
                <a:latin typeface="Euclid Circular A" pitchFamily="34" charset="0"/>
                <a:ea typeface="Euclid Circular A" pitchFamily="34" charset="-122"/>
                <a:cs typeface="Euclid Circular A" pitchFamily="34" charset="-120"/>
              </a:rPr>
              <a:t>horizon</a:t>
            </a:r>
            <a:endParaRPr lang="en-US" sz="6150" dirty="0"/>
          </a:p>
        </p:txBody>
      </p:sp>
      <p:sp>
        <p:nvSpPr>
          <p:cNvPr id="5" name="Shape 3"/>
          <p:cNvSpPr/>
          <p:nvPr/>
        </p:nvSpPr>
        <p:spPr>
          <a:xfrm>
            <a:off x="1066800" y="2438400"/>
            <a:ext cx="5168801" cy="6315075"/>
          </a:xfrm>
          <a:prstGeom prst="roundRect">
            <a:avLst>
              <a:gd name="adj" fmla="val 3317"/>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6" name="Shape 4"/>
          <p:cNvSpPr/>
          <p:nvPr/>
        </p:nvSpPr>
        <p:spPr>
          <a:xfrm>
            <a:off x="1476375" y="2847975"/>
            <a:ext cx="762000" cy="762000"/>
          </a:xfrm>
          <a:prstGeom prst="roundRect">
            <a:avLst>
              <a:gd name="adj" fmla="val 22500"/>
            </a:avLst>
          </a:prstGeom>
          <a:solidFill>
            <a:srgbClr val="DC216E">
              <a:alpha val="8000"/>
            </a:srgbClr>
          </a:solidFill>
          <a:ln w="9525">
            <a:solidFill>
              <a:srgbClr val="DC216E">
                <a:alpha val="22000"/>
              </a:srgbClr>
            </a:solidFill>
            <a:prstDash val="solid"/>
          </a:ln>
        </p:spPr>
        <p:txBody>
          <a:bodyPr/>
          <a:lstStyle/>
          <a:p>
            <a:endParaRPr lang="fr-FR"/>
          </a:p>
        </p:txBody>
      </p:sp>
      <p:pic>
        <p:nvPicPr>
          <p:cNvPr id="7" name="Image 0" descr="preencoded.png"/>
          <p:cNvPicPr>
            <a:picLocks noChangeAspect="1"/>
          </p:cNvPicPr>
          <p:nvPr/>
        </p:nvPicPr>
        <p:blipFill>
          <a:blip r:embed="rId3"/>
          <a:srcRect/>
          <a:stretch/>
        </p:blipFill>
        <p:spPr>
          <a:xfrm>
            <a:off x="1638300" y="3009900"/>
            <a:ext cx="438150" cy="438150"/>
          </a:xfrm>
          <a:prstGeom prst="rect">
            <a:avLst/>
          </a:prstGeom>
        </p:spPr>
      </p:pic>
      <p:sp>
        <p:nvSpPr>
          <p:cNvPr id="8" name="Shape 5"/>
          <p:cNvSpPr/>
          <p:nvPr/>
        </p:nvSpPr>
        <p:spPr>
          <a:xfrm>
            <a:off x="3799582" y="3009900"/>
            <a:ext cx="2026444" cy="438150"/>
          </a:xfrm>
          <a:prstGeom prst="roundRect">
            <a:avLst>
              <a:gd name="adj" fmla="val 50000"/>
            </a:avLst>
          </a:prstGeom>
          <a:solidFill>
            <a:srgbClr val="DC216E">
              <a:alpha val="8000"/>
            </a:srgbClr>
          </a:solidFill>
          <a:ln/>
        </p:spPr>
        <p:txBody>
          <a:bodyPr/>
          <a:lstStyle/>
          <a:p>
            <a:endParaRPr lang="fr-FR"/>
          </a:p>
        </p:txBody>
      </p:sp>
      <p:sp>
        <p:nvSpPr>
          <p:cNvPr id="9" name="Text 6"/>
          <p:cNvSpPr/>
          <p:nvPr/>
        </p:nvSpPr>
        <p:spPr>
          <a:xfrm>
            <a:off x="3971032" y="3086100"/>
            <a:ext cx="1759744"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DC216E"/>
                </a:solidFill>
                <a:latin typeface="Euclid Circular A" pitchFamily="34" charset="0"/>
                <a:ea typeface="Euclid Circular A" pitchFamily="34" charset="-122"/>
                <a:cs typeface="Euclid Circular A" pitchFamily="34" charset="-120"/>
              </a:rPr>
              <a:t>LONG TERME</a:t>
            </a:r>
            <a:endParaRPr lang="en-US" sz="1800" dirty="0"/>
          </a:p>
        </p:txBody>
      </p:sp>
      <p:sp>
        <p:nvSpPr>
          <p:cNvPr id="10" name="Text 7"/>
          <p:cNvSpPr/>
          <p:nvPr/>
        </p:nvSpPr>
        <p:spPr>
          <a:xfrm>
            <a:off x="1476375" y="3895725"/>
            <a:ext cx="4784616" cy="447675"/>
          </a:xfrm>
          <a:prstGeom prst="rect">
            <a:avLst/>
          </a:prstGeom>
          <a:noFill/>
          <a:ln/>
        </p:spPr>
        <p:txBody>
          <a:bodyPr wrap="square" lIns="25400" tIns="25400" rIns="25400" bIns="25400" rtlCol="0" anchor="t">
            <a:normAutofit/>
          </a:bodyPr>
          <a:lstStyle/>
          <a:p>
            <a:pPr marL="0" indent="0" algn="l">
              <a:buNone/>
            </a:pPr>
            <a:r>
              <a:rPr lang="en-US" sz="2550" kern="0" spc="-25" dirty="0">
                <a:solidFill>
                  <a:srgbClr val="0E3145"/>
                </a:solidFill>
                <a:latin typeface="Euclid Circular A" pitchFamily="34" charset="0"/>
                <a:ea typeface="Euclid Circular A" pitchFamily="34" charset="-122"/>
                <a:cs typeface="Euclid Circular A" pitchFamily="34" charset="-120"/>
              </a:rPr>
              <a:t>Objectif n°1</a:t>
            </a:r>
            <a:endParaRPr lang="en-US" sz="2550" dirty="0"/>
          </a:p>
        </p:txBody>
      </p:sp>
      <p:sp>
        <p:nvSpPr>
          <p:cNvPr id="11" name="Text 8"/>
          <p:cNvSpPr/>
          <p:nvPr/>
        </p:nvSpPr>
        <p:spPr>
          <a:xfrm>
            <a:off x="1476375" y="4381500"/>
            <a:ext cx="4784616"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Horizon ~00 ans</a:t>
            </a:r>
            <a:endParaRPr lang="en-US" sz="1800" dirty="0"/>
          </a:p>
        </p:txBody>
      </p:sp>
      <p:sp>
        <p:nvSpPr>
          <p:cNvPr id="12" name="Text 9"/>
          <p:cNvSpPr/>
          <p:nvPr/>
        </p:nvSpPr>
        <p:spPr>
          <a:xfrm>
            <a:off x="1476375" y="7010400"/>
            <a:ext cx="4784616"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0E3145">
                    <a:alpha val="44000"/>
                  </a:srgbClr>
                </a:solidFill>
                <a:latin typeface="Euclid Circular A" pitchFamily="34" charset="0"/>
                <a:ea typeface="Euclid Circular A" pitchFamily="34" charset="-122"/>
                <a:cs typeface="Euclid Circular A" pitchFamily="34" charset="-120"/>
              </a:rPr>
              <a:t>CAPITAL CIBLE</a:t>
            </a:r>
            <a:endParaRPr lang="en-US" sz="1800" dirty="0"/>
          </a:p>
        </p:txBody>
      </p:sp>
      <p:sp>
        <p:nvSpPr>
          <p:cNvPr id="13" name="Text 10"/>
          <p:cNvSpPr/>
          <p:nvPr/>
        </p:nvSpPr>
        <p:spPr>
          <a:xfrm>
            <a:off x="1476375" y="7372350"/>
            <a:ext cx="4784616"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0E3145"/>
                </a:solidFill>
                <a:latin typeface="Euclid Circular A" pitchFamily="34" charset="0"/>
                <a:ea typeface="Euclid Circular A" pitchFamily="34" charset="-122"/>
                <a:cs typeface="Euclid Circular A" pitchFamily="34" charset="-120"/>
              </a:rPr>
              <a:t>000 000 €</a:t>
            </a:r>
            <a:endParaRPr lang="en-US" sz="3750" dirty="0"/>
          </a:p>
        </p:txBody>
      </p:sp>
      <p:sp>
        <p:nvSpPr>
          <p:cNvPr id="14" name="Shape 11"/>
          <p:cNvSpPr/>
          <p:nvPr/>
        </p:nvSpPr>
        <p:spPr>
          <a:xfrm>
            <a:off x="1476375" y="8139112"/>
            <a:ext cx="123825" cy="123825"/>
          </a:xfrm>
          <a:prstGeom prst="ellipse">
            <a:avLst/>
          </a:prstGeom>
          <a:solidFill>
            <a:srgbClr val="DC216E"/>
          </a:solidFill>
          <a:ln/>
        </p:spPr>
        <p:txBody>
          <a:bodyPr/>
          <a:lstStyle/>
          <a:p>
            <a:endParaRPr lang="fr-FR"/>
          </a:p>
        </p:txBody>
      </p:sp>
      <p:sp>
        <p:nvSpPr>
          <p:cNvPr id="15" name="Shape 12"/>
          <p:cNvSpPr/>
          <p:nvPr/>
        </p:nvSpPr>
        <p:spPr>
          <a:xfrm>
            <a:off x="1657350" y="8139112"/>
            <a:ext cx="123825" cy="123825"/>
          </a:xfrm>
          <a:prstGeom prst="ellipse">
            <a:avLst/>
          </a:prstGeom>
          <a:solidFill>
            <a:srgbClr val="DC216E"/>
          </a:solidFill>
          <a:ln/>
        </p:spPr>
        <p:txBody>
          <a:bodyPr/>
          <a:lstStyle/>
          <a:p>
            <a:endParaRPr lang="fr-FR"/>
          </a:p>
        </p:txBody>
      </p:sp>
      <p:sp>
        <p:nvSpPr>
          <p:cNvPr id="16" name="Shape 13"/>
          <p:cNvSpPr/>
          <p:nvPr/>
        </p:nvSpPr>
        <p:spPr>
          <a:xfrm>
            <a:off x="1838325" y="8139112"/>
            <a:ext cx="123825" cy="123825"/>
          </a:xfrm>
          <a:prstGeom prst="ellipse">
            <a:avLst/>
          </a:prstGeom>
          <a:solidFill>
            <a:srgbClr val="DC216E"/>
          </a:solidFill>
          <a:ln/>
        </p:spPr>
        <p:txBody>
          <a:bodyPr/>
          <a:lstStyle/>
          <a:p>
            <a:endParaRPr lang="fr-FR"/>
          </a:p>
        </p:txBody>
      </p:sp>
      <p:sp>
        <p:nvSpPr>
          <p:cNvPr id="17" name="Shape 14"/>
          <p:cNvSpPr/>
          <p:nvPr/>
        </p:nvSpPr>
        <p:spPr>
          <a:xfrm>
            <a:off x="2019300" y="8139112"/>
            <a:ext cx="123825" cy="123825"/>
          </a:xfrm>
          <a:prstGeom prst="ellipse">
            <a:avLst/>
          </a:prstGeom>
          <a:solidFill>
            <a:srgbClr val="0E3145">
              <a:alpha val="24000"/>
            </a:srgbClr>
          </a:solidFill>
          <a:ln/>
        </p:spPr>
        <p:txBody>
          <a:bodyPr/>
          <a:lstStyle/>
          <a:p>
            <a:endParaRPr lang="fr-FR"/>
          </a:p>
        </p:txBody>
      </p:sp>
      <p:sp>
        <p:nvSpPr>
          <p:cNvPr id="18" name="Shape 15"/>
          <p:cNvSpPr/>
          <p:nvPr/>
        </p:nvSpPr>
        <p:spPr>
          <a:xfrm>
            <a:off x="2200275" y="8139112"/>
            <a:ext cx="123825" cy="123825"/>
          </a:xfrm>
          <a:prstGeom prst="ellipse">
            <a:avLst/>
          </a:prstGeom>
          <a:solidFill>
            <a:srgbClr val="0E3145">
              <a:alpha val="24000"/>
            </a:srgbClr>
          </a:solidFill>
          <a:ln/>
        </p:spPr>
        <p:txBody>
          <a:bodyPr/>
          <a:lstStyle/>
          <a:p>
            <a:endParaRPr lang="fr-FR"/>
          </a:p>
        </p:txBody>
      </p:sp>
      <p:sp>
        <p:nvSpPr>
          <p:cNvPr id="19" name="Text 16"/>
          <p:cNvSpPr/>
          <p:nvPr/>
        </p:nvSpPr>
        <p:spPr>
          <a:xfrm>
            <a:off x="2419350" y="8058150"/>
            <a:ext cx="1684913"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Priorité élevée</a:t>
            </a:r>
            <a:endParaRPr lang="en-US" sz="1800" dirty="0"/>
          </a:p>
        </p:txBody>
      </p:sp>
      <p:sp>
        <p:nvSpPr>
          <p:cNvPr id="20" name="Shape 17"/>
          <p:cNvSpPr/>
          <p:nvPr/>
        </p:nvSpPr>
        <p:spPr>
          <a:xfrm>
            <a:off x="6559451" y="2438400"/>
            <a:ext cx="5168950" cy="6315075"/>
          </a:xfrm>
          <a:prstGeom prst="roundRect">
            <a:avLst>
              <a:gd name="adj" fmla="val 3317"/>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21" name="Shape 18"/>
          <p:cNvSpPr/>
          <p:nvPr/>
        </p:nvSpPr>
        <p:spPr>
          <a:xfrm>
            <a:off x="6969026" y="2847975"/>
            <a:ext cx="762000" cy="762000"/>
          </a:xfrm>
          <a:prstGeom prst="roundRect">
            <a:avLst>
              <a:gd name="adj" fmla="val 22500"/>
            </a:avLst>
          </a:prstGeom>
          <a:solidFill>
            <a:srgbClr val="DC216E">
              <a:alpha val="8000"/>
            </a:srgbClr>
          </a:solidFill>
          <a:ln w="9525">
            <a:solidFill>
              <a:srgbClr val="DC216E">
                <a:alpha val="22000"/>
              </a:srgbClr>
            </a:solidFill>
            <a:prstDash val="solid"/>
          </a:ln>
        </p:spPr>
        <p:txBody>
          <a:bodyPr/>
          <a:lstStyle/>
          <a:p>
            <a:endParaRPr lang="fr-FR"/>
          </a:p>
        </p:txBody>
      </p:sp>
      <p:pic>
        <p:nvPicPr>
          <p:cNvPr id="22" name="Image 1" descr="preencoded.png"/>
          <p:cNvPicPr>
            <a:picLocks noChangeAspect="1"/>
          </p:cNvPicPr>
          <p:nvPr/>
        </p:nvPicPr>
        <p:blipFill>
          <a:blip r:embed="rId4"/>
          <a:srcRect/>
          <a:stretch/>
        </p:blipFill>
        <p:spPr>
          <a:xfrm>
            <a:off x="7130951" y="3009900"/>
            <a:ext cx="438150" cy="438150"/>
          </a:xfrm>
          <a:prstGeom prst="rect">
            <a:avLst/>
          </a:prstGeom>
        </p:spPr>
      </p:pic>
      <p:sp>
        <p:nvSpPr>
          <p:cNvPr id="23" name="Shape 19"/>
          <p:cNvSpPr/>
          <p:nvPr/>
        </p:nvSpPr>
        <p:spPr>
          <a:xfrm>
            <a:off x="9095333" y="3009900"/>
            <a:ext cx="2223492" cy="438150"/>
          </a:xfrm>
          <a:prstGeom prst="roundRect">
            <a:avLst>
              <a:gd name="adj" fmla="val 50000"/>
            </a:avLst>
          </a:prstGeom>
          <a:solidFill>
            <a:srgbClr val="DC216E">
              <a:alpha val="8000"/>
            </a:srgbClr>
          </a:solidFill>
          <a:ln/>
        </p:spPr>
        <p:txBody>
          <a:bodyPr/>
          <a:lstStyle/>
          <a:p>
            <a:endParaRPr lang="fr-FR"/>
          </a:p>
        </p:txBody>
      </p:sp>
      <p:sp>
        <p:nvSpPr>
          <p:cNvPr id="24" name="Text 20"/>
          <p:cNvSpPr/>
          <p:nvPr/>
        </p:nvSpPr>
        <p:spPr>
          <a:xfrm>
            <a:off x="9266783" y="3086100"/>
            <a:ext cx="1956792"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DC216E"/>
                </a:solidFill>
                <a:latin typeface="Euclid Circular A" pitchFamily="34" charset="0"/>
                <a:ea typeface="Euclid Circular A" pitchFamily="34" charset="-122"/>
                <a:cs typeface="Euclid Circular A" pitchFamily="34" charset="-120"/>
              </a:rPr>
              <a:t>MOYEN TERME</a:t>
            </a:r>
            <a:endParaRPr lang="en-US" sz="1800" dirty="0"/>
          </a:p>
        </p:txBody>
      </p:sp>
      <p:sp>
        <p:nvSpPr>
          <p:cNvPr id="25" name="Text 21"/>
          <p:cNvSpPr/>
          <p:nvPr/>
        </p:nvSpPr>
        <p:spPr>
          <a:xfrm>
            <a:off x="6969026" y="3895725"/>
            <a:ext cx="4784780" cy="447675"/>
          </a:xfrm>
          <a:prstGeom prst="rect">
            <a:avLst/>
          </a:prstGeom>
          <a:noFill/>
          <a:ln/>
        </p:spPr>
        <p:txBody>
          <a:bodyPr wrap="square" lIns="25400" tIns="25400" rIns="25400" bIns="25400" rtlCol="0" anchor="t">
            <a:normAutofit/>
          </a:bodyPr>
          <a:lstStyle/>
          <a:p>
            <a:pPr marL="0" indent="0" algn="l">
              <a:buNone/>
            </a:pPr>
            <a:r>
              <a:rPr lang="en-US" sz="2550" kern="0" spc="-25" dirty="0">
                <a:solidFill>
                  <a:srgbClr val="0E3145"/>
                </a:solidFill>
                <a:latin typeface="Euclid Circular A" pitchFamily="34" charset="0"/>
                <a:ea typeface="Euclid Circular A" pitchFamily="34" charset="-122"/>
                <a:cs typeface="Euclid Circular A" pitchFamily="34" charset="-120"/>
              </a:rPr>
              <a:t>Objectif n°2</a:t>
            </a:r>
            <a:endParaRPr lang="en-US" sz="2550" dirty="0"/>
          </a:p>
        </p:txBody>
      </p:sp>
      <p:sp>
        <p:nvSpPr>
          <p:cNvPr id="26" name="Text 22"/>
          <p:cNvSpPr/>
          <p:nvPr/>
        </p:nvSpPr>
        <p:spPr>
          <a:xfrm>
            <a:off x="6969026" y="4381500"/>
            <a:ext cx="4784780"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Horizon ~00 ans</a:t>
            </a:r>
            <a:endParaRPr lang="en-US" sz="1800" dirty="0"/>
          </a:p>
        </p:txBody>
      </p:sp>
      <p:sp>
        <p:nvSpPr>
          <p:cNvPr id="27" name="Text 23"/>
          <p:cNvSpPr/>
          <p:nvPr/>
        </p:nvSpPr>
        <p:spPr>
          <a:xfrm>
            <a:off x="6969026" y="7010400"/>
            <a:ext cx="478478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0E3145">
                    <a:alpha val="44000"/>
                  </a:srgbClr>
                </a:solidFill>
                <a:latin typeface="Euclid Circular A" pitchFamily="34" charset="0"/>
                <a:ea typeface="Euclid Circular A" pitchFamily="34" charset="-122"/>
                <a:cs typeface="Euclid Circular A" pitchFamily="34" charset="-120"/>
              </a:rPr>
              <a:t>CAPITAL CIBLE</a:t>
            </a:r>
            <a:endParaRPr lang="en-US" sz="1800" dirty="0"/>
          </a:p>
        </p:txBody>
      </p:sp>
      <p:sp>
        <p:nvSpPr>
          <p:cNvPr id="28" name="Text 24"/>
          <p:cNvSpPr/>
          <p:nvPr/>
        </p:nvSpPr>
        <p:spPr>
          <a:xfrm>
            <a:off x="6969026" y="7372350"/>
            <a:ext cx="4784780"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0E3145"/>
                </a:solidFill>
                <a:latin typeface="Euclid Circular A" pitchFamily="34" charset="0"/>
                <a:ea typeface="Euclid Circular A" pitchFamily="34" charset="-122"/>
                <a:cs typeface="Euclid Circular A" pitchFamily="34" charset="-120"/>
              </a:rPr>
              <a:t>000 000 €</a:t>
            </a:r>
            <a:endParaRPr lang="en-US" sz="3750" dirty="0"/>
          </a:p>
        </p:txBody>
      </p:sp>
      <p:sp>
        <p:nvSpPr>
          <p:cNvPr id="29" name="Shape 25"/>
          <p:cNvSpPr/>
          <p:nvPr/>
        </p:nvSpPr>
        <p:spPr>
          <a:xfrm>
            <a:off x="6969026" y="8139112"/>
            <a:ext cx="123825" cy="123825"/>
          </a:xfrm>
          <a:prstGeom prst="ellipse">
            <a:avLst/>
          </a:prstGeom>
          <a:solidFill>
            <a:srgbClr val="DC216E"/>
          </a:solidFill>
          <a:ln/>
        </p:spPr>
        <p:txBody>
          <a:bodyPr/>
          <a:lstStyle/>
          <a:p>
            <a:endParaRPr lang="fr-FR"/>
          </a:p>
        </p:txBody>
      </p:sp>
      <p:sp>
        <p:nvSpPr>
          <p:cNvPr id="30" name="Shape 26"/>
          <p:cNvSpPr/>
          <p:nvPr/>
        </p:nvSpPr>
        <p:spPr>
          <a:xfrm>
            <a:off x="7150001" y="8139112"/>
            <a:ext cx="123825" cy="123825"/>
          </a:xfrm>
          <a:prstGeom prst="ellipse">
            <a:avLst/>
          </a:prstGeom>
          <a:solidFill>
            <a:srgbClr val="DC216E"/>
          </a:solidFill>
          <a:ln/>
        </p:spPr>
        <p:txBody>
          <a:bodyPr/>
          <a:lstStyle/>
          <a:p>
            <a:endParaRPr lang="fr-FR"/>
          </a:p>
        </p:txBody>
      </p:sp>
      <p:sp>
        <p:nvSpPr>
          <p:cNvPr id="31" name="Shape 27"/>
          <p:cNvSpPr/>
          <p:nvPr/>
        </p:nvSpPr>
        <p:spPr>
          <a:xfrm>
            <a:off x="7330976" y="8139112"/>
            <a:ext cx="123825" cy="123825"/>
          </a:xfrm>
          <a:prstGeom prst="ellipse">
            <a:avLst/>
          </a:prstGeom>
          <a:solidFill>
            <a:srgbClr val="0E3145">
              <a:alpha val="24000"/>
            </a:srgbClr>
          </a:solidFill>
          <a:ln/>
        </p:spPr>
        <p:txBody>
          <a:bodyPr/>
          <a:lstStyle/>
          <a:p>
            <a:endParaRPr lang="fr-FR"/>
          </a:p>
        </p:txBody>
      </p:sp>
      <p:sp>
        <p:nvSpPr>
          <p:cNvPr id="32" name="Shape 28"/>
          <p:cNvSpPr/>
          <p:nvPr/>
        </p:nvSpPr>
        <p:spPr>
          <a:xfrm>
            <a:off x="7511951" y="8139112"/>
            <a:ext cx="123825" cy="123825"/>
          </a:xfrm>
          <a:prstGeom prst="ellipse">
            <a:avLst/>
          </a:prstGeom>
          <a:solidFill>
            <a:srgbClr val="0E3145">
              <a:alpha val="24000"/>
            </a:srgbClr>
          </a:solidFill>
          <a:ln/>
        </p:spPr>
        <p:txBody>
          <a:bodyPr/>
          <a:lstStyle/>
          <a:p>
            <a:endParaRPr lang="fr-FR"/>
          </a:p>
        </p:txBody>
      </p:sp>
      <p:sp>
        <p:nvSpPr>
          <p:cNvPr id="33" name="Shape 29"/>
          <p:cNvSpPr/>
          <p:nvPr/>
        </p:nvSpPr>
        <p:spPr>
          <a:xfrm>
            <a:off x="7692926" y="8139112"/>
            <a:ext cx="123825" cy="123825"/>
          </a:xfrm>
          <a:prstGeom prst="ellipse">
            <a:avLst/>
          </a:prstGeom>
          <a:solidFill>
            <a:srgbClr val="0E3145">
              <a:alpha val="24000"/>
            </a:srgbClr>
          </a:solidFill>
          <a:ln/>
        </p:spPr>
        <p:txBody>
          <a:bodyPr/>
          <a:lstStyle/>
          <a:p>
            <a:endParaRPr lang="fr-FR"/>
          </a:p>
        </p:txBody>
      </p:sp>
      <p:sp>
        <p:nvSpPr>
          <p:cNvPr id="34" name="Text 30"/>
          <p:cNvSpPr/>
          <p:nvPr/>
        </p:nvSpPr>
        <p:spPr>
          <a:xfrm>
            <a:off x="7912001" y="8058150"/>
            <a:ext cx="2002021"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Priorité moyenne</a:t>
            </a:r>
            <a:endParaRPr lang="en-US" sz="1800" dirty="0"/>
          </a:p>
        </p:txBody>
      </p:sp>
      <p:sp>
        <p:nvSpPr>
          <p:cNvPr id="35" name="Shape 31"/>
          <p:cNvSpPr/>
          <p:nvPr/>
        </p:nvSpPr>
        <p:spPr>
          <a:xfrm>
            <a:off x="12052250" y="2438400"/>
            <a:ext cx="5168950" cy="6315075"/>
          </a:xfrm>
          <a:prstGeom prst="roundRect">
            <a:avLst>
              <a:gd name="adj" fmla="val 3317"/>
            </a:avLst>
          </a:prstGeom>
          <a:solidFill>
            <a:srgbClr val="FFFFFF"/>
          </a:solidFill>
          <a:ln w="9525">
            <a:solidFill>
              <a:srgbClr val="0E3145">
                <a:alpha val="12000"/>
              </a:srgbClr>
            </a:solidFill>
            <a:prstDash val="solid"/>
          </a:ln>
          <a:effectLst>
            <a:outerShdw blurRad="285750" dist="133350" dir="5400000" algn="bl" rotWithShape="0">
              <a:srgbClr val="0E3145">
                <a:alpha val="24000"/>
              </a:srgbClr>
            </a:outerShdw>
          </a:effectLst>
        </p:spPr>
        <p:txBody>
          <a:bodyPr/>
          <a:lstStyle/>
          <a:p>
            <a:endParaRPr lang="fr-FR"/>
          </a:p>
        </p:txBody>
      </p:sp>
      <p:sp>
        <p:nvSpPr>
          <p:cNvPr id="36" name="Shape 32"/>
          <p:cNvSpPr/>
          <p:nvPr/>
        </p:nvSpPr>
        <p:spPr>
          <a:xfrm>
            <a:off x="12461825" y="2847975"/>
            <a:ext cx="762000" cy="762000"/>
          </a:xfrm>
          <a:prstGeom prst="roundRect">
            <a:avLst>
              <a:gd name="adj" fmla="val 22500"/>
            </a:avLst>
          </a:prstGeom>
          <a:solidFill>
            <a:srgbClr val="DC216E">
              <a:alpha val="8000"/>
            </a:srgbClr>
          </a:solidFill>
          <a:ln w="9525">
            <a:solidFill>
              <a:srgbClr val="DC216E">
                <a:alpha val="22000"/>
              </a:srgbClr>
            </a:solidFill>
            <a:prstDash val="solid"/>
          </a:ln>
        </p:spPr>
        <p:txBody>
          <a:bodyPr/>
          <a:lstStyle/>
          <a:p>
            <a:endParaRPr lang="fr-FR"/>
          </a:p>
        </p:txBody>
      </p:sp>
      <p:pic>
        <p:nvPicPr>
          <p:cNvPr id="37" name="Image 2" descr="preencoded.png"/>
          <p:cNvPicPr>
            <a:picLocks noChangeAspect="1"/>
          </p:cNvPicPr>
          <p:nvPr/>
        </p:nvPicPr>
        <p:blipFill>
          <a:blip r:embed="rId5"/>
          <a:srcRect/>
          <a:stretch/>
        </p:blipFill>
        <p:spPr>
          <a:xfrm>
            <a:off x="12623750" y="3009900"/>
            <a:ext cx="438150" cy="438150"/>
          </a:xfrm>
          <a:prstGeom prst="rect">
            <a:avLst/>
          </a:prstGeom>
        </p:spPr>
      </p:pic>
      <p:sp>
        <p:nvSpPr>
          <p:cNvPr id="38" name="Shape 33"/>
          <p:cNvSpPr/>
          <p:nvPr/>
        </p:nvSpPr>
        <p:spPr>
          <a:xfrm>
            <a:off x="14450616" y="3009900"/>
            <a:ext cx="2361009" cy="438150"/>
          </a:xfrm>
          <a:prstGeom prst="roundRect">
            <a:avLst>
              <a:gd name="adj" fmla="val 50000"/>
            </a:avLst>
          </a:prstGeom>
          <a:solidFill>
            <a:srgbClr val="DC216E">
              <a:alpha val="8000"/>
            </a:srgbClr>
          </a:solidFill>
          <a:ln/>
        </p:spPr>
        <p:txBody>
          <a:bodyPr/>
          <a:lstStyle/>
          <a:p>
            <a:endParaRPr lang="fr-FR"/>
          </a:p>
        </p:txBody>
      </p:sp>
      <p:sp>
        <p:nvSpPr>
          <p:cNvPr id="39" name="Text 34"/>
          <p:cNvSpPr/>
          <p:nvPr/>
        </p:nvSpPr>
        <p:spPr>
          <a:xfrm>
            <a:off x="14622066" y="3086100"/>
            <a:ext cx="2094309"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DC216E"/>
                </a:solidFill>
                <a:latin typeface="Euclid Circular A" pitchFamily="34" charset="0"/>
                <a:ea typeface="Euclid Circular A" pitchFamily="34" charset="-122"/>
                <a:cs typeface="Euclid Circular A" pitchFamily="34" charset="-120"/>
              </a:rPr>
              <a:t>TRANSMISSION</a:t>
            </a:r>
            <a:endParaRPr lang="en-US" sz="1800" dirty="0"/>
          </a:p>
        </p:txBody>
      </p:sp>
      <p:sp>
        <p:nvSpPr>
          <p:cNvPr id="40" name="Text 35"/>
          <p:cNvSpPr/>
          <p:nvPr/>
        </p:nvSpPr>
        <p:spPr>
          <a:xfrm>
            <a:off x="12461825" y="3895725"/>
            <a:ext cx="4784780" cy="447675"/>
          </a:xfrm>
          <a:prstGeom prst="rect">
            <a:avLst/>
          </a:prstGeom>
          <a:noFill/>
          <a:ln/>
        </p:spPr>
        <p:txBody>
          <a:bodyPr wrap="square" lIns="25400" tIns="25400" rIns="25400" bIns="25400" rtlCol="0" anchor="t">
            <a:normAutofit/>
          </a:bodyPr>
          <a:lstStyle/>
          <a:p>
            <a:pPr marL="0" indent="0" algn="l">
              <a:buNone/>
            </a:pPr>
            <a:r>
              <a:rPr lang="en-US" sz="2550" kern="0" spc="-25" dirty="0">
                <a:solidFill>
                  <a:srgbClr val="0E3145"/>
                </a:solidFill>
                <a:latin typeface="Euclid Circular A" pitchFamily="34" charset="0"/>
                <a:ea typeface="Euclid Circular A" pitchFamily="34" charset="-122"/>
                <a:cs typeface="Euclid Circular A" pitchFamily="34" charset="-120"/>
              </a:rPr>
              <a:t>Objectif n°3</a:t>
            </a:r>
            <a:endParaRPr lang="en-US" sz="2550" dirty="0"/>
          </a:p>
        </p:txBody>
      </p:sp>
      <p:sp>
        <p:nvSpPr>
          <p:cNvPr id="41" name="Text 36"/>
          <p:cNvSpPr/>
          <p:nvPr/>
        </p:nvSpPr>
        <p:spPr>
          <a:xfrm>
            <a:off x="12461825" y="4381500"/>
            <a:ext cx="4784780"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Horizon long / succession</a:t>
            </a:r>
            <a:endParaRPr lang="en-US" sz="1800" dirty="0"/>
          </a:p>
        </p:txBody>
      </p:sp>
      <p:sp>
        <p:nvSpPr>
          <p:cNvPr id="42" name="Text 37"/>
          <p:cNvSpPr/>
          <p:nvPr/>
        </p:nvSpPr>
        <p:spPr>
          <a:xfrm>
            <a:off x="12461825" y="7010400"/>
            <a:ext cx="4784780" cy="323850"/>
          </a:xfrm>
          <a:prstGeom prst="rect">
            <a:avLst/>
          </a:prstGeom>
          <a:noFill/>
          <a:ln/>
        </p:spPr>
        <p:txBody>
          <a:bodyPr wrap="square" lIns="25400" tIns="25400" rIns="25400" bIns="25400" rtlCol="0" anchor="t">
            <a:normAutofit lnSpcReduction="10000"/>
          </a:bodyPr>
          <a:lstStyle/>
          <a:p>
            <a:pPr marL="0" indent="0" algn="l">
              <a:buNone/>
            </a:pPr>
            <a:r>
              <a:rPr lang="en-US" sz="1800" b="1" kern="0" spc="180" dirty="0">
                <a:solidFill>
                  <a:srgbClr val="0E3145">
                    <a:alpha val="44000"/>
                  </a:srgbClr>
                </a:solidFill>
                <a:latin typeface="Euclid Circular A" pitchFamily="34" charset="0"/>
                <a:ea typeface="Euclid Circular A" pitchFamily="34" charset="-122"/>
                <a:cs typeface="Euclid Circular A" pitchFamily="34" charset="-120"/>
              </a:rPr>
              <a:t>CAPITAL CIBLE</a:t>
            </a:r>
            <a:endParaRPr lang="en-US" sz="1800" dirty="0"/>
          </a:p>
        </p:txBody>
      </p:sp>
      <p:sp>
        <p:nvSpPr>
          <p:cNvPr id="43" name="Text 38"/>
          <p:cNvSpPr/>
          <p:nvPr/>
        </p:nvSpPr>
        <p:spPr>
          <a:xfrm>
            <a:off x="12461825" y="7372350"/>
            <a:ext cx="4784780" cy="5143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3750" kern="0" spc="-75" dirty="0">
                <a:solidFill>
                  <a:srgbClr val="0E3145"/>
                </a:solidFill>
                <a:latin typeface="Euclid Circular A" pitchFamily="34" charset="0"/>
                <a:ea typeface="Euclid Circular A" pitchFamily="34" charset="-122"/>
                <a:cs typeface="Euclid Circular A" pitchFamily="34" charset="-120"/>
              </a:rPr>
              <a:t>000 000 €</a:t>
            </a:r>
            <a:endParaRPr lang="en-US" sz="3750" dirty="0"/>
          </a:p>
        </p:txBody>
      </p:sp>
      <p:sp>
        <p:nvSpPr>
          <p:cNvPr id="44" name="Shape 39"/>
          <p:cNvSpPr/>
          <p:nvPr/>
        </p:nvSpPr>
        <p:spPr>
          <a:xfrm>
            <a:off x="12461825" y="8139112"/>
            <a:ext cx="123825" cy="123825"/>
          </a:xfrm>
          <a:prstGeom prst="ellipse">
            <a:avLst/>
          </a:prstGeom>
          <a:solidFill>
            <a:srgbClr val="DC216E"/>
          </a:solidFill>
          <a:ln/>
        </p:spPr>
        <p:txBody>
          <a:bodyPr/>
          <a:lstStyle/>
          <a:p>
            <a:endParaRPr lang="fr-FR"/>
          </a:p>
        </p:txBody>
      </p:sp>
      <p:sp>
        <p:nvSpPr>
          <p:cNvPr id="45" name="Shape 40"/>
          <p:cNvSpPr/>
          <p:nvPr/>
        </p:nvSpPr>
        <p:spPr>
          <a:xfrm>
            <a:off x="12642800" y="8139112"/>
            <a:ext cx="123825" cy="123825"/>
          </a:xfrm>
          <a:prstGeom prst="ellipse">
            <a:avLst/>
          </a:prstGeom>
          <a:solidFill>
            <a:srgbClr val="DC216E"/>
          </a:solidFill>
          <a:ln/>
        </p:spPr>
        <p:txBody>
          <a:bodyPr/>
          <a:lstStyle/>
          <a:p>
            <a:endParaRPr lang="fr-FR"/>
          </a:p>
        </p:txBody>
      </p:sp>
      <p:sp>
        <p:nvSpPr>
          <p:cNvPr id="46" name="Shape 41"/>
          <p:cNvSpPr/>
          <p:nvPr/>
        </p:nvSpPr>
        <p:spPr>
          <a:xfrm>
            <a:off x="12823775" y="8139112"/>
            <a:ext cx="123825" cy="123825"/>
          </a:xfrm>
          <a:prstGeom prst="ellipse">
            <a:avLst/>
          </a:prstGeom>
          <a:solidFill>
            <a:srgbClr val="DC216E"/>
          </a:solidFill>
          <a:ln/>
        </p:spPr>
        <p:txBody>
          <a:bodyPr/>
          <a:lstStyle/>
          <a:p>
            <a:endParaRPr lang="fr-FR"/>
          </a:p>
        </p:txBody>
      </p:sp>
      <p:sp>
        <p:nvSpPr>
          <p:cNvPr id="47" name="Shape 42"/>
          <p:cNvSpPr/>
          <p:nvPr/>
        </p:nvSpPr>
        <p:spPr>
          <a:xfrm>
            <a:off x="13004750" y="8139112"/>
            <a:ext cx="123825" cy="123825"/>
          </a:xfrm>
          <a:prstGeom prst="ellipse">
            <a:avLst/>
          </a:prstGeom>
          <a:solidFill>
            <a:srgbClr val="DC216E"/>
          </a:solidFill>
          <a:ln/>
        </p:spPr>
        <p:txBody>
          <a:bodyPr/>
          <a:lstStyle/>
          <a:p>
            <a:endParaRPr lang="fr-FR"/>
          </a:p>
        </p:txBody>
      </p:sp>
      <p:sp>
        <p:nvSpPr>
          <p:cNvPr id="48" name="Shape 43"/>
          <p:cNvSpPr/>
          <p:nvPr/>
        </p:nvSpPr>
        <p:spPr>
          <a:xfrm>
            <a:off x="13185725" y="8139112"/>
            <a:ext cx="123825" cy="123825"/>
          </a:xfrm>
          <a:prstGeom prst="ellipse">
            <a:avLst/>
          </a:prstGeom>
          <a:solidFill>
            <a:srgbClr val="0E3145">
              <a:alpha val="24000"/>
            </a:srgbClr>
          </a:solidFill>
          <a:ln/>
        </p:spPr>
        <p:txBody>
          <a:bodyPr/>
          <a:lstStyle/>
          <a:p>
            <a:endParaRPr lang="fr-FR"/>
          </a:p>
        </p:txBody>
      </p:sp>
      <p:sp>
        <p:nvSpPr>
          <p:cNvPr id="49" name="Text 44"/>
          <p:cNvSpPr/>
          <p:nvPr/>
        </p:nvSpPr>
        <p:spPr>
          <a:xfrm>
            <a:off x="13404800" y="8058150"/>
            <a:ext cx="1477328" cy="323850"/>
          </a:xfrm>
          <a:prstGeom prst="rect">
            <a:avLst/>
          </a:prstGeom>
          <a:noFill/>
          <a:ln/>
        </p:spPr>
        <p:txBody>
          <a:bodyPr wrap="square" lIns="25400" tIns="25400" rIns="25400" bIns="25400" rtlCol="0" anchor="t">
            <a:normAutofit lnSpcReduction="10000"/>
          </a:bodyPr>
          <a:lstStyle/>
          <a:p>
            <a:pPr marL="0" indent="0" algn="l">
              <a:buNone/>
            </a:pPr>
            <a:r>
              <a:rPr lang="en-US" sz="1800" dirty="0">
                <a:solidFill>
                  <a:srgbClr val="0E3145">
                    <a:alpha val="66000"/>
                  </a:srgbClr>
                </a:solidFill>
                <a:latin typeface="Euclid Circular A" pitchFamily="34" charset="0"/>
                <a:ea typeface="Euclid Circular A" pitchFamily="34" charset="-122"/>
                <a:cs typeface="Euclid Circular A" pitchFamily="34" charset="-120"/>
              </a:rPr>
              <a:t>Priorité forte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bg>
      <p:bgPr>
        <a:solidFill>
          <a:schemeClr val="tx1"/>
        </a:solidFill>
        <a:effectLst/>
      </p:bgPr>
    </p:bg>
    <p:spTree>
      <p:nvGrpSpPr>
        <p:cNvPr id="1" name=""/>
        <p:cNvGrpSpPr/>
        <p:nvPr/>
      </p:nvGrpSpPr>
      <p:grpSpPr>
        <a:xfrm>
          <a:off x="0" y="0"/>
          <a:ext cx="0" cy="0"/>
          <a:chOff x="0" y="0"/>
          <a:chExt cx="0" cy="0"/>
        </a:xfrm>
      </p:grpSpPr>
      <p:sp>
        <p:nvSpPr>
          <p:cNvPr id="4" name="Shape 1"/>
          <p:cNvSpPr/>
          <p:nvPr/>
        </p:nvSpPr>
        <p:spPr>
          <a:xfrm>
            <a:off x="1066800" y="914400"/>
            <a:ext cx="323850" cy="19050"/>
          </a:xfrm>
          <a:prstGeom prst="rect">
            <a:avLst/>
          </a:prstGeom>
          <a:solidFill>
            <a:srgbClr val="DC216E"/>
          </a:solidFill>
          <a:ln/>
        </p:spPr>
        <p:txBody>
          <a:bodyPr/>
          <a:lstStyle/>
          <a:p>
            <a:endParaRPr lang="fr-FR">
              <a:solidFill>
                <a:schemeClr val="bg2"/>
              </a:solidFill>
            </a:endParaRPr>
          </a:p>
        </p:txBody>
      </p:sp>
      <p:sp>
        <p:nvSpPr>
          <p:cNvPr id="5" name="Text 2"/>
          <p:cNvSpPr/>
          <p:nvPr/>
        </p:nvSpPr>
        <p:spPr>
          <a:xfrm>
            <a:off x="1524000" y="781050"/>
            <a:ext cx="2733980" cy="323850"/>
          </a:xfrm>
          <a:prstGeom prst="rect">
            <a:avLst/>
          </a:prstGeom>
          <a:noFill/>
          <a:ln/>
        </p:spPr>
        <p:txBody>
          <a:bodyPr wrap="square" lIns="0" tIns="0" rIns="0" bIns="0" rtlCol="0" anchor="t">
            <a:normAutofit/>
          </a:bodyPr>
          <a:lstStyle/>
          <a:p>
            <a:pPr marL="0" indent="0" algn="l">
              <a:buNone/>
            </a:pPr>
            <a:r>
              <a:rPr lang="en-US" sz="1800" b="1" kern="0" spc="432" dirty="0">
                <a:solidFill>
                  <a:schemeClr val="bg2"/>
                </a:solidFill>
                <a:latin typeface="Euclid Circular A" pitchFamily="34" charset="0"/>
                <a:ea typeface="Euclid Circular A" pitchFamily="34" charset="-122"/>
                <a:cs typeface="Euclid Circular A" pitchFamily="34" charset="-120"/>
              </a:rPr>
              <a:t>EN CONCLUSION</a:t>
            </a:r>
            <a:endParaRPr lang="en-US" sz="1800" dirty="0">
              <a:solidFill>
                <a:schemeClr val="bg2"/>
              </a:solidFill>
            </a:endParaRPr>
          </a:p>
        </p:txBody>
      </p:sp>
      <p:sp>
        <p:nvSpPr>
          <p:cNvPr id="3" name="Text 1">
            <a:extLst>
              <a:ext uri="{FF2B5EF4-FFF2-40B4-BE49-F238E27FC236}">
                <a16:creationId xmlns:a16="http://schemas.microsoft.com/office/drawing/2014/main" id="{6D0CFE42-6A1A-151D-1EDC-67058EB823A1}"/>
              </a:ext>
            </a:extLst>
          </p:cNvPr>
          <p:cNvSpPr/>
          <p:nvPr/>
        </p:nvSpPr>
        <p:spPr>
          <a:xfrm>
            <a:off x="1333500" y="1940123"/>
            <a:ext cx="12970885" cy="2781300"/>
          </a:xfrm>
          <a:prstGeom prst="rect">
            <a:avLst/>
          </a:prstGeom>
          <a:noFill/>
          <a:ln/>
        </p:spPr>
        <p:txBody>
          <a:bodyPr wrap="square" lIns="25400" tIns="25400" rIns="25400" bIns="25400" rtlCol="0" anchor="t">
            <a:normAutofit/>
          </a:bodyPr>
          <a:lstStyle/>
          <a:p>
            <a:pPr marL="0" indent="0" algn="l">
              <a:lnSpc>
                <a:spcPct val="100000"/>
              </a:lnSpc>
              <a:buNone/>
            </a:pPr>
            <a:r>
              <a:rPr lang="en-US" sz="7200" kern="0" spc="-252" dirty="0">
                <a:solidFill>
                  <a:srgbClr val="FFFFFF"/>
                </a:solidFill>
                <a:latin typeface="Euclid Circular A" pitchFamily="34" charset="0"/>
                <a:ea typeface="Euclid Circular A" pitchFamily="34" charset="-122"/>
                <a:cs typeface="Euclid Circular A" pitchFamily="34" charset="-120"/>
              </a:rPr>
              <a:t>Une phrase de </a:t>
            </a:r>
            <a:r>
              <a:rPr lang="en-US" sz="7200" kern="0" spc="-252" dirty="0" err="1">
                <a:solidFill>
                  <a:srgbClr val="FFFFFF"/>
                </a:solidFill>
                <a:latin typeface="Euclid Circular A" pitchFamily="34" charset="0"/>
                <a:ea typeface="Euclid Circular A" pitchFamily="34" charset="-122"/>
                <a:cs typeface="Euclid Circular A" pitchFamily="34" charset="-120"/>
              </a:rPr>
              <a:t>synthèse</a:t>
            </a:r>
            <a:r>
              <a:rPr lang="en-US" sz="7200" kern="0" spc="-252" dirty="0">
                <a:solidFill>
                  <a:srgbClr val="FFFFFF"/>
                </a:solidFill>
                <a:latin typeface="Euclid Circular A" pitchFamily="34" charset="0"/>
                <a:ea typeface="Euclid Circular A" pitchFamily="34" charset="-122"/>
                <a:cs typeface="Euclid Circular A" pitchFamily="34" charset="-120"/>
              </a:rPr>
              <a:t>, </a:t>
            </a:r>
            <a:r>
              <a:rPr lang="en-US" sz="7200" kern="0" spc="-252" dirty="0" err="1">
                <a:solidFill>
                  <a:schemeClr val="accent1"/>
                </a:solidFill>
                <a:latin typeface="Euclid Circular A" pitchFamily="34" charset="0"/>
                <a:ea typeface="Euclid Circular A" pitchFamily="34" charset="-122"/>
                <a:cs typeface="Euclid Circular A" pitchFamily="34" charset="-120"/>
              </a:rPr>
              <a:t>une</a:t>
            </a:r>
            <a:r>
              <a:rPr lang="en-US" sz="7200" kern="0" spc="-252" dirty="0">
                <a:solidFill>
                  <a:schemeClr val="accent1"/>
                </a:solidFill>
                <a:latin typeface="Euclid Circular A" pitchFamily="34" charset="0"/>
                <a:ea typeface="Euclid Circular A" pitchFamily="34" charset="-122"/>
                <a:cs typeface="Euclid Circular A" pitchFamily="34" charset="-120"/>
              </a:rPr>
              <a:t> citation</a:t>
            </a:r>
            <a:endParaRPr lang="en-US" sz="7200" dirty="0">
              <a:solidFill>
                <a:schemeClr val="accent1"/>
              </a:solidFill>
            </a:endParaRPr>
          </a:p>
        </p:txBody>
      </p:sp>
      <p:sp>
        <p:nvSpPr>
          <p:cNvPr id="19" name="Text 2">
            <a:extLst>
              <a:ext uri="{FF2B5EF4-FFF2-40B4-BE49-F238E27FC236}">
                <a16:creationId xmlns:a16="http://schemas.microsoft.com/office/drawing/2014/main" id="{EAD1F5AE-250C-1B66-D0EE-A49B69FACB11}"/>
              </a:ext>
            </a:extLst>
          </p:cNvPr>
          <p:cNvSpPr/>
          <p:nvPr/>
        </p:nvSpPr>
        <p:spPr>
          <a:xfrm>
            <a:off x="1333500" y="5445323"/>
            <a:ext cx="16089630" cy="369540"/>
          </a:xfrm>
          <a:prstGeom prst="rect">
            <a:avLst/>
          </a:prstGeom>
          <a:noFill/>
          <a:ln/>
        </p:spPr>
        <p:txBody>
          <a:bodyPr wrap="square" lIns="25400" tIns="25400" rIns="25400" bIns="25400" rtlCol="0" anchor="t">
            <a:noAutofit/>
          </a:bodyPr>
          <a:lstStyle/>
          <a:p>
            <a:pPr marL="0" indent="0" algn="l">
              <a:lnSpc>
                <a:spcPct val="145000"/>
              </a:lnSpc>
              <a:buNone/>
            </a:pPr>
            <a:r>
              <a:rPr lang="en-US" sz="2400" kern="0" spc="396" dirty="0">
                <a:solidFill>
                  <a:srgbClr val="FFFFFF">
                    <a:alpha val="50000"/>
                  </a:srgbClr>
                </a:solidFill>
                <a:latin typeface="Euclid Circular A" panose="020B0504000000000000" pitchFamily="34" charset="0"/>
                <a:ea typeface="Euclid Circular A" panose="020B0504000000000000" pitchFamily="34" charset="0"/>
                <a:cs typeface="Arial" pitchFamily="34" charset="-120"/>
              </a:rPr>
              <a:t>TROIS RÉFLEXES À ACTIVER</a:t>
            </a:r>
            <a:endParaRPr lang="en-US" sz="2400" dirty="0"/>
          </a:p>
        </p:txBody>
      </p:sp>
      <p:sp>
        <p:nvSpPr>
          <p:cNvPr id="20" name="Shape 3">
            <a:extLst>
              <a:ext uri="{FF2B5EF4-FFF2-40B4-BE49-F238E27FC236}">
                <a16:creationId xmlns:a16="http://schemas.microsoft.com/office/drawing/2014/main" id="{BFA93B2D-8B70-9464-5A9F-EF06C0716F6B}"/>
              </a:ext>
            </a:extLst>
          </p:cNvPr>
          <p:cNvSpPr/>
          <p:nvPr/>
        </p:nvSpPr>
        <p:spPr>
          <a:xfrm>
            <a:off x="1333500" y="6043464"/>
            <a:ext cx="15621000" cy="9525"/>
          </a:xfrm>
          <a:prstGeom prst="rect">
            <a:avLst/>
          </a:prstGeom>
          <a:solidFill>
            <a:srgbClr val="FFFFFF">
              <a:alpha val="18000"/>
            </a:srgbClr>
          </a:solidFill>
          <a:ln/>
        </p:spPr>
        <p:txBody>
          <a:bodyPr/>
          <a:lstStyle/>
          <a:p>
            <a:endParaRPr lang="fr-FR" sz="2400"/>
          </a:p>
        </p:txBody>
      </p:sp>
      <p:sp>
        <p:nvSpPr>
          <p:cNvPr id="21" name="Text 4">
            <a:extLst>
              <a:ext uri="{FF2B5EF4-FFF2-40B4-BE49-F238E27FC236}">
                <a16:creationId xmlns:a16="http://schemas.microsoft.com/office/drawing/2014/main" id="{224FF4EF-F630-0403-F57D-CCD37FBD4D26}"/>
              </a:ext>
            </a:extLst>
          </p:cNvPr>
          <p:cNvSpPr/>
          <p:nvPr/>
        </p:nvSpPr>
        <p:spPr>
          <a:xfrm>
            <a:off x="1333500" y="6395889"/>
            <a:ext cx="742950" cy="518071"/>
          </a:xfrm>
          <a:prstGeom prst="rect">
            <a:avLst/>
          </a:prstGeom>
          <a:noFill/>
          <a:ln/>
        </p:spPr>
        <p:txBody>
          <a:bodyPr wrap="square" lIns="25400" tIns="25400" rIns="25400" bIns="25400" rtlCol="0" anchor="t">
            <a:normAutofit/>
          </a:bodyPr>
          <a:lstStyle/>
          <a:p>
            <a:pPr marL="0" indent="0" algn="l">
              <a:lnSpc>
                <a:spcPct val="90000"/>
              </a:lnSpc>
              <a:buNone/>
            </a:pPr>
            <a:r>
              <a:rPr lang="en-US" sz="3200" kern="0" spc="-84" dirty="0">
                <a:solidFill>
                  <a:srgbClr val="DC216E"/>
                </a:solidFill>
                <a:latin typeface="Euclid Circular A" panose="020B0504000000000000" pitchFamily="34" charset="0"/>
                <a:ea typeface="Euclid Circular A" panose="020B0504000000000000" pitchFamily="34" charset="0"/>
                <a:cs typeface="Arial" pitchFamily="34" charset="-120"/>
              </a:rPr>
              <a:t>01</a:t>
            </a:r>
            <a:endParaRPr lang="en-US" sz="3200" dirty="0"/>
          </a:p>
        </p:txBody>
      </p:sp>
      <p:sp>
        <p:nvSpPr>
          <p:cNvPr id="22" name="Text 5">
            <a:extLst>
              <a:ext uri="{FF2B5EF4-FFF2-40B4-BE49-F238E27FC236}">
                <a16:creationId xmlns:a16="http://schemas.microsoft.com/office/drawing/2014/main" id="{8B812861-88DD-B554-7448-7A8E4A1862D1}"/>
              </a:ext>
            </a:extLst>
          </p:cNvPr>
          <p:cNvSpPr/>
          <p:nvPr/>
        </p:nvSpPr>
        <p:spPr>
          <a:xfrm>
            <a:off x="2228850" y="6395889"/>
            <a:ext cx="4257866" cy="1003846"/>
          </a:xfrm>
          <a:prstGeom prst="rect">
            <a:avLst/>
          </a:prstGeom>
          <a:noFill/>
          <a:ln/>
        </p:spPr>
        <p:txBody>
          <a:bodyPr wrap="square" lIns="25400" tIns="25400" rIns="25400" bIns="25400" rtlCol="0" anchor="t">
            <a:noAutofit/>
          </a:bodyPr>
          <a:lstStyle/>
          <a:p>
            <a:pPr marL="0" indent="0" algn="l">
              <a:lnSpc>
                <a:spcPct val="130000"/>
              </a:lnSpc>
              <a:buNone/>
            </a:pPr>
            <a:r>
              <a:rPr lang="fr-FR" sz="2400" kern="0" spc="-10" dirty="0">
                <a:solidFill>
                  <a:srgbClr val="FFFFFF"/>
                </a:solidFill>
                <a:latin typeface="Euclid Circular A" panose="020B0504000000000000" pitchFamily="34" charset="0"/>
                <a:ea typeface="Euclid Circular A" panose="020B0504000000000000" pitchFamily="34" charset="0"/>
                <a:cs typeface="Arial" pitchFamily="34" charset="-120"/>
              </a:rPr>
              <a:t>Premier message clé à </a:t>
            </a:r>
            <a:r>
              <a:rPr lang="fr-FR" sz="2400" b="1" kern="0" spc="-10" dirty="0">
                <a:solidFill>
                  <a:schemeClr val="accent1"/>
                </a:solidFill>
                <a:latin typeface="Euclid Circular A" panose="020B0504000000000000" pitchFamily="34" charset="0"/>
                <a:ea typeface="Euclid Circular A" panose="020B0504000000000000" pitchFamily="34" charset="0"/>
                <a:cs typeface="Arial" pitchFamily="34" charset="-120"/>
              </a:rPr>
              <a:t>retenir</a:t>
            </a:r>
            <a:r>
              <a:rPr lang="fr-FR" sz="2400" kern="0" spc="-10" dirty="0">
                <a:solidFill>
                  <a:srgbClr val="FFFFFF"/>
                </a:solidFill>
                <a:latin typeface="Euclid Circular A" panose="020B0504000000000000" pitchFamily="34" charset="0"/>
                <a:ea typeface="Euclid Circular A" panose="020B0504000000000000" pitchFamily="34" charset="0"/>
                <a:cs typeface="Arial" pitchFamily="34" charset="-120"/>
              </a:rPr>
              <a:t>, formulé simplement.</a:t>
            </a:r>
            <a:endParaRPr lang="en-US" sz="2400" dirty="0"/>
          </a:p>
        </p:txBody>
      </p:sp>
      <p:sp>
        <p:nvSpPr>
          <p:cNvPr id="23" name="Text 6">
            <a:extLst>
              <a:ext uri="{FF2B5EF4-FFF2-40B4-BE49-F238E27FC236}">
                <a16:creationId xmlns:a16="http://schemas.microsoft.com/office/drawing/2014/main" id="{F495F046-2CAD-72F9-1E9C-D5525652E116}"/>
              </a:ext>
            </a:extLst>
          </p:cNvPr>
          <p:cNvSpPr/>
          <p:nvPr/>
        </p:nvSpPr>
        <p:spPr>
          <a:xfrm>
            <a:off x="6629400" y="6395889"/>
            <a:ext cx="742950" cy="518071"/>
          </a:xfrm>
          <a:prstGeom prst="rect">
            <a:avLst/>
          </a:prstGeom>
          <a:noFill/>
          <a:ln/>
        </p:spPr>
        <p:txBody>
          <a:bodyPr wrap="square" lIns="25400" tIns="25400" rIns="25400" bIns="25400" rtlCol="0" anchor="t">
            <a:normAutofit/>
          </a:bodyPr>
          <a:lstStyle/>
          <a:p>
            <a:pPr marL="0" indent="0" algn="l">
              <a:lnSpc>
                <a:spcPct val="90000"/>
              </a:lnSpc>
              <a:buNone/>
            </a:pPr>
            <a:r>
              <a:rPr lang="en-US" sz="3200" kern="0" spc="-84" dirty="0">
                <a:solidFill>
                  <a:srgbClr val="DC216E"/>
                </a:solidFill>
                <a:latin typeface="Euclid Circular A" panose="020B0504000000000000" pitchFamily="34" charset="0"/>
                <a:ea typeface="Euclid Circular A" panose="020B0504000000000000" pitchFamily="34" charset="0"/>
                <a:cs typeface="Arial" pitchFamily="34" charset="-120"/>
              </a:rPr>
              <a:t>02</a:t>
            </a:r>
            <a:endParaRPr lang="en-US" sz="3200" dirty="0"/>
          </a:p>
        </p:txBody>
      </p:sp>
      <p:sp>
        <p:nvSpPr>
          <p:cNvPr id="24" name="Text 7">
            <a:extLst>
              <a:ext uri="{FF2B5EF4-FFF2-40B4-BE49-F238E27FC236}">
                <a16:creationId xmlns:a16="http://schemas.microsoft.com/office/drawing/2014/main" id="{3FB45003-824B-206A-0238-2B564A697CC8}"/>
              </a:ext>
            </a:extLst>
          </p:cNvPr>
          <p:cNvSpPr/>
          <p:nvPr/>
        </p:nvSpPr>
        <p:spPr>
          <a:xfrm>
            <a:off x="7524750" y="6395889"/>
            <a:ext cx="4257866" cy="1003846"/>
          </a:xfrm>
          <a:prstGeom prst="rect">
            <a:avLst/>
          </a:prstGeom>
          <a:noFill/>
          <a:ln/>
        </p:spPr>
        <p:txBody>
          <a:bodyPr wrap="square" lIns="25400" tIns="25400" rIns="25400" bIns="25400" rtlCol="0" anchor="t">
            <a:noAutofit/>
          </a:bodyPr>
          <a:lstStyle/>
          <a:p>
            <a:pPr marL="0" indent="0" algn="l">
              <a:lnSpc>
                <a:spcPct val="130000"/>
              </a:lnSpc>
              <a:buNone/>
            </a:pPr>
            <a:r>
              <a:rPr lang="fr-FR" sz="2400" kern="0" spc="-10" dirty="0">
                <a:solidFill>
                  <a:srgbClr val="FFFFFF"/>
                </a:solidFill>
                <a:latin typeface="Euclid Circular A" panose="020B0504000000000000" pitchFamily="34" charset="0"/>
                <a:ea typeface="Euclid Circular A" panose="020B0504000000000000" pitchFamily="34" charset="0"/>
                <a:cs typeface="Arial" pitchFamily="34" charset="-120"/>
              </a:rPr>
              <a:t>Deuxième message clé, qui souligne un </a:t>
            </a:r>
            <a:r>
              <a:rPr lang="fr-FR" sz="2400" b="1" kern="0" spc="-10" dirty="0">
                <a:solidFill>
                  <a:schemeClr val="accent1"/>
                </a:solidFill>
                <a:latin typeface="Euclid Circular A" panose="020B0504000000000000" pitchFamily="34" charset="0"/>
                <a:ea typeface="Euclid Circular A" panose="020B0504000000000000" pitchFamily="34" charset="0"/>
                <a:cs typeface="Arial" pitchFamily="34" charset="-120"/>
              </a:rPr>
              <a:t>point</a:t>
            </a:r>
            <a:r>
              <a:rPr lang="fr-FR" sz="2400" kern="0" spc="-10" dirty="0">
                <a:solidFill>
                  <a:srgbClr val="FFFFFF"/>
                </a:solidFill>
                <a:latin typeface="Euclid Circular A" panose="020B0504000000000000" pitchFamily="34" charset="0"/>
                <a:ea typeface="Euclid Circular A" panose="020B0504000000000000" pitchFamily="34" charset="0"/>
                <a:cs typeface="Arial" pitchFamily="34" charset="-120"/>
              </a:rPr>
              <a:t> essentiel.</a:t>
            </a:r>
            <a:endParaRPr lang="en-US" sz="2400" dirty="0"/>
          </a:p>
        </p:txBody>
      </p:sp>
      <p:sp>
        <p:nvSpPr>
          <p:cNvPr id="25" name="Text 8">
            <a:extLst>
              <a:ext uri="{FF2B5EF4-FFF2-40B4-BE49-F238E27FC236}">
                <a16:creationId xmlns:a16="http://schemas.microsoft.com/office/drawing/2014/main" id="{6484FF29-35D7-16D6-CF8D-4DE50A1693CC}"/>
              </a:ext>
            </a:extLst>
          </p:cNvPr>
          <p:cNvSpPr/>
          <p:nvPr/>
        </p:nvSpPr>
        <p:spPr>
          <a:xfrm>
            <a:off x="11925300" y="6395889"/>
            <a:ext cx="742950" cy="518071"/>
          </a:xfrm>
          <a:prstGeom prst="rect">
            <a:avLst/>
          </a:prstGeom>
          <a:noFill/>
          <a:ln/>
        </p:spPr>
        <p:txBody>
          <a:bodyPr wrap="square" lIns="25400" tIns="25400" rIns="25400" bIns="25400" rtlCol="0" anchor="t">
            <a:normAutofit/>
          </a:bodyPr>
          <a:lstStyle/>
          <a:p>
            <a:pPr marL="0" indent="0" algn="l">
              <a:lnSpc>
                <a:spcPct val="90000"/>
              </a:lnSpc>
              <a:buNone/>
            </a:pPr>
            <a:r>
              <a:rPr lang="en-US" sz="3200" kern="0" spc="-84" dirty="0">
                <a:solidFill>
                  <a:srgbClr val="DC216E"/>
                </a:solidFill>
                <a:latin typeface="Euclid Circular A" panose="020B0504000000000000" pitchFamily="34" charset="0"/>
                <a:ea typeface="Euclid Circular A" panose="020B0504000000000000" pitchFamily="34" charset="0"/>
                <a:cs typeface="Arial" pitchFamily="34" charset="-120"/>
              </a:rPr>
              <a:t>03</a:t>
            </a:r>
            <a:endParaRPr lang="en-US" sz="3200" dirty="0"/>
          </a:p>
        </p:txBody>
      </p:sp>
      <p:sp>
        <p:nvSpPr>
          <p:cNvPr id="26" name="Text 9">
            <a:extLst>
              <a:ext uri="{FF2B5EF4-FFF2-40B4-BE49-F238E27FC236}">
                <a16:creationId xmlns:a16="http://schemas.microsoft.com/office/drawing/2014/main" id="{80565F42-4440-1B0E-FDFF-352A813889B3}"/>
              </a:ext>
            </a:extLst>
          </p:cNvPr>
          <p:cNvSpPr/>
          <p:nvPr/>
        </p:nvSpPr>
        <p:spPr>
          <a:xfrm>
            <a:off x="12820650" y="6395889"/>
            <a:ext cx="4602480" cy="1003846"/>
          </a:xfrm>
          <a:prstGeom prst="rect">
            <a:avLst/>
          </a:prstGeom>
          <a:noFill/>
          <a:ln/>
        </p:spPr>
        <p:txBody>
          <a:bodyPr wrap="square" lIns="25400" tIns="25400" rIns="25400" bIns="25400" rtlCol="0" anchor="t">
            <a:noAutofit/>
          </a:bodyPr>
          <a:lstStyle/>
          <a:p>
            <a:pPr marL="0" indent="0" algn="l">
              <a:lnSpc>
                <a:spcPct val="130000"/>
              </a:lnSpc>
              <a:buNone/>
            </a:pPr>
            <a:r>
              <a:rPr lang="fr-FR" sz="2400" kern="0" spc="-10" dirty="0">
                <a:solidFill>
                  <a:srgbClr val="FFFFFF"/>
                </a:solidFill>
                <a:latin typeface="Euclid Circular A" panose="020B0504000000000000" pitchFamily="34" charset="0"/>
                <a:ea typeface="Euclid Circular A" panose="020B0504000000000000" pitchFamily="34" charset="0"/>
                <a:cs typeface="Arial" pitchFamily="34" charset="-120"/>
              </a:rPr>
              <a:t>Troisième message, à garder en </a:t>
            </a:r>
            <a:r>
              <a:rPr lang="fr-FR" sz="2400" b="1" kern="0" spc="-10" dirty="0">
                <a:solidFill>
                  <a:schemeClr val="accent1"/>
                </a:solidFill>
                <a:latin typeface="Euclid Circular A" panose="020B0504000000000000" pitchFamily="34" charset="0"/>
                <a:ea typeface="Euclid Circular A" panose="020B0504000000000000" pitchFamily="34" charset="0"/>
                <a:cs typeface="Arial" pitchFamily="34" charset="-120"/>
              </a:rPr>
              <a:t>tête</a:t>
            </a:r>
            <a:r>
              <a:rPr lang="fr-FR" sz="2400" kern="0" spc="-10" dirty="0">
                <a:solidFill>
                  <a:srgbClr val="FFFFFF"/>
                </a:solidFill>
                <a:latin typeface="Euclid Circular A" panose="020B0504000000000000" pitchFamily="34" charset="0"/>
                <a:ea typeface="Euclid Circular A" panose="020B0504000000000000" pitchFamily="34" charset="0"/>
                <a:cs typeface="Arial" pitchFamily="34" charset="-120"/>
              </a:rPr>
              <a:t> après la présentation.</a:t>
            </a:r>
            <a:endParaRPr lang="en-US" sz="2400" dirty="0"/>
          </a:p>
        </p:txBody>
      </p:sp>
      <p:pic>
        <p:nvPicPr>
          <p:cNvPr id="28" name="Image 27">
            <a:extLst>
              <a:ext uri="{FF2B5EF4-FFF2-40B4-BE49-F238E27FC236}">
                <a16:creationId xmlns:a16="http://schemas.microsoft.com/office/drawing/2014/main" id="{12A80688-0707-C007-F699-320EAD79818A}"/>
              </a:ext>
            </a:extLst>
          </p:cNvPr>
          <p:cNvPicPr>
            <a:picLocks noChangeAspect="1"/>
          </p:cNvPicPr>
          <p:nvPr/>
        </p:nvPicPr>
        <p:blipFill>
          <a:blip r:embed="rId3"/>
          <a:stretch>
            <a:fillRect/>
          </a:stretch>
        </p:blipFill>
        <p:spPr>
          <a:xfrm>
            <a:off x="14707922" y="1104900"/>
            <a:ext cx="2246578" cy="176365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hape 0">
            <a:extLst>
              <a:ext uri="{FF2B5EF4-FFF2-40B4-BE49-F238E27FC236}">
                <a16:creationId xmlns:a16="http://schemas.microsoft.com/office/drawing/2014/main" id="{6FCA2A07-DAAA-38A5-DD37-F5B9482A99D2}"/>
              </a:ext>
            </a:extLst>
          </p:cNvPr>
          <p:cNvSpPr/>
          <p:nvPr/>
        </p:nvSpPr>
        <p:spPr>
          <a:xfrm>
            <a:off x="0" y="0"/>
            <a:ext cx="18288000" cy="10287000"/>
          </a:xfrm>
          <a:prstGeom prst="rect">
            <a:avLst/>
          </a:prstGeom>
          <a:gradFill flip="none" rotWithShape="1">
            <a:gsLst>
              <a:gs pos="0">
                <a:schemeClr val="accent1"/>
              </a:gs>
              <a:gs pos="54600">
                <a:srgbClr val="103145"/>
              </a:gs>
              <a:gs pos="21000">
                <a:srgbClr val="3C304E"/>
              </a:gs>
              <a:gs pos="12000">
                <a:srgbClr val="692F57"/>
              </a:gs>
              <a:gs pos="31000">
                <a:schemeClr val="accent2"/>
              </a:gs>
            </a:gsLst>
            <a:lin ang="7800000" scaled="0"/>
            <a:tileRect/>
          </a:gradFill>
          <a:ln/>
        </p:spPr>
        <p:txBody>
          <a:bodyPr/>
          <a:lstStyle/>
          <a:p>
            <a:endParaRPr lang="fr-FR"/>
          </a:p>
        </p:txBody>
      </p:sp>
      <p:pic>
        <p:nvPicPr>
          <p:cNvPr id="3" name="Image 0" descr="preencoded.png"/>
          <p:cNvPicPr>
            <a:picLocks noChangeAspect="1"/>
          </p:cNvPicPr>
          <p:nvPr/>
        </p:nvPicPr>
        <p:blipFill>
          <a:blip r:embed="rId3"/>
          <a:stretch>
            <a:fillRect/>
          </a:stretch>
        </p:blipFill>
        <p:spPr>
          <a:xfrm>
            <a:off x="5921262" y="143517"/>
            <a:ext cx="6445475" cy="3484585"/>
          </a:xfrm>
          <a:prstGeom prst="rect">
            <a:avLst/>
          </a:prstGeom>
        </p:spPr>
      </p:pic>
      <p:sp>
        <p:nvSpPr>
          <p:cNvPr id="4" name="Text 1"/>
          <p:cNvSpPr/>
          <p:nvPr/>
        </p:nvSpPr>
        <p:spPr>
          <a:xfrm>
            <a:off x="1047750" y="4553843"/>
            <a:ext cx="17811750" cy="2466975"/>
          </a:xfrm>
          <a:prstGeom prst="rect">
            <a:avLst/>
          </a:prstGeom>
          <a:noFill/>
          <a:ln/>
        </p:spPr>
        <p:txBody>
          <a:bodyPr wrap="square" lIns="25400" tIns="25400" rIns="25400" bIns="25400" rtlCol="0" anchor="t">
            <a:normAutofit fontScale="92500"/>
          </a:bodyPr>
          <a:lstStyle/>
          <a:p>
            <a:pPr marL="0" indent="0" algn="l">
              <a:lnSpc>
                <a:spcPct val="150000"/>
              </a:lnSpc>
              <a:buNone/>
            </a:pPr>
            <a:r>
              <a:rPr lang="en-US" sz="12750" b="1" kern="0" spc="-382" dirty="0">
                <a:solidFill>
                  <a:srgbClr val="FFFFFF"/>
                </a:solidFill>
                <a:latin typeface="Euclid Circular A" panose="020B0504000000000000" pitchFamily="34" charset="0"/>
                <a:ea typeface="Euclid Circular A" panose="020B0504000000000000" pitchFamily="34" charset="0"/>
                <a:cs typeface="Arial" pitchFamily="34" charset="-120"/>
              </a:rPr>
              <a:t>Merci</a:t>
            </a:r>
            <a:endParaRPr lang="en-US" sz="12750" dirty="0"/>
          </a:p>
        </p:txBody>
      </p:sp>
      <p:sp>
        <p:nvSpPr>
          <p:cNvPr id="5" name="Text 2"/>
          <p:cNvSpPr/>
          <p:nvPr/>
        </p:nvSpPr>
        <p:spPr>
          <a:xfrm>
            <a:off x="1047750" y="7211318"/>
            <a:ext cx="17811750" cy="523875"/>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2550" dirty="0">
                <a:solidFill>
                  <a:srgbClr val="F4A6C4"/>
                </a:solidFill>
                <a:latin typeface="Euclid Circular A" panose="020B0504000000000000" pitchFamily="34" charset="0"/>
                <a:ea typeface="Euclid Circular A" panose="020B0504000000000000" pitchFamily="34" charset="0"/>
                <a:cs typeface="Arial" pitchFamily="34" charset="-120"/>
              </a:rPr>
              <a:t>Des questions ? Échangeons.</a:t>
            </a:r>
            <a:endParaRPr lang="en-US" sz="25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1047750" y="914400"/>
            <a:ext cx="17811750"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kern="0" spc="228" dirty="0">
                <a:solidFill>
                  <a:schemeClr val="accent1"/>
                </a:solidFill>
                <a:latin typeface="Euclid Circular A" panose="020B0504000000000000" pitchFamily="34" charset="0"/>
                <a:ea typeface="Euclid Circular A" panose="020B0504000000000000" pitchFamily="34" charset="0"/>
                <a:cs typeface="Arial" pitchFamily="34" charset="-120"/>
              </a:rPr>
              <a:t>MENTIONS LÉGALES</a:t>
            </a:r>
            <a:endParaRPr lang="en-US" sz="1425" dirty="0">
              <a:solidFill>
                <a:schemeClr val="accent1"/>
              </a:solidFill>
            </a:endParaRPr>
          </a:p>
        </p:txBody>
      </p:sp>
      <p:sp>
        <p:nvSpPr>
          <p:cNvPr id="3" name="Text 1"/>
          <p:cNvSpPr/>
          <p:nvPr/>
        </p:nvSpPr>
        <p:spPr>
          <a:xfrm>
            <a:off x="1047750" y="1357313"/>
            <a:ext cx="11188005"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kern="0" spc="-120" dirty="0">
                <a:solidFill>
                  <a:srgbClr val="FFFFFF"/>
                </a:solidFill>
                <a:latin typeface="Euclid Circular A" panose="020B0504000000000000" pitchFamily="34" charset="0"/>
                <a:ea typeface="Euclid Circular A" panose="020B0504000000000000" pitchFamily="34" charset="0"/>
                <a:cs typeface="Arial" pitchFamily="34" charset="-120"/>
              </a:rPr>
              <a:t>Avertissement</a:t>
            </a:r>
            <a:endParaRPr lang="en-US" sz="4800" dirty="0"/>
          </a:p>
        </p:txBody>
      </p:sp>
      <p:sp>
        <p:nvSpPr>
          <p:cNvPr id="4" name="Text 2"/>
          <p:cNvSpPr/>
          <p:nvPr/>
        </p:nvSpPr>
        <p:spPr>
          <a:xfrm>
            <a:off x="1047750" y="2690952"/>
            <a:ext cx="8044815" cy="852488"/>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Les informations contenues dans cette présentation ne constituent en aucun cas une offre ou une sollicitation d'investir, ni un conseil en investissement ou une recommandation sur des investissements spécifiques.</a:t>
            </a:r>
            <a:endParaRPr lang="en-US" dirty="0"/>
          </a:p>
        </p:txBody>
      </p:sp>
      <p:sp>
        <p:nvSpPr>
          <p:cNvPr id="5" name="Text 3"/>
          <p:cNvSpPr/>
          <p:nvPr/>
        </p:nvSpPr>
        <p:spPr>
          <a:xfrm>
            <a:off x="1047750" y="5081867"/>
            <a:ext cx="8044815" cy="852488"/>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De manière générale, les investissements financiers et les opérations proposées présentent des risques : risque d'illiquidité, de perte en capital, de variation du rendement et d'évolution réglementaire.</a:t>
            </a:r>
            <a:endParaRPr lang="en-US" dirty="0"/>
          </a:p>
        </p:txBody>
      </p:sp>
      <p:sp>
        <p:nvSpPr>
          <p:cNvPr id="6" name="Text 4"/>
          <p:cNvSpPr/>
          <p:nvPr/>
        </p:nvSpPr>
        <p:spPr>
          <a:xfrm>
            <a:off x="9429750" y="2689737"/>
            <a:ext cx="8044815" cy="852488"/>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Les performances passées ne préjugent pas des performances futures et ne sont pas constantes dans le temps. Les objectifs de rentabilité et horizons de liquidité sont fournis à titre indicatif et ne constituent pas une garantie.</a:t>
            </a:r>
            <a:endParaRPr lang="en-US" dirty="0"/>
          </a:p>
        </p:txBody>
      </p:sp>
      <p:sp>
        <p:nvSpPr>
          <p:cNvPr id="7" name="Text 5"/>
          <p:cNvSpPr/>
          <p:nvPr/>
        </p:nvSpPr>
        <p:spPr>
          <a:xfrm>
            <a:off x="9429750" y="5081867"/>
            <a:ext cx="8044815" cy="852488"/>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Ce support s'adresse exclusivement à des professionnels. Il ne doit pas être utilisé auprès des clients ni leur être remis à titre d'outil commercial. Il est recommandé de lire la documentation réglementaire, notamment le </a:t>
            </a:r>
            <a:r>
              <a:rPr lang="en-US" b="1" dirty="0">
                <a:solidFill>
                  <a:srgbClr val="FFFFFF"/>
                </a:solidFill>
                <a:latin typeface="Euclid Circular A" panose="020B0504000000000000" pitchFamily="34" charset="0"/>
                <a:ea typeface="Euclid Circular A" panose="020B0504000000000000" pitchFamily="34" charset="0"/>
                <a:cs typeface="Arial" pitchFamily="34" charset="-120"/>
              </a:rPr>
              <a:t>Document d'Informations Clés</a:t>
            </a: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a:t>
            </a:r>
            <a:endParaRPr lang="en-US" dirty="0"/>
          </a:p>
        </p:txBody>
      </p:sp>
      <p:sp>
        <p:nvSpPr>
          <p:cNvPr id="8" name="Text 6"/>
          <p:cNvSpPr/>
          <p:nvPr/>
        </p:nvSpPr>
        <p:spPr>
          <a:xfrm>
            <a:off x="11540579" y="9648825"/>
            <a:ext cx="6269638"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alpha val="85000"/>
                  </a:srgbClr>
                </a:solidFill>
                <a:latin typeface="Euclid Circular A" panose="020B0504000000000000" pitchFamily="34" charset="0"/>
                <a:ea typeface="Euclid Circular A" panose="020B0504000000000000" pitchFamily="34" charset="0"/>
                <a:cs typeface="Arial" pitchFamily="34" charset="-120"/>
              </a:rPr>
              <a:t>USAGE INTERNE — STELLIUM PLACEMENT · 49 / 50</a:t>
            </a:r>
            <a:endParaRPr lang="en-US" sz="1800" dirty="0"/>
          </a:p>
        </p:txBody>
      </p:sp>
      <p:pic>
        <p:nvPicPr>
          <p:cNvPr id="9" name="Image 8">
            <a:extLst>
              <a:ext uri="{FF2B5EF4-FFF2-40B4-BE49-F238E27FC236}">
                <a16:creationId xmlns:a16="http://schemas.microsoft.com/office/drawing/2014/main" id="{F1F05247-5B11-54B0-838A-0602E97523B4}"/>
              </a:ext>
            </a:extLst>
          </p:cNvPr>
          <p:cNvPicPr>
            <a:picLocks noChangeAspect="1"/>
          </p:cNvPicPr>
          <p:nvPr/>
        </p:nvPicPr>
        <p:blipFill>
          <a:blip r:embed="rId3"/>
          <a:stretch>
            <a:fillRect/>
          </a:stretch>
        </p:blipFill>
        <p:spPr>
          <a:xfrm>
            <a:off x="8129099" y="7725669"/>
            <a:ext cx="1926931" cy="1512722"/>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1047750" y="914400"/>
            <a:ext cx="17811750" cy="309563"/>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425" kern="0" spc="228" dirty="0">
                <a:solidFill>
                  <a:schemeClr val="accent1"/>
                </a:solidFill>
                <a:latin typeface="Euclid Circular A" panose="020B0504000000000000" pitchFamily="34" charset="0"/>
                <a:ea typeface="Euclid Circular A" panose="020B0504000000000000" pitchFamily="34" charset="0"/>
                <a:cs typeface="Arial" pitchFamily="34" charset="-120"/>
              </a:rPr>
              <a:t>MENTIONS LÉGALES</a:t>
            </a:r>
            <a:endParaRPr lang="en-US" sz="1425" dirty="0">
              <a:solidFill>
                <a:schemeClr val="accent1"/>
              </a:solidFill>
            </a:endParaRPr>
          </a:p>
        </p:txBody>
      </p:sp>
      <p:sp>
        <p:nvSpPr>
          <p:cNvPr id="3" name="Text 1"/>
          <p:cNvSpPr/>
          <p:nvPr/>
        </p:nvSpPr>
        <p:spPr>
          <a:xfrm>
            <a:off x="1047750" y="1357313"/>
            <a:ext cx="11188005" cy="64770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800" kern="0" spc="-120" dirty="0">
                <a:solidFill>
                  <a:srgbClr val="FFFFFF"/>
                </a:solidFill>
                <a:latin typeface="Euclid Circular A" panose="020B0504000000000000" pitchFamily="34" charset="0"/>
                <a:ea typeface="Euclid Circular A" panose="020B0504000000000000" pitchFamily="34" charset="0"/>
                <a:cs typeface="Arial" pitchFamily="34" charset="-120"/>
              </a:rPr>
              <a:t>Entités juridiques</a:t>
            </a:r>
            <a:endParaRPr lang="en-US" sz="4800" dirty="0"/>
          </a:p>
        </p:txBody>
      </p:sp>
      <p:sp>
        <p:nvSpPr>
          <p:cNvPr id="4" name="Text 2"/>
          <p:cNvSpPr/>
          <p:nvPr/>
        </p:nvSpPr>
        <p:spPr>
          <a:xfrm>
            <a:off x="1047750" y="2951263"/>
            <a:ext cx="15632676" cy="1395413"/>
          </a:xfrm>
          <a:prstGeom prst="rect">
            <a:avLst/>
          </a:prstGeom>
          <a:noFill/>
          <a:ln/>
        </p:spPr>
        <p:txBody>
          <a:bodyPr wrap="square" lIns="25400" tIns="25400" rIns="25400" bIns="25400" rtlCol="0" anchor="t">
            <a:noAutofit/>
          </a:bodyPr>
          <a:lstStyle/>
          <a:p>
            <a:pPr marL="0" indent="0" algn="l">
              <a:lnSpc>
                <a:spcPct val="150000"/>
              </a:lnSpc>
              <a:buNone/>
            </a:pP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Stellium Placement est le nom commercial des entités juridiques </a:t>
            </a:r>
            <a:r>
              <a:rPr lang="en-US" b="1" dirty="0">
                <a:solidFill>
                  <a:srgbClr val="FFFFFF"/>
                </a:solidFill>
                <a:latin typeface="Euclid Circular A" panose="020B0504000000000000" pitchFamily="34" charset="0"/>
                <a:ea typeface="Euclid Circular A" panose="020B0504000000000000" pitchFamily="34" charset="0"/>
                <a:cs typeface="Arial" pitchFamily="34" charset="-120"/>
              </a:rPr>
              <a:t>Stellium Invest </a:t>
            </a: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et </a:t>
            </a:r>
            <a:r>
              <a:rPr lang="en-US" b="1" dirty="0">
                <a:solidFill>
                  <a:srgbClr val="FFFFFF"/>
                </a:solidFill>
                <a:latin typeface="Euclid Circular A" panose="020B0504000000000000" pitchFamily="34" charset="0"/>
                <a:ea typeface="Euclid Circular A" panose="020B0504000000000000" pitchFamily="34" charset="0"/>
                <a:cs typeface="Arial" pitchFamily="34" charset="-120"/>
              </a:rPr>
              <a:t>Stellium Courtage</a:t>
            </a: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 filiales de Finzzle groupe.</a:t>
            </a:r>
            <a:endParaRPr lang="en-US" dirty="0"/>
          </a:p>
        </p:txBody>
      </p:sp>
      <p:sp>
        <p:nvSpPr>
          <p:cNvPr id="5" name="Text 3"/>
          <p:cNvSpPr/>
          <p:nvPr/>
        </p:nvSpPr>
        <p:spPr>
          <a:xfrm>
            <a:off x="1047750" y="4176712"/>
            <a:ext cx="8044815" cy="1395413"/>
          </a:xfrm>
          <a:prstGeom prst="rect">
            <a:avLst/>
          </a:prstGeom>
          <a:noFill/>
          <a:ln/>
        </p:spPr>
        <p:txBody>
          <a:bodyPr wrap="square" lIns="25400" tIns="25400" rIns="25400" bIns="25400" rtlCol="0" anchor="t">
            <a:noAutofit/>
          </a:bodyPr>
          <a:lstStyle/>
          <a:p>
            <a:pPr marL="0" indent="0" algn="l">
              <a:lnSpc>
                <a:spcPct val="150000"/>
              </a:lnSpc>
              <a:buNone/>
            </a:pPr>
            <a:r>
              <a:rPr lang="en-US" b="1" dirty="0">
                <a:solidFill>
                  <a:srgbClr val="FFFFFF"/>
                </a:solidFill>
                <a:latin typeface="Euclid Circular A" panose="020B0504000000000000" pitchFamily="34" charset="0"/>
                <a:ea typeface="Euclid Circular A" panose="020B0504000000000000" pitchFamily="34" charset="0"/>
                <a:cs typeface="Arial" pitchFamily="34" charset="-120"/>
              </a:rPr>
              <a:t>Stellium Courtage SAS </a:t>
            </a: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 11, avenue Parmentier, CS 70 117, 31201 Toulouse cedex 2. Tél. 05 67 733 533 · www.stellium.fr. Société de courtage d'assurance au capital de 350 000 €. RCS Toulouse 421 956 509 — N°TVA FR 42421956509. N°ORIAS : 07 008 919 — RC professionnelle conforme au code des assurances (www.orias.fr). Activité sous le contrôle de l'ACPR — 4 place de Budapest, CS 92459, 75436 Paris Cedex 09.</a:t>
            </a:r>
            <a:endParaRPr lang="en-US" dirty="0"/>
          </a:p>
        </p:txBody>
      </p:sp>
      <p:sp>
        <p:nvSpPr>
          <p:cNvPr id="6" name="Text 4"/>
          <p:cNvSpPr/>
          <p:nvPr/>
        </p:nvSpPr>
        <p:spPr>
          <a:xfrm>
            <a:off x="9429750" y="4176712"/>
            <a:ext cx="8044815" cy="1123950"/>
          </a:xfrm>
          <a:prstGeom prst="rect">
            <a:avLst/>
          </a:prstGeom>
          <a:noFill/>
          <a:ln/>
        </p:spPr>
        <p:txBody>
          <a:bodyPr wrap="square" lIns="25400" tIns="25400" rIns="25400" bIns="25400" rtlCol="0" anchor="t">
            <a:noAutofit/>
          </a:bodyPr>
          <a:lstStyle/>
          <a:p>
            <a:pPr marL="0" indent="0" algn="l">
              <a:lnSpc>
                <a:spcPct val="150000"/>
              </a:lnSpc>
              <a:buNone/>
            </a:pPr>
            <a:r>
              <a:rPr lang="en-US" b="1" dirty="0">
                <a:solidFill>
                  <a:srgbClr val="FFFFFF"/>
                </a:solidFill>
                <a:latin typeface="Euclid Circular A" panose="020B0504000000000000" pitchFamily="34" charset="0"/>
                <a:ea typeface="Euclid Circular A" panose="020B0504000000000000" pitchFamily="34" charset="0"/>
                <a:cs typeface="Arial" pitchFamily="34" charset="-120"/>
              </a:rPr>
              <a:t>Stellium Invest SAS </a:t>
            </a:r>
            <a:r>
              <a:rPr lang="en-US" dirty="0">
                <a:solidFill>
                  <a:srgbClr val="FFFFFF">
                    <a:alpha val="82000"/>
                  </a:srgbClr>
                </a:solidFill>
                <a:latin typeface="Euclid Circular A" panose="020B0504000000000000" pitchFamily="34" charset="0"/>
                <a:ea typeface="Euclid Circular A" panose="020B0504000000000000" pitchFamily="34" charset="0"/>
                <a:cs typeface="Arial" pitchFamily="34" charset="-120"/>
              </a:rPr>
              <a:t>— 11, avenue Parmentier, CS 70 117, 31201 Toulouse cedex 2. Tél. 05 67 733 533 · www.stellium.fr. SAS au capital de 950 000 €. RCS Toulouse 538 449 612 — N°TVA FR 88 538449612. Entreprise d'investissement (PSI) agréée par l'ACPR — 4 place de Budapest, CS 92459, 75436 Paris Cedex 09 — sous le numéro d'agrément 10983 N.</a:t>
            </a:r>
            <a:endParaRPr lang="en-US" dirty="0"/>
          </a:p>
        </p:txBody>
      </p:sp>
      <p:sp>
        <p:nvSpPr>
          <p:cNvPr id="7" name="Text 5"/>
          <p:cNvSpPr/>
          <p:nvPr/>
        </p:nvSpPr>
        <p:spPr>
          <a:xfrm>
            <a:off x="11540579" y="9648825"/>
            <a:ext cx="6269638" cy="381000"/>
          </a:xfrm>
          <a:prstGeom prst="rect">
            <a:avLst/>
          </a:prstGeom>
          <a:noFill/>
          <a:ln/>
        </p:spPr>
        <p:txBody>
          <a:bodyPr wrap="square" lIns="25400" tIns="25400" rIns="25400" bIns="25400" rtlCol="0" anchor="t">
            <a:normAutofit fontScale="92500" lnSpcReduction="10000"/>
          </a:bodyPr>
          <a:lstStyle/>
          <a:p>
            <a:pPr marL="0" indent="0" algn="l">
              <a:lnSpc>
                <a:spcPct val="150000"/>
              </a:lnSpc>
              <a:buNone/>
            </a:pPr>
            <a:r>
              <a:rPr lang="en-US" sz="1800" dirty="0">
                <a:solidFill>
                  <a:srgbClr val="FFFFFF">
                    <a:alpha val="85000"/>
                  </a:srgbClr>
                </a:solidFill>
                <a:latin typeface="Euclid Circular A" panose="020B0504000000000000" pitchFamily="34" charset="0"/>
                <a:ea typeface="Euclid Circular A" panose="020B0504000000000000" pitchFamily="34" charset="0"/>
                <a:cs typeface="Arial" pitchFamily="34" charset="-120"/>
              </a:rPr>
              <a:t>USAGE INTERNE — STELLIUM PLACEMENT · 50 / 50</a:t>
            </a:r>
            <a:endParaRPr lang="en-US" sz="1800" dirty="0"/>
          </a:p>
        </p:txBody>
      </p:sp>
      <p:pic>
        <p:nvPicPr>
          <p:cNvPr id="8" name="Image 7">
            <a:extLst>
              <a:ext uri="{FF2B5EF4-FFF2-40B4-BE49-F238E27FC236}">
                <a16:creationId xmlns:a16="http://schemas.microsoft.com/office/drawing/2014/main" id="{3D4BFE42-03EF-2231-096A-A4DDA751A19A}"/>
              </a:ext>
            </a:extLst>
          </p:cNvPr>
          <p:cNvPicPr>
            <a:picLocks noChangeAspect="1"/>
          </p:cNvPicPr>
          <p:nvPr/>
        </p:nvPicPr>
        <p:blipFill>
          <a:blip r:embed="rId3"/>
          <a:stretch>
            <a:fillRect/>
          </a:stretch>
        </p:blipFill>
        <p:spPr>
          <a:xfrm>
            <a:off x="8129099" y="7725669"/>
            <a:ext cx="1926931" cy="1512722"/>
          </a:xfrm>
          <a:prstGeom prst="rect">
            <a:avLst/>
          </a:prstGeom>
        </p:spPr>
      </p:pic>
    </p:spTree>
  </p:cSld>
  <p:clrMapOvr>
    <a:masterClrMapping/>
  </p:clrMapOvr>
</p:sld>
</file>

<file path=ppt/theme/theme1.xml><?xml version="1.0" encoding="utf-8"?>
<a:theme xmlns:a="http://schemas.openxmlformats.org/drawingml/2006/main" name="Stellium Placement">
  <a:themeElements>
    <a:clrScheme name="Placement 2026">
      <a:dk1>
        <a:srgbClr val="0E3145"/>
      </a:dk1>
      <a:lt1>
        <a:srgbClr val="FFFFFF"/>
      </a:lt1>
      <a:dk2>
        <a:srgbClr val="0E3145"/>
      </a:dk2>
      <a:lt2>
        <a:srgbClr val="F8F6F4"/>
      </a:lt2>
      <a:accent1>
        <a:srgbClr val="DC216E"/>
      </a:accent1>
      <a:accent2>
        <a:srgbClr val="0E3145"/>
      </a:accent2>
      <a:accent3>
        <a:srgbClr val="5F788A"/>
      </a:accent3>
      <a:accent4>
        <a:srgbClr val="FECB4D"/>
      </a:accent4>
      <a:accent5>
        <a:srgbClr val="4BBBBC"/>
      </a:accent5>
      <a:accent6>
        <a:srgbClr val="F8F6F4"/>
      </a:accent6>
      <a:hlink>
        <a:srgbClr val="C42D69"/>
      </a:hlink>
      <a:folHlink>
        <a:srgbClr val="4BBB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1516</TotalTime>
  <Words>2936</Words>
  <Application>Microsoft Office PowerPoint</Application>
  <PresentationFormat>Personnalisé</PresentationFormat>
  <Paragraphs>508</Paragraphs>
  <Slides>35</Slides>
  <Notes>35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35</vt:i4>
      </vt:variant>
    </vt:vector>
  </HeadingPairs>
  <TitlesOfParts>
    <vt:vector size="39" baseType="lpstr">
      <vt:lpstr>Arial</vt:lpstr>
      <vt:lpstr>Euclid Circular A</vt:lpstr>
      <vt:lpstr>Euclid Circular A SemiBold</vt:lpstr>
      <vt:lpstr>Stellium Placement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MORANT Cassandra</cp:lastModifiedBy>
  <cp:revision>12</cp:revision>
  <dcterms:created xsi:type="dcterms:W3CDTF">2026-06-24T13:09:19Z</dcterms:created>
  <dcterms:modified xsi:type="dcterms:W3CDTF">2026-09-09T10:01:59Z</dcterms:modified>
</cp:coreProperties>
</file>